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276" r:id="rId3"/>
    <p:sldId id="277" r:id="rId4"/>
    <p:sldId id="279" r:id="rId5"/>
    <p:sldId id="280" r:id="rId6"/>
    <p:sldId id="281" r:id="rId7"/>
    <p:sldId id="282" r:id="rId8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 damos la bienvenida" id="{E75E278A-FF0E-49A4-B170-79828D63BBAD}">
          <p14:sldIdLst>
            <p14:sldId id="256"/>
            <p14:sldId id="276"/>
            <p14:sldId id="277"/>
          </p14:sldIdLst>
        </p14:section>
        <p14:section name="Diseñar, anotar, trabajar juntos, Información" id="{B9B51309-D148-4332-87C2-07BE32FBCA3B}">
          <p14:sldIdLst>
            <p14:sldId id="279"/>
            <p14:sldId id="280"/>
            <p14:sldId id="281"/>
            <p14:sldId id="282"/>
          </p14:sldIdLst>
        </p14:section>
        <p14:section name="Más información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FF9B45"/>
    <a:srgbClr val="DD462F"/>
    <a:srgbClr val="F8CFB6"/>
    <a:srgbClr val="F8CAB6"/>
    <a:srgbClr val="923922"/>
    <a:srgbClr val="404040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45" autoAdjust="0"/>
    <p:restoredTop sz="95401" autoAdjust="0"/>
  </p:normalViewPr>
  <p:slideViewPr>
    <p:cSldViewPr snapToGrid="0">
      <p:cViewPr varScale="1">
        <p:scale>
          <a:sx n="103" d="100"/>
          <a:sy n="103" d="100"/>
        </p:scale>
        <p:origin x="76" y="2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5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272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5B06AB2-534F-4317-9DBC-96E8A8114BFB}" type="datetime1">
              <a:rPr lang="es-ES" smtClean="0"/>
              <a:t>06/02/2023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84219E-1C28-46B7-A379-E02903B01D1A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072522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BC32159-CBC1-4C9D-9A0C-0BE24C8C9CDA}" type="datetime1">
              <a:rPr lang="es-ES" noProof="0" smtClean="0"/>
              <a:t>06/02/2023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ES" dirty="0"/>
              <a:t>En el modo Presentación con diapositivas, seleccione la flecha para ir al Centro de introducción a PowerPoint.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22268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41165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1720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404239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28774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 dirty="0"/>
          </a:p>
        </p:txBody>
      </p:sp>
      <p:cxnSp>
        <p:nvCxnSpPr>
          <p:cNvPr id="12" name="Conector recto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08" y="368802"/>
            <a:ext cx="4434840" cy="6400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defRPr lang="en-US" sz="2400" b="0" dirty="0">
                <a:solidFill>
                  <a:schemeClr val="bg2">
                    <a:lumMod val="25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5" name="Marcador de contenido 4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Haga clic para modificar los estilos de texto del patrón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Segundo nivel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Tercer nivel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Cuarto nivel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6F98EE-852A-4139-9CFD-A1A4BA052067}" type="datetime1">
              <a:rPr lang="es-ES" noProof="0" smtClean="0"/>
              <a:t>06/02/2023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 dirty="0"/>
          </a:p>
        </p:txBody>
      </p:sp>
      <p:sp>
        <p:nvSpPr>
          <p:cNvPr id="10" name="Rectángulo 9"/>
          <p:cNvSpPr/>
          <p:nvPr userDrawn="1"/>
        </p:nvSpPr>
        <p:spPr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263640" cy="6400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defRPr lang="en-US" sz="3600" b="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8" name="Marcador de posición de contenido 7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Haga clic para modificar los estilos de texto del patrón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Segundo nivel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Tercer nivel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Cuarto nivel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F50242A-6024-4A62-8CDA-92D97616828A}" type="datetime1">
              <a:rPr lang="es-ES" noProof="0" smtClean="0"/>
              <a:t>06/02/2023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9.x/starter-kits#laravel-breeze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s://bootcamp.laravel.com/" TargetMode="External"/><Relationship Id="rId4" Type="http://schemas.openxmlformats.org/officeDocument/2006/relationships/hyperlink" Target="https://jetstream.laravel.com/2.x/introduction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838200" y="1164324"/>
            <a:ext cx="10515600" cy="2387600"/>
          </a:xfrm>
        </p:spPr>
        <p:txBody>
          <a:bodyPr rtlCol="0">
            <a:normAutofit/>
          </a:bodyPr>
          <a:lstStyle/>
          <a:p>
            <a:pPr rtl="0"/>
            <a:r>
              <a:rPr lang="es-ES" sz="4800" dirty="0">
                <a:solidFill>
                  <a:schemeClr val="bg1"/>
                </a:solidFill>
              </a:rPr>
              <a:t>Laravel 9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es-ES" sz="2400" dirty="0">
                <a:solidFill>
                  <a:schemeClr val="bg1"/>
                </a:solidFill>
                <a:latin typeface="+mj-lt"/>
              </a:rPr>
              <a:t>Framework PHP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4A30A1-7FD6-4298-A1D0-301DDF69D250}"/>
              </a:ext>
            </a:extLst>
          </p:cNvPr>
          <p:cNvSpPr txBox="1"/>
          <p:nvPr/>
        </p:nvSpPr>
        <p:spPr>
          <a:xfrm>
            <a:off x="838200" y="5503176"/>
            <a:ext cx="3187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dirty="0">
                <a:solidFill>
                  <a:schemeClr val="bg1"/>
                </a:solidFill>
                <a:latin typeface="+mj-lt"/>
              </a:rPr>
              <a:t>Javier Guillén Benavente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ACF6AC-EE60-4591-A0D8-8219FA214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7C5854-93BC-4152-8FC3-93FDA76119B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5023104" cy="5111242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s-ES" sz="1700" dirty="0"/>
              <a:t>INTRODUCCIÓN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CONCEPTOS DE ARQUITECTURA</a:t>
            </a:r>
          </a:p>
          <a:p>
            <a:pPr>
              <a:buFont typeface="+mj-lt"/>
              <a:buAutoNum type="arabicPeriod"/>
            </a:pPr>
            <a:r>
              <a:rPr lang="es-ES" sz="1700" dirty="0">
                <a:solidFill>
                  <a:schemeClr val="tx1"/>
                </a:solidFill>
              </a:rPr>
              <a:t>PRIMEROS PASOS</a:t>
            </a:r>
          </a:p>
          <a:p>
            <a:pPr>
              <a:buFont typeface="+mj-lt"/>
              <a:buAutoNum type="arabicPeriod"/>
            </a:pPr>
            <a:r>
              <a:rPr lang="es-ES" sz="1700" dirty="0">
                <a:solidFill>
                  <a:schemeClr val="tx1"/>
                </a:solidFill>
              </a:rPr>
              <a:t>ENRUTAMIENTO</a:t>
            </a:r>
          </a:p>
          <a:p>
            <a:pPr>
              <a:buFont typeface="+mj-lt"/>
              <a:buAutoNum type="arabicPeriod"/>
            </a:pPr>
            <a:r>
              <a:rPr lang="es-ES" sz="1700" dirty="0">
                <a:solidFill>
                  <a:schemeClr val="tx1"/>
                </a:solidFill>
              </a:rPr>
              <a:t>MIDDLEWARE</a:t>
            </a:r>
          </a:p>
          <a:p>
            <a:pPr>
              <a:buFont typeface="+mj-lt"/>
              <a:buAutoNum type="arabicPeriod"/>
            </a:pPr>
            <a:r>
              <a:rPr lang="es-ES" sz="1700" dirty="0">
                <a:solidFill>
                  <a:schemeClr val="tx1"/>
                </a:solidFill>
              </a:rPr>
              <a:t>CONTROLADORES</a:t>
            </a:r>
          </a:p>
          <a:p>
            <a:pPr>
              <a:buFont typeface="+mj-lt"/>
              <a:buAutoNum type="arabicPeriod"/>
            </a:pPr>
            <a:r>
              <a:rPr lang="es-ES" sz="1700" dirty="0">
                <a:solidFill>
                  <a:schemeClr val="tx1"/>
                </a:solidFill>
              </a:rPr>
              <a:t>REQUESTS</a:t>
            </a:r>
          </a:p>
          <a:p>
            <a:pPr>
              <a:buFont typeface="+mj-lt"/>
              <a:buAutoNum type="arabicPeriod"/>
            </a:pPr>
            <a:r>
              <a:rPr lang="es-ES" sz="1700" dirty="0">
                <a:solidFill>
                  <a:schemeClr val="tx1"/>
                </a:solidFill>
              </a:rPr>
              <a:t>RESPONSES</a:t>
            </a:r>
          </a:p>
          <a:p>
            <a:pPr>
              <a:buFont typeface="+mj-lt"/>
              <a:buAutoNum type="arabicPeriod"/>
            </a:pPr>
            <a:r>
              <a:rPr lang="es-ES" sz="1700" dirty="0">
                <a:solidFill>
                  <a:schemeClr val="accent2"/>
                </a:solidFill>
              </a:rPr>
              <a:t>VISTAS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PLANTILLAS BLADE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SESIÓN Y VALIDACIÓN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SEGURIDAD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BASE DE DATOS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ELOQUENT (ORM)</a:t>
            </a:r>
          </a:p>
          <a:p>
            <a:pPr>
              <a:buFont typeface="+mj-lt"/>
              <a:buAutoNum type="arabicPeriod"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>
              <a:buFont typeface="+mj-lt"/>
              <a:buAutoNum type="arabicPeriod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00875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521208" y="1536192"/>
            <a:ext cx="9107424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dirty="0" smtClean="0"/>
              <a:t>VISTAS</a:t>
            </a:r>
            <a:endParaRPr lang="es-ES" dirty="0"/>
          </a:p>
        </p:txBody>
      </p:sp>
      <p:sp>
        <p:nvSpPr>
          <p:cNvPr id="5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2779776"/>
            <a:ext cx="9793224" cy="395465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Introducción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Creación y representación de vistas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Anidar vistas y pasarles datos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Optimización de vistas</a:t>
            </a:r>
            <a:endParaRPr lang="es-E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766905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4928616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Introducción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6390530" cy="568312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Las vistas nos dan la posibilidad de colocar el contenido HTML a devolver en ficheros separados.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Las vistas separan la lógica del controlador de la presentación. Se almacenan en la carpeta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resources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views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En estos apuntes veremos las plantillas 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Blade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de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 Pero muchos desarrolladores prefieren usar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React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o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Vue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escribiendo sus propias plantillas.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ofrece la biblioteca 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Inertia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para conectar la interfaz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React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Vue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a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tiene dos kits de inicio,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  <a:hlinkClick r:id="rId3"/>
              </a:rPr>
              <a:t>Breeze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y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  <a:hlinkClick r:id="rId4"/>
              </a:rPr>
              <a:t>Jetstream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si quieres probar a usar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con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Inertia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Al final de estos apuntes veremos un ejemplo de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con Jetstream. Creación de app de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microblogging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  <a:hlinkClick r:id="rId5"/>
              </a:rPr>
              <a:t>Chirper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141" y="1732231"/>
            <a:ext cx="4521394" cy="896484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4581" y="3182114"/>
            <a:ext cx="2996513" cy="136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353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6651882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Creación y representación de vistas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0" y="1298448"/>
            <a:ext cx="11320875" cy="56831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Para crear una vista solo hay que colocar/crear un fichero con extensión 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blade.php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en la carpeta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resources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views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 Con eso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ya sabe que es una plantilla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Blade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Las plantillas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Blade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contienen código HTML y directivas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Blade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que le permiten pintar valores, hacer declaraciones “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if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”, hacer iteraciones, etc.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Una vez creada la vista ya se podría devolver desde una ruta (web/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routes.php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) o controlador, usando el ayudante 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view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El primer parámetro es el nombre de la vista (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greeting.blade.php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), y el segundo parámetro serían los datos que se le pasan a la vista, en este caso una variable $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name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que tendrá el valor “James”.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067" y="3991106"/>
            <a:ext cx="5530832" cy="106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460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6651882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Anidar vistas y pasarles datos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0" y="1298448"/>
            <a:ext cx="11320875" cy="56831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Las vistas también se pueden “</a:t>
            </a:r>
            <a:r>
              <a:rPr lang="es-ES" sz="1800" b="1" i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anidar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”, y es una buena idea para tener organizadas nuestras vistas. Así si en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resources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views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creamos una carpeta “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admin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”, y dentro una vista “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login.blade.php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”, nuestra vista se llamará “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admin.login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”.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Ya hemos vistos, que a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view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le pasamos el nombre de la vista y una matriz con los valores que le queremos pasar. Esto va a ser una 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matriz clave-valor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donde la clave será el nombre de la variable y el valor será el valor que tendrá dentro de la vista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Blade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correspondiente.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En lugar de pasar una matriz, también se puede usar el método 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with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97" y="5197379"/>
            <a:ext cx="4654136" cy="43730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7445" y="5197379"/>
            <a:ext cx="4911592" cy="107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93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6651882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Optimización de vistas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0" y="1298448"/>
            <a:ext cx="11320875" cy="56831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De forma predeterminada, las vistas de plantilla de </a:t>
            </a:r>
            <a:r>
              <a:rPr lang="es-ES" sz="1800" i="1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Blade</a:t>
            </a:r>
            <a:r>
              <a:rPr lang="es-ES" sz="1800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 se compilan a </a:t>
            </a:r>
            <a:r>
              <a:rPr lang="es-ES" sz="1800" i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petición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Cuando se ejecuta una solicitud que representa una vista,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determinará si existe una versión compilada de la vista. Si el archivo existe,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determinará si la vista sin compilar se ha modificado más recientemente que la vista compilada. Si la vista compilada no existe o la vista no compilada se ha modificado,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volverá a compilar la vista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La compilación de vistas durante la solicitud puede tener un pequeño impacto negativo en el rendimiento, por lo que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proporciona el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comando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Artisan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8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view:cache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para </a:t>
            </a:r>
            <a:r>
              <a:rPr lang="es-ES" sz="18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precompilar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todas las vistas utilizadas por su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aplicación.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También se puede borrar esa caché, para que se vuelvan a compilar las plantillas con nuevos datos.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729" y="4089306"/>
            <a:ext cx="3377719" cy="52594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4729" y="5642825"/>
            <a:ext cx="3144313" cy="51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19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9B45"/>
        </a:solidFill>
        <a:ln>
          <a:solidFill>
            <a:srgbClr val="FF9B4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4199827_TF10001033" id="{B8C5CA47-16DB-4B99-941C-1142562394E7}" vid="{2A9A9F5D-B7A7-4104-8DD8-8C97F33B830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14292</TotalTime>
  <Words>568</Words>
  <Application>Microsoft Office PowerPoint</Application>
  <PresentationFormat>Panorámica</PresentationFormat>
  <Paragraphs>60</Paragraphs>
  <Slides>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Segoe UI Light</vt:lpstr>
      <vt:lpstr>WelcomeDoc</vt:lpstr>
      <vt:lpstr>Laravel 9</vt:lpstr>
      <vt:lpstr>ÍNDICE</vt:lpstr>
      <vt:lpstr>VISTAS</vt:lpstr>
      <vt:lpstr>Introducción</vt:lpstr>
      <vt:lpstr>Creación y representación de vistas</vt:lpstr>
      <vt:lpstr>Anidar vistas y pasarles datos</vt:lpstr>
      <vt:lpstr>Optimización de vistas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damos la bienvenida a PowerPoint</dc:title>
  <dc:creator>José Javier Guillén Benavente</dc:creator>
  <cp:keywords/>
  <cp:lastModifiedBy>Familia Guillén Linares</cp:lastModifiedBy>
  <cp:revision>240</cp:revision>
  <dcterms:created xsi:type="dcterms:W3CDTF">2022-09-07T07:55:08Z</dcterms:created>
  <dcterms:modified xsi:type="dcterms:W3CDTF">2023-02-06T17:03:20Z</dcterms:modified>
  <cp:version/>
</cp:coreProperties>
</file>