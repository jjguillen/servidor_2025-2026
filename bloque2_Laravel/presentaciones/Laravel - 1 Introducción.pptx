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6" r:id="rId3"/>
    <p:sldId id="277" r:id="rId4"/>
    <p:sldId id="273" r:id="rId5"/>
    <p:sldId id="279" r:id="rId6"/>
    <p:sldId id="281" r:id="rId7"/>
    <p:sldId id="280" r:id="rId8"/>
    <p:sldId id="282" r:id="rId9"/>
    <p:sldId id="283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  <p14:sldId id="276"/>
            <p14:sldId id="277"/>
          </p14:sldIdLst>
        </p14:section>
        <p14:section name="Diseñar, anotar, trabajar juntos, Información" id="{B9B51309-D148-4332-87C2-07BE32FBCA3B}">
          <p14:sldIdLst>
            <p14:sldId id="273"/>
            <p14:sldId id="279"/>
            <p14:sldId id="281"/>
            <p14:sldId id="280"/>
            <p14:sldId id="282"/>
            <p14:sldId id="283"/>
          </p14:sldIdLst>
        </p14:section>
        <p14:section name="Más información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5" autoAdjust="0"/>
    <p:restoredTop sz="95401" autoAdjust="0"/>
  </p:normalViewPr>
  <p:slideViewPr>
    <p:cSldViewPr snapToGrid="0">
      <p:cViewPr varScale="1">
        <p:scale>
          <a:sx n="103" d="100"/>
          <a:sy n="103" d="100"/>
        </p:scale>
        <p:origin x="7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7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B06AB2-534F-4317-9DBC-96E8A8114BFB}" type="datetime1">
              <a:rPr lang="es-ES" smtClean="0"/>
              <a:t>12/09/2022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84219E-1C28-46B7-A379-E02903B01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72522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C32159-CBC1-4C9D-9A0C-0BE24C8C9CDA}" type="datetime1">
              <a:rPr lang="es-ES" noProof="0" smtClean="0"/>
              <a:t>12/09/2022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En el modo Presentación con diapositivas, seleccione la flecha para ir al Centro de introducción a PowerPoint.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226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0087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847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4961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509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6968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00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368802"/>
            <a:ext cx="44348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2400" b="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F98EE-852A-4139-9CFD-A1A4BA052067}" type="datetime1">
              <a:rPr lang="es-ES" noProof="0" smtClean="0"/>
              <a:t>12/09/2022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3600" b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Marcador de posición de contenido 7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F50242A-6024-4A62-8CDA-92D97616828A}" type="datetime1">
              <a:rPr lang="es-ES" noProof="0" smtClean="0"/>
              <a:t>12/09/2022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products/docker-deskto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etstream.laravel.com/2.x/introduction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 rtlCol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Laravel 9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Framework PHP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4A30A1-7FD6-4298-A1D0-301DDF69D250}"/>
              </a:ext>
            </a:extLst>
          </p:cNvPr>
          <p:cNvSpPr txBox="1"/>
          <p:nvPr/>
        </p:nvSpPr>
        <p:spPr>
          <a:xfrm>
            <a:off x="838200" y="5503176"/>
            <a:ext cx="318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  <a:latin typeface="+mj-lt"/>
              </a:rPr>
              <a:t>Javier Guillén Benavente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F6AC-EE60-4591-A0D8-8219FA21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C5854-93BC-4152-8FC3-93FDA76119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023104" cy="511124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accent2"/>
                </a:solidFill>
              </a:rPr>
              <a:t>INTRODUCCIÓN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CONCEPTOS DE ARQUITECTURA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PRIMEROS PASOS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ENRUTAMIENTO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MIDDLEWARE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CONTROLADORES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REQUESTS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RESPONSES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VISTAS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PLANTILLAS BLADE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SESIÓN Y VALIDACIÓN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SEGURIDAD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BASE DE DATOS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ELOQUENT (ORM)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87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107424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dirty="0"/>
              <a:t>INTRODUCCIÓN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2779776"/>
            <a:ext cx="9793224" cy="330098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Qué 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Instalación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Configuración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Estructura de directorios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Starter kits</a:t>
            </a: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669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Qué 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5673838" cy="522122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Laravel es un </a:t>
            </a:r>
            <a:r>
              <a:rPr lang="es-ES" sz="1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framework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 aplicaciones web con sintaxis expresiva y elegante.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Un framework nos da un punto de partida y una estructura para crear nuestra aplicación web centrándonos en la creación de la aplicación y no en los detalles. Es un framework con el patrón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MVC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(modelo – vista – control).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Progresivo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se adapta a tu nivel de aprendizaje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Escalable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puede ir creciendo desde una sencilla aplicación a una mucho más grande con millones de peticiones al mes.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s-ES" sz="18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Comunitario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es un framework con una gran comunidad de desarrolladores detrás.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/>
            </a:r>
            <a:b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</a:b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232" y="1513937"/>
            <a:ext cx="5474044" cy="454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1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Instalación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5673838" cy="53680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Instalación mediante </a:t>
            </a:r>
            <a:r>
              <a:rPr lang="es-ES" sz="1600" dirty="0" smtClean="0">
                <a:solidFill>
                  <a:schemeClr val="accent2"/>
                </a:solidFill>
              </a:rPr>
              <a:t>Composer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/>
              <a:t>Debemos tener instalado en el equipo PHP y Composer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Crear un proyecto directamente: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composer 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create-project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laravel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laravel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nombre-app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200" dirty="0" smtClean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O con el instalador de Laravel (alternativo a lo anterior)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composer global </a:t>
            </a:r>
            <a:r>
              <a:rPr lang="es-ES" sz="1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require</a:t>
            </a: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laravel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installer</a:t>
            </a:r>
            <a:endParaRPr lang="es-ES" sz="1100" dirty="0" smtClean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s-ES" sz="1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laravel</a:t>
            </a: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new 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nombre-app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Arrancar el servidor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cd 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nombre-app</a:t>
            </a: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	php </a:t>
            </a:r>
            <a:r>
              <a:rPr lang="es-ES" sz="1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1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serve</a:t>
            </a: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 esta forma se instalan los archivos pero no hay ningún servicio extra instalado, ni BBDD ni nada. Tendremos que instalarlo nosotros y configurarlo.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Suele funcionar más rápido en local. Necesita conectar a una BBDD.</a:t>
            </a: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6215449" y="1298448"/>
            <a:ext cx="5673838" cy="52212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Instalación mediante </a:t>
            </a:r>
            <a:r>
              <a:rPr lang="es-ES" sz="1600" dirty="0" smtClean="0">
                <a:solidFill>
                  <a:schemeClr val="accent1"/>
                </a:solidFill>
              </a:rPr>
              <a:t>Docker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Requiere tener instalado Docker. En Windows necesitas 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  <a:hlinkClick r:id="rId3"/>
              </a:rPr>
              <a:t>Docker Desktop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y como requisito de lo anterior </a:t>
            </a:r>
            <a:r>
              <a:rPr lang="es-ES" sz="12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WSL2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(Linux corriendo en Windows).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Los comandos para lanzar servicios usan Laravel 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Sail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(más adelante)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Abrimos un terminal (en Windows debe funcionar WSL2) y ejecutamos: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curl -s https://</a:t>
            </a:r>
            <a:r>
              <a:rPr 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laravel.build/nombre-app </a:t>
            </a:r>
            <a:r>
              <a:rPr 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| </a:t>
            </a:r>
            <a:r>
              <a:rPr lang="en-U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bash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Arrancar 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 aplicación y todos sus servicios</a:t>
            </a: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cd nombre-app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./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vendor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bin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</a:t>
            </a:r>
            <a:r>
              <a:rPr lang="es-ES" sz="11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sail</a:t>
            </a:r>
            <a:r>
              <a:rPr lang="es-ES" sz="11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up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10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 este método se instalan muchos servicios que puede que no utilices y ralentiza la ejecución. Hay 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muchos: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mysql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pgsql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mariadb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redis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memcached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meilisearch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minio, </a:t>
            </a:r>
            <a:r>
              <a:rPr lang="es-ES" sz="12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selenium</a:t>
            </a:r>
            <a:r>
              <a:rPr lang="es-ES" sz="1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y </a:t>
            </a:r>
            <a:r>
              <a:rPr lang="es-ES" sz="12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mailhog</a:t>
            </a:r>
            <a:r>
              <a:rPr lang="es-ES" sz="1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Puedes decidir qué servicios instalar (p.ej. que BBDD) modificando el primer comando: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5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curl -s "https://laravel.build/nombre-app?with=mysql,redis" | bash</a:t>
            </a:r>
            <a:endParaRPr lang="es-ES" sz="1050" dirty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96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Configuración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333232" cy="53680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 partir de ahora los comandos que aparecen en esta documentación se pondrán teniendo en cuenta que se ha hecho una instalación con Composer y empezarán siempre por </a:t>
            </a:r>
            <a:r>
              <a:rPr lang="es-ES" sz="1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“php </a:t>
            </a:r>
            <a:r>
              <a:rPr lang="es-ES" sz="14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seguido del nombre del comando. Si la instalación se ha hecho con Docker los comandos empezarán por </a:t>
            </a:r>
            <a:r>
              <a:rPr lang="es-ES" sz="1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“</a:t>
            </a:r>
            <a:r>
              <a:rPr lang="es-ES" sz="14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sail</a:t>
            </a:r>
            <a:r>
              <a:rPr lang="es-ES" sz="1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”.</a:t>
            </a:r>
            <a:endParaRPr lang="es-E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Si quieres ver de un vistazo la configuración de tu aplicación puedes ejecutar: 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php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artisan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about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El fichero básico de configuración se encuentra en la raíz de la aplicación, se llama  </a:t>
            </a:r>
            <a:r>
              <a:rPr lang="es-ES" sz="1400" b="1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.</a:t>
            </a:r>
            <a:r>
              <a:rPr lang="es-ES" sz="1400" b="1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env</a:t>
            </a:r>
            <a:r>
              <a:rPr lang="es-ES" sz="1400" b="1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  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Este fichero, normalmente, se copia del fichero .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env.example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Source Code Pro" panose="020B0509030403020204" pitchFamily="49" charset="0"/>
              </a:rPr>
              <a:t> durante la instalación, si no es el caso deberás hacerlo manualmente.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Lo más importante del archivo es la configuración de la aplicación (APP) y de la base de datos (DB).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Activar </a:t>
            </a:r>
            <a:r>
              <a:rPr lang="es-ES" sz="1400" b="1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caché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siquieres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la aplicación tenga mayor velocidad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se puede activar la caché. 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	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php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config:cache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b="1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Parar</a:t>
            </a:r>
            <a:r>
              <a:rPr lang="es-ES" sz="14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aplicación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Laravel:  php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down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400" b="1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Arrancar</a:t>
            </a:r>
            <a:r>
              <a:rPr lang="es-ES" sz="1400" i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aplicación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Laravel:  php 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up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286" y="4210451"/>
            <a:ext cx="4526913" cy="226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1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Estructura de directorios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333232" cy="53680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a</a:t>
            </a:r>
            <a:r>
              <a:rPr lang="en-US" sz="1400" dirty="0" smtClean="0">
                <a:ea typeface="Source Code Pro" panose="020B0509030403020204" pitchFamily="49" charset="0"/>
              </a:rPr>
              <a:t>pp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código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principal de la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aplicación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Todas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clases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la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aplicación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estarán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aquí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Aquí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estarán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b="1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modelos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</a:t>
            </a:r>
            <a:r>
              <a:rPr lang="en-US" sz="1400" b="1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controladores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middlewares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… Se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toca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mucho.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b</a:t>
            </a:r>
            <a:r>
              <a:rPr lang="en-US" sz="1400" dirty="0" smtClean="0">
                <a:ea typeface="Source Code Pro" panose="020B0509030403020204" pitchFamily="49" charset="0"/>
              </a:rPr>
              <a:t>ootstrap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archivos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para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arrancar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el framework. No se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toca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 err="1" smtClean="0">
                <a:ea typeface="Source Code Pro" panose="020B0509030403020204" pitchFamily="49" charset="0"/>
              </a:rPr>
              <a:t>config</a:t>
            </a:r>
            <a:r>
              <a:rPr lang="en-US" sz="1400" dirty="0" smtClean="0">
                <a:ea typeface="Source Code Pro" panose="020B0509030403020204" pitchFamily="49" charset="0"/>
              </a:rPr>
              <a:t>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archivos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configuración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Ir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mirándolo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</a:t>
            </a:r>
            <a:endParaRPr lang="en-US" sz="1400" dirty="0" smtClean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d</a:t>
            </a:r>
            <a:r>
              <a:rPr lang="en-US" sz="1400" dirty="0" smtClean="0">
                <a:ea typeface="Source Code Pro" panose="020B0509030403020204" pitchFamily="49" charset="0"/>
              </a:rPr>
              <a:t>atabase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migraciones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(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creación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tablas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),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factorías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(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insertar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filas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masivamente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), y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seeders. 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 err="1">
                <a:ea typeface="Source Code Pro" panose="020B0509030403020204" pitchFamily="49" charset="0"/>
              </a:rPr>
              <a:t>l</a:t>
            </a:r>
            <a:r>
              <a:rPr lang="en-US" sz="1400" dirty="0" err="1" smtClean="0">
                <a:ea typeface="Source Code Pro" panose="020B0509030403020204" pitchFamily="49" charset="0"/>
              </a:rPr>
              <a:t>ang</a:t>
            </a:r>
            <a:r>
              <a:rPr lang="en-US" sz="1400" dirty="0" smtClean="0">
                <a:ea typeface="Source Code Pro" panose="020B0509030403020204" pitchFamily="49" charset="0"/>
              </a:rPr>
              <a:t>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archivos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idioma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para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traducir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 app.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p</a:t>
            </a:r>
            <a:r>
              <a:rPr lang="en-US" sz="1400" dirty="0" smtClean="0">
                <a:ea typeface="Source Code Pro" panose="020B0509030403020204" pitchFamily="49" charset="0"/>
              </a:rPr>
              <a:t>ublic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punto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entrada para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todas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peticiones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a la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aplicación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assets: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imágenes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css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javascript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r</a:t>
            </a:r>
            <a:r>
              <a:rPr lang="en-US" sz="1400" dirty="0" smtClean="0">
                <a:ea typeface="Source Code Pro" panose="020B0509030403020204" pitchFamily="49" charset="0"/>
              </a:rPr>
              <a:t>esources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las </a:t>
            </a:r>
            <a:r>
              <a:rPr lang="en-US" sz="1400" b="1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vistas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También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assets sin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compilar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ni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procesar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(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css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javascript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).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r</a:t>
            </a:r>
            <a:r>
              <a:rPr lang="en-US" sz="1400" dirty="0" smtClean="0">
                <a:ea typeface="Source Code Pro" panose="020B0509030403020204" pitchFamily="49" charset="0"/>
              </a:rPr>
              <a:t>outes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definiciones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</a:t>
            </a:r>
            <a:r>
              <a:rPr lang="en-US" sz="1400" b="1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rutas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la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aplicación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rutas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para la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aplicación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y para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definir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una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API RESTful.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s</a:t>
            </a:r>
            <a:r>
              <a:rPr lang="en-US" sz="1400" dirty="0" smtClean="0">
                <a:ea typeface="Source Code Pro" panose="020B0509030403020204" pitchFamily="49" charset="0"/>
              </a:rPr>
              <a:t>torage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s-E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 </a:t>
            </a:r>
            <a:r>
              <a:rPr lang="es-ES" sz="1400" dirty="0">
                <a:ea typeface="Source Code Pro" panose="020B0509030403020204" pitchFamily="49" charset="0"/>
                <a:sym typeface="Wingdings" panose="05000000000000000000" pitchFamily="2" charset="2"/>
              </a:rPr>
              <a:t>los registros, las plantillas </a:t>
            </a:r>
            <a:r>
              <a:rPr lang="es-ES" sz="1400" dirty="0" err="1">
                <a:ea typeface="Source Code Pro" panose="020B0509030403020204" pitchFamily="49" charset="0"/>
                <a:sym typeface="Wingdings" panose="05000000000000000000" pitchFamily="2" charset="2"/>
              </a:rPr>
              <a:t>blade</a:t>
            </a:r>
            <a:r>
              <a:rPr lang="es-ES" sz="1400" dirty="0">
                <a:ea typeface="Source Code Pro" panose="020B0509030403020204" pitchFamily="49" charset="0"/>
                <a:sym typeface="Wingdings" panose="05000000000000000000" pitchFamily="2" charset="2"/>
              </a:rPr>
              <a:t> compiladas, las sesiones basadas en archivos, las cachés de archivos y otros archivos generados por el </a:t>
            </a:r>
            <a:r>
              <a:rPr lang="es-E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framework. Está dividido en app (para archivos de la app como imágenes), framework y </a:t>
            </a:r>
            <a:r>
              <a:rPr lang="es-E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logs</a:t>
            </a:r>
            <a:r>
              <a:rPr lang="es-E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t</a:t>
            </a:r>
            <a:r>
              <a:rPr lang="en-US" sz="1400" dirty="0" smtClean="0">
                <a:ea typeface="Source Code Pro" panose="020B0509030403020204" pitchFamily="49" charset="0"/>
              </a:rPr>
              <a:t>ests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tests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automáticos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.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Por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ejemplo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,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clases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de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PHPUnit</a:t>
            </a:r>
            <a:endParaRPr lang="en-US" sz="1400" dirty="0"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ea typeface="Source Code Pro" panose="020B0509030403020204" pitchFamily="49" charset="0"/>
              </a:rPr>
              <a:t>v</a:t>
            </a:r>
            <a:r>
              <a:rPr lang="en-US" sz="1400" dirty="0" smtClean="0">
                <a:ea typeface="Source Code Pro" panose="020B0509030403020204" pitchFamily="49" charset="0"/>
              </a:rPr>
              <a:t>endor 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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contiene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las 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dependencias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 (</a:t>
            </a:r>
            <a:r>
              <a:rPr lang="en-US" sz="1400" dirty="0" err="1" smtClean="0">
                <a:ea typeface="Source Code Pro" panose="020B0509030403020204" pitchFamily="49" charset="0"/>
                <a:sym typeface="Wingdings" panose="05000000000000000000" pitchFamily="2" charset="2"/>
              </a:rPr>
              <a:t>librerías</a:t>
            </a:r>
            <a:r>
              <a:rPr lang="en-US" sz="1400" dirty="0" smtClean="0">
                <a:ea typeface="Source Code Pro" panose="020B0509030403020204" pitchFamily="49" charset="0"/>
                <a:sym typeface="Wingdings" panose="05000000000000000000" pitchFamily="2" charset="2"/>
              </a:rPr>
              <a:t>) de Composer</a:t>
            </a:r>
            <a:endParaRPr lang="es-ES" sz="1400" dirty="0" smtClean="0"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14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err="1" smtClean="0"/>
              <a:t>Frontend</a:t>
            </a:r>
            <a:endParaRPr lang="es-ES" sz="2600" dirty="0"/>
          </a:p>
        </p:txBody>
      </p:sp>
      <p:sp>
        <p:nvSpPr>
          <p:cNvPr id="4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70303" cy="53680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 es un framework de servidor, es decir, se centra más en la parte de Backend, en la lógica del negocio y acceso a base de datos que en la visualización de los contenidos.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Pero, claro, Laravel también tiene componentes para visualizar los contenidos. El más habitual son las plantillas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que son ficheros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Html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a los que se puede añadir código y acceder a los datos  procedentes de los controladores. A esas plantillas se les puede añadir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css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y ya tenemos una app con el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frontend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básico.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 las últimas versiones se ha añadido un nuevo componente de plantillas llamado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Livewire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más potente y más adaptable a frameworks de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frontend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Aún así si quieres aprovechar los frameworks de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frontend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más conocidos como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React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Vue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también se puede hacer, pero tiene ciertos inconvenientes con el enrutamiento y la autenticación. Para solucionar este problema Laravel incluye otro componente llamado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Inertia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que permite integrar fácilmente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React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Vue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con Laravel.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Aunque veremos algo en clase, esta parte quedará un poco coja en este módulo y seréis vosotros los que deberéis pelearos con estas tecnologías de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frontend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spcAft>
                <a:spcPts val="2000"/>
              </a:spcAft>
              <a:buNone/>
            </a:pPr>
            <a:endParaRPr lang="es-E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385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Starter kits</a:t>
            </a:r>
            <a:endParaRPr lang="es-ES" sz="2600" dirty="0"/>
          </a:p>
        </p:txBody>
      </p:sp>
      <p:sp>
        <p:nvSpPr>
          <p:cNvPr id="4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0" y="1298448"/>
            <a:ext cx="11370303" cy="536802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tener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una ventaja inicial en la creación de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una nueva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aplicación Laravel,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hay unos kits de inicio de autenticación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y aplicaciones. Estos kits estructuran automáticamente la aplicación con las rutas, los controladores y las vistas que necesita para </a:t>
            </a:r>
            <a:r>
              <a:rPr lang="es-ES" sz="16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registrar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</a:t>
            </a:r>
            <a:r>
              <a:rPr lang="es-ES" sz="1600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autenticar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a los usuarios de la aplicación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Laravel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Breeze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es una implementación mínima de todas las características de </a:t>
            </a:r>
            <a:r>
              <a:rPr lang="es-ES" sz="16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autenticación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de Laravel (sesión, registro, verificación contraseñas, …). Añade todo el código y visualización de esta parte de una aplicación web. En la parte visual usa las plantillas </a:t>
            </a:r>
            <a:r>
              <a:rPr lang="es-ES" sz="1600" b="1" i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Blade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con las hojas de estilo de </a:t>
            </a:r>
            <a:r>
              <a:rPr lang="es-ES" sz="1600" b="1" i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Tailwind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También puede usarse con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Inertia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(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Vue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React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Instalación del paquete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Breeze</a:t>
            </a:r>
            <a:r>
              <a:rPr lang="es-ES" sz="1600">
                <a:solidFill>
                  <a:prstClr val="black">
                    <a:lumMod val="75000"/>
                    <a:lumOff val="25000"/>
                  </a:prstClr>
                </a:solidFill>
              </a:rPr>
              <a:t>:  </a:t>
            </a:r>
            <a:r>
              <a:rPr lang="es-ES" sz="160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                  composer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require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laravel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/</a:t>
            </a:r>
            <a:r>
              <a:rPr lang="es-E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breeze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–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dev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Creación de las vistas y compilación:  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php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breeze:install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			php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artisan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migrate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		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npm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install</a:t>
            </a:r>
            <a:endParaRPr lang="es-ES" sz="14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					</a:t>
            </a:r>
            <a:r>
              <a:rPr lang="es-ES" sz="14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npm</a:t>
            </a:r>
            <a:r>
              <a:rPr lang="es-ES" sz="14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ES" sz="1400" dirty="0">
                <a:solidFill>
                  <a:prstClr val="black">
                    <a:lumMod val="75000"/>
                    <a:lumOff val="25000"/>
                  </a:prstClr>
                </a:solidFill>
              </a:rPr>
              <a:t>run </a:t>
            </a:r>
            <a:r>
              <a:rPr lang="es-ES" sz="14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dev</a:t>
            </a:r>
            <a:endParaRPr lang="es-ES" sz="14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Laravel </a:t>
            </a:r>
            <a:r>
              <a:rPr lang="es-ES" sz="1600" b="1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Jetstream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: es otra implementación de Laravel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que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incluye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inicio de sesión, 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registro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verificación de correo electrónico, autenticación de dos factores, 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administración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 sesiones, soporte de API a través de Laravel </a:t>
            </a:r>
            <a:r>
              <a:rPr lang="es-E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Sanctum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 </a:t>
            </a:r>
            <a:endParaRPr lang="es-ES" sz="16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administración </a:t>
            </a:r>
            <a:r>
              <a:rPr lang="es-E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 equipos opcional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Soporta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Livewire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Inertia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como </a:t>
            </a:r>
            <a:r>
              <a:rPr lang="es-E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frontend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 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  <a:hlinkClick r:id="rId3"/>
              </a:rPr>
              <a:t>Link</a:t>
            </a:r>
            <a:r>
              <a:rPr lang="es-ES" sz="16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es-E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571" y="3236608"/>
            <a:ext cx="3886201" cy="321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5846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9B45"/>
        </a:solidFill>
        <a:ln>
          <a:solidFill>
            <a:srgbClr val="FF9B4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4199827_TF10001033" id="{B8C5CA47-16DB-4B99-941C-1142562394E7}" vid="{2A9A9F5D-B7A7-4104-8DD8-8C97F33B83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1217</Words>
  <Application>Microsoft Office PowerPoint</Application>
  <PresentationFormat>Panorámica</PresentationFormat>
  <Paragraphs>110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Source Code Pro</vt:lpstr>
      <vt:lpstr>Wingdings</vt:lpstr>
      <vt:lpstr>WelcomeDoc</vt:lpstr>
      <vt:lpstr>Laravel 9</vt:lpstr>
      <vt:lpstr>ÍNDICE</vt:lpstr>
      <vt:lpstr>INTRODUCCIÓN</vt:lpstr>
      <vt:lpstr>Qué es</vt:lpstr>
      <vt:lpstr>Instalación</vt:lpstr>
      <vt:lpstr>Configuración</vt:lpstr>
      <vt:lpstr>Estructura de directorios</vt:lpstr>
      <vt:lpstr>Frontend</vt:lpstr>
      <vt:lpstr>Starter kits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damos la bienvenida a PowerPoint</dc:title>
  <dc:creator>José Javier Guillén Benavente</dc:creator>
  <cp:keywords/>
  <cp:lastModifiedBy>Familia Guillén Linares</cp:lastModifiedBy>
  <cp:revision>43</cp:revision>
  <dcterms:created xsi:type="dcterms:W3CDTF">2022-09-07T07:55:08Z</dcterms:created>
  <dcterms:modified xsi:type="dcterms:W3CDTF">2022-09-12T16:22:12Z</dcterms:modified>
  <cp:version/>
</cp:coreProperties>
</file>