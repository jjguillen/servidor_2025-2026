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256" r:id="rId2"/>
    <p:sldId id="276" r:id="rId3"/>
    <p:sldId id="277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 damos la bienvenida" id="{E75E278A-FF0E-49A4-B170-79828D63BBAD}">
          <p14:sldIdLst>
            <p14:sldId id="256"/>
            <p14:sldId id="276"/>
            <p14:sldId id="277"/>
          </p14:sldIdLst>
        </p14:section>
        <p14:section name="Diseñar, anotar, trabajar juntos, Información" id="{B9B51309-D148-4332-87C2-07BE32FBCA3B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</p14:sldIdLst>
        </p14:section>
        <p14:section name="Más información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FF9B45"/>
    <a:srgbClr val="DD462F"/>
    <a:srgbClr val="F8CFB6"/>
    <a:srgbClr val="F8CAB6"/>
    <a:srgbClr val="923922"/>
    <a:srgbClr val="404040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45" autoAdjust="0"/>
    <p:restoredTop sz="95401" autoAdjust="0"/>
  </p:normalViewPr>
  <p:slideViewPr>
    <p:cSldViewPr snapToGrid="0">
      <p:cViewPr varScale="1">
        <p:scale>
          <a:sx n="103" d="100"/>
          <a:sy n="103" d="100"/>
        </p:scale>
        <p:origin x="76" y="2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5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0" d="100"/>
          <a:sy n="90" d="100"/>
        </p:scale>
        <p:origin x="2724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5B06AB2-534F-4317-9DBC-96E8A8114BFB}" type="datetime1">
              <a:rPr lang="es-ES" smtClean="0"/>
              <a:t>07/02/2023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184219E-1C28-46B7-A379-E02903B01D1A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0725221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BC32159-CBC1-4C9D-9A0C-0BE24C8C9CDA}" type="datetime1">
              <a:rPr lang="es-ES" noProof="0" smtClean="0"/>
              <a:t>07/02/2023</a:t>
            </a:fld>
            <a:endParaRPr lang="es-ES" noProof="0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F61EA0F-A667-4B49-8422-0062BC55E249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s-ES" dirty="0"/>
              <a:t>En el modo Presentación con diapositivas, seleccione la flecha para ir al Centro de introducción a PowerPoint.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22268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28774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071234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870506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010700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571188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525779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132709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1497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497451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654738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225431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15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975233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16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71630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 userDrawn="1"/>
        </p:nvSpPr>
        <p:spPr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 dirty="0"/>
          </a:p>
        </p:txBody>
      </p:sp>
      <p:cxnSp>
        <p:nvCxnSpPr>
          <p:cNvPr id="12" name="Conector recto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08" y="368802"/>
            <a:ext cx="4434840" cy="64008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defRPr lang="en-US" sz="2400" b="0" dirty="0">
                <a:solidFill>
                  <a:schemeClr val="bg2">
                    <a:lumMod val="25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5" name="Marcador de contenido 4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Haga clic para modificar los estilos de texto del patrón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Segundo nivel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Tercer nivel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Cuarto nivel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Quinto nivel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F6F98EE-852A-4139-9CFD-A1A4BA052067}" type="datetime1">
              <a:rPr lang="es-ES" noProof="0" smtClean="0"/>
              <a:t>07/02/2023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860EDB8-5305-433F-BE41-D7A86D811DB3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9" name="Rectángulo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 dirty="0"/>
          </a:p>
        </p:txBody>
      </p:sp>
      <p:sp>
        <p:nvSpPr>
          <p:cNvPr id="10" name="Rectángulo 9"/>
          <p:cNvSpPr/>
          <p:nvPr userDrawn="1"/>
        </p:nvSpPr>
        <p:spPr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263640" cy="64008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defRPr lang="en-US" sz="3600" b="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indent="0"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8" name="Marcador de posición de contenido 7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Haga clic para modificar los estilos de texto del patrón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Segundo nivel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Tercer nivel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Cuarto nivel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Quinto nivel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2F50242A-6024-4A62-8CDA-92D97616828A}" type="datetime1">
              <a:rPr lang="es-ES" noProof="0" smtClean="0"/>
              <a:t>07/02/2023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838200" y="1164324"/>
            <a:ext cx="10515600" cy="2387600"/>
          </a:xfrm>
        </p:spPr>
        <p:txBody>
          <a:bodyPr rtlCol="0">
            <a:normAutofit/>
          </a:bodyPr>
          <a:lstStyle/>
          <a:p>
            <a:pPr rtl="0"/>
            <a:r>
              <a:rPr lang="es-ES" sz="4800" dirty="0">
                <a:solidFill>
                  <a:schemeClr val="bg1"/>
                </a:solidFill>
              </a:rPr>
              <a:t>Laravel 9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es-ES" sz="2400" dirty="0">
                <a:solidFill>
                  <a:schemeClr val="bg1"/>
                </a:solidFill>
                <a:latin typeface="+mj-lt"/>
              </a:rPr>
              <a:t>Framework PHP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84A30A1-7FD6-4298-A1D0-301DDF69D250}"/>
              </a:ext>
            </a:extLst>
          </p:cNvPr>
          <p:cNvSpPr txBox="1"/>
          <p:nvPr/>
        </p:nvSpPr>
        <p:spPr>
          <a:xfrm>
            <a:off x="838200" y="5503176"/>
            <a:ext cx="31877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dirty="0">
                <a:solidFill>
                  <a:schemeClr val="bg1"/>
                </a:solidFill>
                <a:latin typeface="+mj-lt"/>
              </a:rPr>
              <a:t>Javier Guillén Benavente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ACF6AC-EE60-4591-A0D8-8219FA214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ÍNDICE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7C5854-93BC-4152-8FC3-93FDA76119B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5023104" cy="5111242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s-ES" sz="1700" dirty="0"/>
              <a:t>INTRODUCCIÓN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CONCEPTOS DE ARQUITECTURA</a:t>
            </a:r>
          </a:p>
          <a:p>
            <a:pPr>
              <a:buFont typeface="+mj-lt"/>
              <a:buAutoNum type="arabicPeriod"/>
            </a:pPr>
            <a:r>
              <a:rPr lang="es-ES" sz="1700" dirty="0">
                <a:solidFill>
                  <a:schemeClr val="tx1"/>
                </a:solidFill>
              </a:rPr>
              <a:t>PRIMEROS PASOS</a:t>
            </a:r>
          </a:p>
          <a:p>
            <a:pPr>
              <a:buFont typeface="+mj-lt"/>
              <a:buAutoNum type="arabicPeriod"/>
            </a:pPr>
            <a:r>
              <a:rPr lang="es-ES" sz="1700" dirty="0">
                <a:solidFill>
                  <a:schemeClr val="tx1"/>
                </a:solidFill>
              </a:rPr>
              <a:t>ENRUTAMIENTO</a:t>
            </a:r>
          </a:p>
          <a:p>
            <a:pPr>
              <a:buFont typeface="+mj-lt"/>
              <a:buAutoNum type="arabicPeriod"/>
            </a:pPr>
            <a:r>
              <a:rPr lang="es-ES" sz="1700" dirty="0">
                <a:solidFill>
                  <a:schemeClr val="tx1"/>
                </a:solidFill>
              </a:rPr>
              <a:t>MIDDLEWARE</a:t>
            </a:r>
          </a:p>
          <a:p>
            <a:pPr>
              <a:buFont typeface="+mj-lt"/>
              <a:buAutoNum type="arabicPeriod"/>
            </a:pPr>
            <a:r>
              <a:rPr lang="es-ES" sz="1700" dirty="0">
                <a:solidFill>
                  <a:schemeClr val="tx1"/>
                </a:solidFill>
              </a:rPr>
              <a:t>CONTROLADORES</a:t>
            </a:r>
          </a:p>
          <a:p>
            <a:pPr>
              <a:buFont typeface="+mj-lt"/>
              <a:buAutoNum type="arabicPeriod"/>
            </a:pPr>
            <a:r>
              <a:rPr lang="es-ES" sz="1700" dirty="0">
                <a:solidFill>
                  <a:schemeClr val="tx1"/>
                </a:solidFill>
              </a:rPr>
              <a:t>REQUESTS</a:t>
            </a:r>
          </a:p>
          <a:p>
            <a:pPr>
              <a:buFont typeface="+mj-lt"/>
              <a:buAutoNum type="arabicPeriod"/>
            </a:pPr>
            <a:r>
              <a:rPr lang="es-ES" sz="1700" dirty="0">
                <a:solidFill>
                  <a:schemeClr val="tx1"/>
                </a:solidFill>
              </a:rPr>
              <a:t>RESPONSES</a:t>
            </a:r>
          </a:p>
          <a:p>
            <a:pPr>
              <a:buFont typeface="+mj-lt"/>
              <a:buAutoNum type="arabicPeriod"/>
            </a:pPr>
            <a:r>
              <a:rPr lang="es-ES" sz="1700" dirty="0">
                <a:solidFill>
                  <a:schemeClr val="tx1"/>
                </a:solidFill>
              </a:rPr>
              <a:t>VISTAS</a:t>
            </a:r>
          </a:p>
          <a:p>
            <a:pPr>
              <a:buFont typeface="+mj-lt"/>
              <a:buAutoNum type="arabicPeriod"/>
            </a:pPr>
            <a:r>
              <a:rPr lang="es-ES" sz="1700" dirty="0">
                <a:solidFill>
                  <a:schemeClr val="accent2"/>
                </a:solidFill>
              </a:rPr>
              <a:t>PLANTILLAS BLADE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SESIÓN Y VALIDACIÓN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SEGURIDAD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BASE DE DATOS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ELOQUENT (ORM)</a:t>
            </a:r>
          </a:p>
          <a:p>
            <a:pPr>
              <a:buFont typeface="+mj-lt"/>
              <a:buAutoNum type="arabicPeriod"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>
              <a:buFont typeface="+mj-lt"/>
              <a:buAutoNum type="arabicPeriod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00875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521208" y="1536192"/>
            <a:ext cx="9107424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dirty="0" smtClean="0"/>
              <a:t>PLANTILLAS BLADE</a:t>
            </a:r>
            <a:endParaRPr lang="es-ES" dirty="0"/>
          </a:p>
        </p:txBody>
      </p:sp>
      <p:sp>
        <p:nvSpPr>
          <p:cNvPr id="5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1" y="2779776"/>
            <a:ext cx="9793224" cy="395465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Introducción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Directivas de plantilla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Componentes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Diseños de construcción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Formularios</a:t>
            </a:r>
            <a:endParaRPr lang="es-ES" sz="20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766905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15" y="448054"/>
            <a:ext cx="6651882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z="2600" dirty="0" smtClean="0"/>
              <a:t>Introducción</a:t>
            </a:r>
            <a:endParaRPr lang="es-ES" sz="2600" dirty="0"/>
          </a:p>
        </p:txBody>
      </p:sp>
      <p:sp>
        <p:nvSpPr>
          <p:cNvPr id="6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0" y="1298448"/>
            <a:ext cx="11320875" cy="56831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Blade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es el motor de plantillas incluido por defecto en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Laravel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 Además de sus propias directivas, permite incluir código PHP. Todas las plantillas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Blade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se compilan en código PHP y se almacenan en una caché.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Las plantillas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Blade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usan la extensión </a:t>
            </a: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  <a:r>
              <a:rPr lang="es-ES" sz="18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blade.php</a:t>
            </a: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y se almacenan en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resources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/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views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Las vistas se devuelven desde rutas o controladores con el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helper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18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view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Laravel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18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Livewire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es una mejora de las plantillas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Blade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que 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permite escribir componentes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Blade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que 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se aumentan con una funcionalidad dinámica que normalmente solo sería posible a través de marcos de </a:t>
            </a:r>
            <a:r>
              <a:rPr lang="es-E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front-end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como </a:t>
            </a:r>
            <a:r>
              <a:rPr lang="es-E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React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o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Vue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Para mostrar los datos que se pasan a las vistas </a:t>
            </a:r>
            <a:r>
              <a:rPr lang="es-E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Blade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debemos envolver la variable entre </a:t>
            </a:r>
            <a:r>
              <a:rPr lang="es-ES" sz="18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llaves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Si no queremos que Javascript se lie con </a:t>
            </a:r>
            <a:r>
              <a:rPr lang="es-E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Blade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podemos usar </a:t>
            </a:r>
            <a:r>
              <a:rPr lang="es-ES" sz="18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@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para que una expresión Javascript con llaves no quede afectada.                               Este carácter también se utiliza para las directivas </a:t>
            </a:r>
            <a:r>
              <a:rPr lang="es-E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Blade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880" y="2843233"/>
            <a:ext cx="2973954" cy="671205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1670" y="4860633"/>
            <a:ext cx="1492327" cy="387370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4328" y="5902231"/>
            <a:ext cx="1524078" cy="317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191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15" y="448054"/>
            <a:ext cx="6651882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z="2600" dirty="0" smtClean="0"/>
              <a:t>Directivas de plantilla</a:t>
            </a:r>
            <a:endParaRPr lang="es-ES" sz="2600" dirty="0"/>
          </a:p>
        </p:txBody>
      </p:sp>
      <p:sp>
        <p:nvSpPr>
          <p:cNvPr id="6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0" y="1298448"/>
            <a:ext cx="11320875" cy="56831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Sentencias </a:t>
            </a:r>
            <a:r>
              <a:rPr lang="es-ES" sz="18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if</a:t>
            </a: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						  Directivas de autenticación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Sentencias </a:t>
            </a:r>
            <a:r>
              <a:rPr lang="es-ES" sz="18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switch</a:t>
            </a:r>
            <a:r>
              <a:rPr lang="es-ES" sz="18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      Bucles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96" y="1801425"/>
            <a:ext cx="2317869" cy="1695537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451" y="1801425"/>
            <a:ext cx="3499030" cy="1739989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3097" y="1780948"/>
            <a:ext cx="3057860" cy="1716014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096" y="4140008"/>
            <a:ext cx="1896326" cy="2696339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3104" y="4140008"/>
            <a:ext cx="3060857" cy="1708238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2306" y="4140008"/>
            <a:ext cx="2451226" cy="214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781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15" y="448054"/>
            <a:ext cx="6651882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z="2600" dirty="0" smtClean="0"/>
              <a:t>Directivas de plantilla</a:t>
            </a:r>
            <a:endParaRPr lang="es-ES" sz="2600" dirty="0"/>
          </a:p>
        </p:txBody>
      </p:sp>
      <p:sp>
        <p:nvSpPr>
          <p:cNvPr id="6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1" y="1298448"/>
            <a:ext cx="5920974" cy="56831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Bucles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Al usar bucles, también puede omitir la iteración actual o finalizar el bucle usando las directivas @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continue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y @break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Mientras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iteramos 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a través de un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foreach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, podemos acceder a la variable $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loop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dentro del ciclo. 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Esta variable proporciona acceso a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elementos 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como el índice de bucle actual y si esta es la primera o la última iteración a través del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bucle.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4789" y="5041188"/>
            <a:ext cx="2187146" cy="1816812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9374" y="1399207"/>
            <a:ext cx="5683325" cy="474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638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15" y="448054"/>
            <a:ext cx="6651882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z="2600" dirty="0" smtClean="0"/>
              <a:t>Directivas de plantilla</a:t>
            </a:r>
            <a:endParaRPr lang="es-ES" sz="2600" dirty="0"/>
          </a:p>
        </p:txBody>
      </p:sp>
      <p:sp>
        <p:nvSpPr>
          <p:cNvPr id="6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0" y="1298448"/>
            <a:ext cx="11320875" cy="56831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Atributos condicionales en las etiquetas HTML: @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selected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, @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disabled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, @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readonly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, @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required</a:t>
            </a: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Incluir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subvistas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: </a:t>
            </a: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@</a:t>
            </a:r>
            <a:r>
              <a:rPr lang="es-ES" sz="18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include</a:t>
            </a:r>
            <a:endParaRPr lang="es-ES" sz="1800" b="1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Representación de vistas para colecciones de elementos: se ejecutará la vista para cada elemento en la colección		    pasada como segundo argumento, con el nombre tercer argumento.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PHP sin procesar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74" y="1820774"/>
            <a:ext cx="5708943" cy="1733639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74" y="4076739"/>
            <a:ext cx="3568883" cy="349268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74" y="5198937"/>
            <a:ext cx="2739873" cy="380139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5486" y="5789390"/>
            <a:ext cx="1371670" cy="762039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5077" y="5789390"/>
            <a:ext cx="1466925" cy="317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079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15" y="448054"/>
            <a:ext cx="6651882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z="2600" dirty="0" smtClean="0"/>
              <a:t>Componentes</a:t>
            </a:r>
            <a:endParaRPr lang="es-ES" sz="2600" dirty="0"/>
          </a:p>
        </p:txBody>
      </p:sp>
      <p:sp>
        <p:nvSpPr>
          <p:cNvPr id="6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0" y="1298448"/>
            <a:ext cx="11320875" cy="56831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Hay dos enfoques para escribir componentes: componentes basados ​​en clases y componentes anónimos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Para crear un componente basado en clases, puede usar el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comando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Artisan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18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make:component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Este comando creará un componente en el directorio </a:t>
            </a: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app/View/</a:t>
            </a:r>
            <a:r>
              <a:rPr lang="es-ES" sz="18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Components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 También creará una plantilla de vista para el componente. La vista se colocará en </a:t>
            </a:r>
            <a:r>
              <a:rPr lang="es-ES" sz="18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resources</a:t>
            </a: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/</a:t>
            </a:r>
            <a:r>
              <a:rPr lang="es-ES" sz="18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views</a:t>
            </a: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/</a:t>
            </a:r>
            <a:r>
              <a:rPr lang="es-ES" sz="18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components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Si desea crear un componente anónimo (un componente con solo una plantilla </a:t>
            </a:r>
            <a:r>
              <a:rPr lang="es-E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Blade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y sin clase), puede usar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 </a:t>
            </a: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--</a:t>
            </a:r>
            <a:r>
              <a:rPr lang="es-ES" sz="18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view</a:t>
            </a: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al invocar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el comando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make:component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Para incluir un componente en una vista se hará con una etiqueta XML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4634" y="2371029"/>
            <a:ext cx="3094373" cy="421598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610" y="5658614"/>
            <a:ext cx="5191499" cy="427089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3097" y="5624495"/>
            <a:ext cx="2412471" cy="461208"/>
          </a:xfrm>
          <a:prstGeom prst="rect">
            <a:avLst/>
          </a:prstGeom>
        </p:spPr>
      </p:pic>
      <p:sp>
        <p:nvSpPr>
          <p:cNvPr id="12" name="Flecha derecha 11"/>
          <p:cNvSpPr/>
          <p:nvPr/>
        </p:nvSpPr>
        <p:spPr>
          <a:xfrm>
            <a:off x="5912708" y="5782962"/>
            <a:ext cx="1013254" cy="210065"/>
          </a:xfrm>
          <a:prstGeom prst="rightArrow">
            <a:avLst/>
          </a:prstGeom>
          <a:solidFill>
            <a:srgbClr val="FF9B45"/>
          </a:solidFill>
          <a:ln>
            <a:solidFill>
              <a:srgbClr val="FF9B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5469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15" y="448054"/>
            <a:ext cx="6651882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z="2600" dirty="0" smtClean="0"/>
              <a:t>Componentes</a:t>
            </a:r>
            <a:endParaRPr lang="es-ES" sz="2600" dirty="0"/>
          </a:p>
        </p:txBody>
      </p:sp>
      <p:sp>
        <p:nvSpPr>
          <p:cNvPr id="6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1" y="1298448"/>
            <a:ext cx="7063973" cy="56831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Como hemos visto, las 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etiquetas de los componentes </a:t>
            </a:r>
            <a:r>
              <a:rPr lang="es-E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Blade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comienzan con la cadena </a:t>
            </a: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x-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seguida 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del nombre de la caja de kebab de la clase del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componente.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Pasar datos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 los componentes se hace usando atributos HTML. Para las expresiones y variables PHP se pasarán usando el prefijo ‘ </a:t>
            </a: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: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’</a:t>
            </a: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Debe </a:t>
            </a:r>
            <a:r>
              <a:rPr lang="es-ES" sz="18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definir todos los atributos de datos del componente en su constructor de clase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. Todas las propiedades públicas de un componente estarán automáticamente disponibles para la vista del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componente.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605" y="3736279"/>
            <a:ext cx="5717965" cy="60712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8351" y="1298448"/>
            <a:ext cx="3607254" cy="548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627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15" y="448054"/>
            <a:ext cx="6651882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z="2600" dirty="0" smtClean="0"/>
              <a:t>Componentes</a:t>
            </a:r>
            <a:endParaRPr lang="es-ES" sz="2600" dirty="0"/>
          </a:p>
        </p:txBody>
      </p:sp>
      <p:sp>
        <p:nvSpPr>
          <p:cNvPr id="6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1" y="1298448"/>
            <a:ext cx="7199897" cy="5683120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Cuando se procesa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un 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componente, puede mostrar el contenido de las variables públicas de su componente haciendo eco de las variables por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nombre dentro del código del componente. 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Los argumentos del constructor de componentes deben especificarse usando </a:t>
            </a:r>
            <a:r>
              <a:rPr lang="es-ES" sz="1800" i="1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camelCase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, mientras </a:t>
            </a:r>
            <a:r>
              <a:rPr lang="es-ES" sz="1800" i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kebab-case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deben 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usarse al hacer referencia a los nombres de los argumentos en sus atributos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HTML.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Si un componente tiene varios atributos, todos 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los atributos se pueden representar dentro del componente haciendo eco de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 variable $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attributes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En ocasiones, es posible que deba especificar valores predeterminados para los atributos o fusionar valores adicionales en algunos de los atributos del componente. Para lograr esto, puede usar el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método </a:t>
            </a:r>
            <a:r>
              <a:rPr lang="es-ES" sz="18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merge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 Se pueden hacer condicionales con </a:t>
            </a:r>
            <a:r>
              <a:rPr lang="es-ES" sz="18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class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508" y="1413198"/>
            <a:ext cx="4060855" cy="113847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1508" y="2761985"/>
            <a:ext cx="3092609" cy="990651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1508" y="3797817"/>
            <a:ext cx="2394073" cy="368319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4682" y="4302900"/>
            <a:ext cx="2387723" cy="825542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5712" y="5351147"/>
            <a:ext cx="4412321" cy="653252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35712" y="6028575"/>
            <a:ext cx="3473629" cy="73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876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15" y="448054"/>
            <a:ext cx="6651882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z="2600" dirty="0" smtClean="0"/>
              <a:t>Componentes – ranuras (slots)</a:t>
            </a:r>
            <a:endParaRPr lang="es-ES" sz="2600" dirty="0"/>
          </a:p>
        </p:txBody>
      </p:sp>
      <p:sp>
        <p:nvSpPr>
          <p:cNvPr id="6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1" y="1298448"/>
            <a:ext cx="11592724" cy="327973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A menudo necesitará pasar contenido adicional a su componente a través de "ranuras". Las ranuras de los componentes se representan haciendo eco de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 variable </a:t>
            </a: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$slot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 Por ejemplo, dentro de un componente lo que pongamos dentro de la llamada al componente, en el componente se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renderizará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donde esté $slot.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Si el componente lo escribimos así:                                                   podemos pasarle contenido al componente de esta manera: 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				        Así, al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renderizar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tendríamos el div, y dentro el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strong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949" y="2655396"/>
            <a:ext cx="2776990" cy="85392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48" y="3638446"/>
            <a:ext cx="3848298" cy="730288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521215" y="4763530"/>
            <a:ext cx="6651882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dirty="0">
                <a:solidFill>
                  <a:prstClr val="black">
                    <a:lumMod val="75000"/>
                    <a:lumOff val="25000"/>
                  </a:prstClr>
                </a:solidFill>
              </a:rPr>
              <a:t>A veces, un componente puede necesitar </a:t>
            </a:r>
            <a:r>
              <a:rPr lang="es-ES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renderizar</a:t>
            </a:r>
            <a:r>
              <a:rPr lang="es-ES" dirty="0">
                <a:solidFill>
                  <a:prstClr val="black">
                    <a:lumMod val="75000"/>
                    <a:lumOff val="25000"/>
                  </a:prstClr>
                </a:solidFill>
              </a:rPr>
              <a:t> varias ranuras diferentes en diferentes ubicaciones dentro del </a:t>
            </a:r>
            <a:r>
              <a:rPr lang="es-ES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componente, le podremos poner otro nombre, que no sea $slot, y podremos pasar valor a esas variables desde la llamada al componente con &lt;</a:t>
            </a:r>
            <a:r>
              <a:rPr lang="es-ES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x-slot:nombre</a:t>
            </a:r>
            <a:r>
              <a:rPr lang="es-ES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&gt;</a:t>
            </a:r>
          </a:p>
          <a:p>
            <a:endParaRPr lang="es-ES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endParaRPr lang="es-ES" dirty="0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302" y="4284546"/>
            <a:ext cx="3024928" cy="1143367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1690" y="5462944"/>
            <a:ext cx="3080533" cy="1395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969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15" y="448054"/>
            <a:ext cx="6651882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z="2600" dirty="0" smtClean="0"/>
              <a:t>Componentes anónimos</a:t>
            </a:r>
            <a:endParaRPr lang="es-ES" sz="2600" dirty="0"/>
          </a:p>
        </p:txBody>
      </p:sp>
      <p:sp>
        <p:nvSpPr>
          <p:cNvPr id="6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1" y="1298448"/>
            <a:ext cx="11592724" cy="555955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Los </a:t>
            </a:r>
            <a:r>
              <a:rPr lang="es-ES" sz="18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componentes anónimos 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proporcionan un mecanismo para administrar un componente a través de </a:t>
            </a:r>
            <a:r>
              <a:rPr lang="es-ES" sz="1800" i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un solo archivo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. Sin embargo, los componentes anónimos utilizan un archivo de vista único y no tienen una clase asociada. Para definir un componente anónimo, solo necesita colocar una plantilla </a:t>
            </a:r>
            <a:r>
              <a:rPr lang="es-E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Blade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dentro de su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directorio </a:t>
            </a:r>
            <a:r>
              <a:rPr lang="es-ES" sz="18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resources</a:t>
            </a: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/</a:t>
            </a:r>
            <a:r>
              <a:rPr lang="es-ES" sz="18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views</a:t>
            </a: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/</a:t>
            </a:r>
            <a:r>
              <a:rPr lang="es-ES" sz="18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components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 También se pueden anidar, así que 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si tenemos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el componente 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definido en </a:t>
            </a:r>
            <a:r>
              <a:rPr lang="es-E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resources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/</a:t>
            </a:r>
            <a:r>
              <a:rPr lang="es-E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views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/</a:t>
            </a:r>
            <a:r>
              <a:rPr lang="es-E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components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/inputs/</a:t>
            </a:r>
            <a:r>
              <a:rPr lang="es-E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button.blade.php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podemos 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representarlo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así: 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A veces, cuando un componente se compone de muchas plantillas </a:t>
            </a:r>
            <a:r>
              <a:rPr lang="es-E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Blade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, es posible que desee agrupar las plantillas del componente dado en un solo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directorio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Esta 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estructura de directorios le permite representar </a:t>
            </a: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el 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componente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y su 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elemento </a:t>
            </a: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3861" y="3060177"/>
            <a:ext cx="1928494" cy="412071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8782" y="4078224"/>
            <a:ext cx="5143129" cy="734733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8781" y="5139091"/>
            <a:ext cx="2312799" cy="144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199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15" y="448054"/>
            <a:ext cx="6651882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z="2600" dirty="0" smtClean="0"/>
              <a:t>Diseños de construcción</a:t>
            </a:r>
            <a:endParaRPr lang="es-ES" sz="2600" dirty="0"/>
          </a:p>
        </p:txBody>
      </p:sp>
      <p:sp>
        <p:nvSpPr>
          <p:cNvPr id="6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1" y="1298448"/>
            <a:ext cx="11592724" cy="555955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La mayoría de las aplicaciones web mantienen el mismo diseño general en varias páginas. Sería increíblemente engorroso y difícil mantener nuestra aplicación si tuviéramos que repetir todo el diseño HTML en cada vista que creamos. Afortunadamente, es conveniente definir este diseño como un solo componente </a:t>
            </a:r>
            <a:r>
              <a:rPr lang="es-E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Blade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y luego usarlo en toda nuestra aplicación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 idea es definir un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layout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común y luego crear una vista que utilice el componente.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Layout</a:t>
            </a: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	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					</a:t>
            </a: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Uso del </a:t>
            </a:r>
            <a:r>
              <a:rPr lang="es-ES" sz="18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layout</a:t>
            </a: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en otra plantilla, p.ej. “tareas”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52" y="4229895"/>
            <a:ext cx="4089610" cy="2451226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289" y="4229895"/>
            <a:ext cx="2836538" cy="2451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890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15" y="448054"/>
            <a:ext cx="6651882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z="2600" dirty="0" smtClean="0"/>
              <a:t>Diseños de construcción - herencia</a:t>
            </a:r>
            <a:endParaRPr lang="es-ES" sz="2600" dirty="0"/>
          </a:p>
        </p:txBody>
      </p:sp>
      <p:sp>
        <p:nvSpPr>
          <p:cNvPr id="6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1" y="1298448"/>
            <a:ext cx="11592724" cy="555955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Diseños con </a:t>
            </a: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herencia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de plantilla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. La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directiva </a:t>
            </a: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@</a:t>
            </a:r>
            <a:r>
              <a:rPr lang="es-ES" sz="18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section</a:t>
            </a: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define una sección de contenido, mientras que la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directiva </a:t>
            </a: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@</a:t>
            </a:r>
            <a:r>
              <a:rPr lang="es-ES" sz="18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yield</a:t>
            </a: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se usa para mostrar el contenido de una sección determinada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 Luego definimos una nueva plantilla, en ella usaremos la directiva </a:t>
            </a: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@</a:t>
            </a:r>
            <a:r>
              <a:rPr lang="es-ES" sz="18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extends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11" y="2958308"/>
            <a:ext cx="3913780" cy="3504276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8523" y="2958308"/>
            <a:ext cx="4301023" cy="350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03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15" y="448054"/>
            <a:ext cx="6651882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z="2600" dirty="0" smtClean="0"/>
              <a:t>Formularios</a:t>
            </a:r>
            <a:endParaRPr lang="es-ES" sz="2600" dirty="0"/>
          </a:p>
        </p:txBody>
      </p:sp>
      <p:sp>
        <p:nvSpPr>
          <p:cNvPr id="6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1" y="1298448"/>
            <a:ext cx="11592724" cy="555955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Cada vez que defina un formulario HTML en su aplicación, debe incluir un campo de </a:t>
            </a:r>
            <a:r>
              <a:rPr lang="es-ES" sz="18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token CSRF 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oculto en el formulario para que el middleware de protección CSRF pueda validar la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solicitud.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Dado que los formularios HTML no pueden realizar solicitudes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PUT ni DELETE, 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deberá agregar un campo oculto para falsificar estos verbos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HTTP.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11" y="2386022"/>
            <a:ext cx="2927500" cy="128276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611" y="4999820"/>
            <a:ext cx="2952902" cy="125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302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15" y="448054"/>
            <a:ext cx="6651882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z="2600" dirty="0" smtClean="0"/>
              <a:t>Formularios</a:t>
            </a:r>
            <a:endParaRPr lang="es-ES" sz="2600" dirty="0"/>
          </a:p>
        </p:txBody>
      </p:sp>
      <p:sp>
        <p:nvSpPr>
          <p:cNvPr id="6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1" y="1298448"/>
            <a:ext cx="11592724" cy="555955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Errores de </a:t>
            </a: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validación.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Podemos usar la directiva </a:t>
            </a: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@error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para verificar si existen mensajes de error de validación. Dentro de una directiva @error puedes mostrar el mensaje de error de la validación usando la variable </a:t>
            </a: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$</a:t>
            </a:r>
            <a:r>
              <a:rPr lang="es-ES" sz="18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message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  Ver la sección de validación de inputs en los controladores.  </a:t>
            </a:r>
            <a:endParaRPr lang="es-ES" sz="1800" b="1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11" y="2809990"/>
            <a:ext cx="5641357" cy="281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320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9B45"/>
        </a:solidFill>
        <a:ln>
          <a:solidFill>
            <a:srgbClr val="FF9B45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14199827_TF10001033" id="{B8C5CA47-16DB-4B99-941C-1142562394E7}" vid="{2A9A9F5D-B7A7-4104-8DD8-8C97F33B830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14418</TotalTime>
  <Words>1213</Words>
  <Application>Microsoft Office PowerPoint</Application>
  <PresentationFormat>Panorámica</PresentationFormat>
  <Paragraphs>231</Paragraphs>
  <Slides>16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Calibri</vt:lpstr>
      <vt:lpstr>Segoe UI</vt:lpstr>
      <vt:lpstr>Segoe UI Light</vt:lpstr>
      <vt:lpstr>WelcomeDoc</vt:lpstr>
      <vt:lpstr>Laravel 9</vt:lpstr>
      <vt:lpstr>ÍNDICE</vt:lpstr>
      <vt:lpstr>PLANTILLAS BLADE</vt:lpstr>
      <vt:lpstr>Introducción</vt:lpstr>
      <vt:lpstr>Directivas de plantilla</vt:lpstr>
      <vt:lpstr>Directivas de plantilla</vt:lpstr>
      <vt:lpstr>Directivas de plantilla</vt:lpstr>
      <vt:lpstr>Componentes</vt:lpstr>
      <vt:lpstr>Componentes</vt:lpstr>
      <vt:lpstr>Componentes</vt:lpstr>
      <vt:lpstr>Componentes – ranuras (slots)</vt:lpstr>
      <vt:lpstr>Componentes anónimos</vt:lpstr>
      <vt:lpstr>Diseños de construcción</vt:lpstr>
      <vt:lpstr>Diseños de construcción - herencia</vt:lpstr>
      <vt:lpstr>Formularios</vt:lpstr>
      <vt:lpstr>Formularios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damos la bienvenida a PowerPoint</dc:title>
  <dc:creator>José Javier Guillén Benavente</dc:creator>
  <cp:keywords/>
  <cp:lastModifiedBy>Familia Guillén Linares</cp:lastModifiedBy>
  <cp:revision>287</cp:revision>
  <dcterms:created xsi:type="dcterms:W3CDTF">2022-09-07T07:55:08Z</dcterms:created>
  <dcterms:modified xsi:type="dcterms:W3CDTF">2023-02-07T12:38:18Z</dcterms:modified>
  <cp:version/>
</cp:coreProperties>
</file>