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256" r:id="rId2"/>
    <p:sldId id="276" r:id="rId3"/>
    <p:sldId id="277" r:id="rId4"/>
    <p:sldId id="279" r:id="rId5"/>
    <p:sldId id="280" r:id="rId6"/>
    <p:sldId id="281" r:id="rId7"/>
    <p:sldId id="282" r:id="rId8"/>
    <p:sldId id="283" r:id="rId9"/>
    <p:sldId id="285" r:id="rId1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damos la bienvenida" id="{E75E278A-FF0E-49A4-B170-79828D63BBAD}">
          <p14:sldIdLst>
            <p14:sldId id="256"/>
            <p14:sldId id="276"/>
            <p14:sldId id="277"/>
          </p14:sldIdLst>
        </p14:section>
        <p14:section name="Diseñar, anotar, trabajar juntos, Información" id="{B9B51309-D148-4332-87C2-07BE32FBCA3B}">
          <p14:sldIdLst>
            <p14:sldId id="279"/>
            <p14:sldId id="280"/>
            <p14:sldId id="281"/>
            <p14:sldId id="282"/>
            <p14:sldId id="283"/>
            <p14:sldId id="285"/>
          </p14:sldIdLst>
        </p14:section>
        <p14:section name="Más información"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FF9B45"/>
    <a:srgbClr val="DD462F"/>
    <a:srgbClr val="F8CFB6"/>
    <a:srgbClr val="F8CAB6"/>
    <a:srgbClr val="923922"/>
    <a:srgbClr val="404040"/>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45" autoAdjust="0"/>
    <p:restoredTop sz="95401" autoAdjust="0"/>
  </p:normalViewPr>
  <p:slideViewPr>
    <p:cSldViewPr snapToGrid="0">
      <p:cViewPr varScale="1">
        <p:scale>
          <a:sx n="103" d="100"/>
          <a:sy n="103" d="100"/>
        </p:scale>
        <p:origin x="76" y="208"/>
      </p:cViewPr>
      <p:guideLst>
        <p:guide orient="horz" pos="2160"/>
        <p:guide pos="3840"/>
      </p:guideLst>
    </p:cSldViewPr>
  </p:slideViewPr>
  <p:outlineViewPr>
    <p:cViewPr>
      <p:scale>
        <a:sx n="33" d="100"/>
        <a:sy n="33" d="100"/>
      </p:scale>
      <p:origin x="0" y="-558"/>
    </p:cViewPr>
  </p:outlineViewPr>
  <p:notesTextViewPr>
    <p:cViewPr>
      <p:scale>
        <a:sx n="1" d="1"/>
        <a:sy n="1" d="1"/>
      </p:scale>
      <p:origin x="0" y="0"/>
    </p:cViewPr>
  </p:notesTextViewPr>
  <p:notesViewPr>
    <p:cSldViewPr snapToGrid="0">
      <p:cViewPr varScale="1">
        <p:scale>
          <a:sx n="90" d="100"/>
          <a:sy n="90" d="100"/>
        </p:scale>
        <p:origin x="272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B06AB2-534F-4317-9DBC-96E8A8114BFB}" type="datetime1">
              <a:rPr lang="es-ES" smtClean="0"/>
              <a:t>06/02/2023</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184219E-1C28-46B7-A379-E02903B01D1A}" type="slidenum">
              <a:rPr lang="es-ES" smtClean="0"/>
              <a:t>‹Nº›</a:t>
            </a:fld>
            <a:endParaRPr lang="es-ES" dirty="0"/>
          </a:p>
        </p:txBody>
      </p:sp>
    </p:spTree>
    <p:extLst>
      <p:ext uri="{BB962C8B-B14F-4D97-AF65-F5344CB8AC3E}">
        <p14:creationId xmlns:p14="http://schemas.microsoft.com/office/powerpoint/2010/main" val="29072522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BC32159-CBC1-4C9D-9A0C-0BE24C8C9CDA}" type="datetime1">
              <a:rPr lang="es-ES" noProof="0" smtClean="0"/>
              <a:t>06/02/2023</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es-ES" noProof="0" smtClean="0"/>
              <a:t>‹Nº›</a:t>
            </a:fld>
            <a:endParaRPr lang="es-ES" noProof="0"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1</a:t>
            </a:fld>
            <a:endParaRPr lang="es-E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r>
              <a:rPr lang="es-ES" dirty="0"/>
              <a:t>En el modo Presentación con diapositivas, seleccione la flecha para ir al Centro de introducción a PowerPoint.</a:t>
            </a:r>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3</a:t>
            </a:fld>
            <a:endParaRPr lang="es-ES" dirty="0"/>
          </a:p>
        </p:txBody>
      </p:sp>
    </p:spTree>
    <p:extLst>
      <p:ext uri="{BB962C8B-B14F-4D97-AF65-F5344CB8AC3E}">
        <p14:creationId xmlns:p14="http://schemas.microsoft.com/office/powerpoint/2010/main" val="522268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4</a:t>
            </a:fld>
            <a:endParaRPr lang="es-ES" dirty="0"/>
          </a:p>
        </p:txBody>
      </p:sp>
    </p:spTree>
    <p:extLst>
      <p:ext uri="{BB962C8B-B14F-4D97-AF65-F5344CB8AC3E}">
        <p14:creationId xmlns:p14="http://schemas.microsoft.com/office/powerpoint/2010/main" val="244116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5</a:t>
            </a:fld>
            <a:endParaRPr lang="es-ES" dirty="0"/>
          </a:p>
        </p:txBody>
      </p:sp>
    </p:spTree>
    <p:extLst>
      <p:ext uri="{BB962C8B-B14F-4D97-AF65-F5344CB8AC3E}">
        <p14:creationId xmlns:p14="http://schemas.microsoft.com/office/powerpoint/2010/main" val="202714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6</a:t>
            </a:fld>
            <a:endParaRPr lang="es-ES" dirty="0"/>
          </a:p>
        </p:txBody>
      </p:sp>
    </p:spTree>
    <p:extLst>
      <p:ext uri="{BB962C8B-B14F-4D97-AF65-F5344CB8AC3E}">
        <p14:creationId xmlns:p14="http://schemas.microsoft.com/office/powerpoint/2010/main" val="3856145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7</a:t>
            </a:fld>
            <a:endParaRPr lang="es-ES" dirty="0"/>
          </a:p>
        </p:txBody>
      </p:sp>
    </p:spTree>
    <p:extLst>
      <p:ext uri="{BB962C8B-B14F-4D97-AF65-F5344CB8AC3E}">
        <p14:creationId xmlns:p14="http://schemas.microsoft.com/office/powerpoint/2010/main" val="1324083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8</a:t>
            </a:fld>
            <a:endParaRPr lang="es-ES" dirty="0"/>
          </a:p>
        </p:txBody>
      </p:sp>
    </p:spTree>
    <p:extLst>
      <p:ext uri="{BB962C8B-B14F-4D97-AF65-F5344CB8AC3E}">
        <p14:creationId xmlns:p14="http://schemas.microsoft.com/office/powerpoint/2010/main" val="838247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9</a:t>
            </a:fld>
            <a:endParaRPr lang="es-ES" dirty="0"/>
          </a:p>
        </p:txBody>
      </p:sp>
    </p:spTree>
    <p:extLst>
      <p:ext uri="{BB962C8B-B14F-4D97-AF65-F5344CB8AC3E}">
        <p14:creationId xmlns:p14="http://schemas.microsoft.com/office/powerpoint/2010/main" val="4616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Rectángulo 6"/>
          <p:cNvSpPr/>
          <p:nvPr userDrawn="1"/>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9" name="Rectángulo 8"/>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cxnSp>
        <p:nvCxnSpPr>
          <p:cNvPr id="12" name="Conector recto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521208" y="368802"/>
            <a:ext cx="44348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2400" b="0" dirty="0">
                <a:solidFill>
                  <a:schemeClr val="bg2">
                    <a:lumMod val="25000"/>
                  </a:schemeClr>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5" name="Marcador de contenido 4"/>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rtlCol="0"/>
          <a:lstStyle/>
          <a:p>
            <a:pPr rtl="0"/>
            <a:fld id="{AF6F98EE-852A-4139-9CFD-A1A4BA052067}" type="datetime1">
              <a:rPr lang="es-ES" noProof="0" smtClean="0"/>
              <a:t>06/02/2023</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número de diapositiva 5"/>
          <p:cNvSpPr>
            <a:spLocks noGrp="1"/>
          </p:cNvSpPr>
          <p:nvPr>
            <p:ph type="sldNum" sz="quarter" idx="12"/>
          </p:nvPr>
        </p:nvSpPr>
        <p:spPr/>
        <p:txBody>
          <a:bodyPr rtlCol="0"/>
          <a:lstStyle/>
          <a:p>
            <a:pPr rtl="0"/>
            <a:fld id="{9860EDB8-5305-433F-BE41-D7A86D811DB3}" type="slidenum">
              <a:rPr lang="es-ES" noProof="0" smtClean="0"/>
              <a:t>‹Nº›</a:t>
            </a:fld>
            <a:endParaRPr lang="es-ES" noProof="0" dirty="0"/>
          </a:p>
        </p:txBody>
      </p:sp>
      <p:sp>
        <p:nvSpPr>
          <p:cNvPr id="9" name="Rectángulo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10" name="Rectángulo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3" name="Título 2"/>
          <p:cNvSpPr>
            <a:spLocks noGrp="1"/>
          </p:cNvSpPr>
          <p:nvPr>
            <p:ph type="title"/>
          </p:nvPr>
        </p:nvSpPr>
        <p:spPr>
          <a:xfrm>
            <a:off x="521208" y="1536192"/>
            <a:ext cx="62636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3600" b="0" dirty="0">
                <a:solidFill>
                  <a:schemeClr val="bg1"/>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8" name="Marcador de posición de contenido 7"/>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2F50242A-6024-4A62-8CDA-92D97616828A}" type="datetime1">
              <a:rPr lang="es-ES" noProof="0" smtClean="0"/>
              <a:t>06/02/2023</a:t>
            </a:fld>
            <a:endParaRPr lang="es-ES" noProof="0" dirty="0"/>
          </a:p>
        </p:txBody>
      </p:sp>
      <p:sp>
        <p:nvSpPr>
          <p:cNvPr id="5" name="Marcador de pie de página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número de diapositiva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860EDB8-5305-433F-BE41-D7A86D811DB3}" type="slidenum">
              <a:rPr lang="es-ES" noProof="0" smtClean="0"/>
              <a:t>‹Nº›</a:t>
            </a:fld>
            <a:endParaRPr lang="es-ES"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838200" y="1164324"/>
            <a:ext cx="10515600" cy="2387600"/>
          </a:xfrm>
        </p:spPr>
        <p:txBody>
          <a:bodyPr rtlCol="0">
            <a:normAutofit/>
          </a:bodyPr>
          <a:lstStyle/>
          <a:p>
            <a:pPr rtl="0"/>
            <a:r>
              <a:rPr lang="es-ES" sz="4800" dirty="0">
                <a:solidFill>
                  <a:schemeClr val="bg1"/>
                </a:solidFill>
              </a:rPr>
              <a:t>Laravel 9</a:t>
            </a:r>
          </a:p>
        </p:txBody>
      </p:sp>
      <p:sp>
        <p:nvSpPr>
          <p:cNvPr id="3" name="Subtítulo 2"/>
          <p:cNvSpPr>
            <a:spLocks noGrp="1"/>
          </p:cNvSpPr>
          <p:nvPr>
            <p:ph type="subTitle" idx="4294967295"/>
          </p:nvPr>
        </p:nvSpPr>
        <p:spPr>
          <a:xfrm>
            <a:off x="855620" y="2933105"/>
            <a:ext cx="9582736" cy="1137793"/>
          </a:xfrm>
        </p:spPr>
        <p:txBody>
          <a:bodyPr rtlCol="0">
            <a:normAutofit/>
          </a:bodyPr>
          <a:lstStyle/>
          <a:p>
            <a:pPr marL="0" indent="0" rtl="0">
              <a:buNone/>
            </a:pPr>
            <a:r>
              <a:rPr lang="es-ES" sz="2400" dirty="0">
                <a:solidFill>
                  <a:schemeClr val="bg1"/>
                </a:solidFill>
                <a:latin typeface="+mj-lt"/>
              </a:rPr>
              <a:t>Framework PHP</a:t>
            </a:r>
          </a:p>
        </p:txBody>
      </p:sp>
      <p:sp>
        <p:nvSpPr>
          <p:cNvPr id="5" name="CuadroTexto 4">
            <a:extLst>
              <a:ext uri="{FF2B5EF4-FFF2-40B4-BE49-F238E27FC236}">
                <a16:creationId xmlns:a16="http://schemas.microsoft.com/office/drawing/2014/main" id="{684A30A1-7FD6-4298-A1D0-301DDF69D250}"/>
              </a:ext>
            </a:extLst>
          </p:cNvPr>
          <p:cNvSpPr txBox="1"/>
          <p:nvPr/>
        </p:nvSpPr>
        <p:spPr>
          <a:xfrm>
            <a:off x="838200" y="5503176"/>
            <a:ext cx="3187700" cy="381000"/>
          </a:xfrm>
          <a:prstGeom prst="rect">
            <a:avLst/>
          </a:prstGeom>
          <a:noFill/>
        </p:spPr>
        <p:txBody>
          <a:bodyPr wrap="square" rtlCol="0">
            <a:spAutoFit/>
          </a:bodyPr>
          <a:lstStyle/>
          <a:p>
            <a:pPr algn="l"/>
            <a:r>
              <a:rPr lang="es-ES" dirty="0">
                <a:solidFill>
                  <a:schemeClr val="bg1"/>
                </a:solidFill>
                <a:latin typeface="+mj-lt"/>
              </a:rPr>
              <a:t>Javier Guillén Benavente</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CF6AC-EE60-4591-A0D8-8219FA214860}"/>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BD7C5854-93BC-4152-8FC3-93FDA76119B5}"/>
              </a:ext>
            </a:extLst>
          </p:cNvPr>
          <p:cNvSpPr>
            <a:spLocks noGrp="1"/>
          </p:cNvSpPr>
          <p:nvPr>
            <p:ph sz="quarter" idx="10"/>
          </p:nvPr>
        </p:nvSpPr>
        <p:spPr>
          <a:xfrm>
            <a:off x="539496" y="1435608"/>
            <a:ext cx="5023104" cy="5111242"/>
          </a:xfrm>
        </p:spPr>
        <p:txBody>
          <a:bodyPr>
            <a:normAutofit/>
          </a:bodyPr>
          <a:lstStyle/>
          <a:p>
            <a:pPr>
              <a:buFont typeface="+mj-lt"/>
              <a:buAutoNum type="arabicPeriod"/>
            </a:pPr>
            <a:r>
              <a:rPr lang="es-ES" sz="1700" dirty="0"/>
              <a:t>INTRODUCCIÓN</a:t>
            </a:r>
          </a:p>
          <a:p>
            <a:pPr>
              <a:buFont typeface="+mj-lt"/>
              <a:buAutoNum type="arabicPeriod"/>
            </a:pPr>
            <a:r>
              <a:rPr lang="es-ES" sz="1700" dirty="0"/>
              <a:t>CONCEPTOS DE ARQUITECTURA</a:t>
            </a:r>
          </a:p>
          <a:p>
            <a:pPr>
              <a:buFont typeface="+mj-lt"/>
              <a:buAutoNum type="arabicPeriod"/>
            </a:pPr>
            <a:r>
              <a:rPr lang="es-ES" sz="1700" dirty="0">
                <a:solidFill>
                  <a:schemeClr val="tx1"/>
                </a:solidFill>
              </a:rPr>
              <a:t>PRIMEROS PASOS</a:t>
            </a:r>
          </a:p>
          <a:p>
            <a:pPr>
              <a:buFont typeface="+mj-lt"/>
              <a:buAutoNum type="arabicPeriod"/>
            </a:pPr>
            <a:r>
              <a:rPr lang="es-ES" sz="1700" dirty="0">
                <a:solidFill>
                  <a:schemeClr val="tx1"/>
                </a:solidFill>
              </a:rPr>
              <a:t>ENRUTAMIENTO</a:t>
            </a:r>
          </a:p>
          <a:p>
            <a:pPr>
              <a:buFont typeface="+mj-lt"/>
              <a:buAutoNum type="arabicPeriod"/>
            </a:pPr>
            <a:r>
              <a:rPr lang="es-ES" sz="1700" dirty="0">
                <a:solidFill>
                  <a:schemeClr val="tx1"/>
                </a:solidFill>
              </a:rPr>
              <a:t>MIDDLEWARE</a:t>
            </a:r>
          </a:p>
          <a:p>
            <a:pPr>
              <a:buFont typeface="+mj-lt"/>
              <a:buAutoNum type="arabicPeriod"/>
            </a:pPr>
            <a:r>
              <a:rPr lang="es-ES" sz="1700" dirty="0">
                <a:solidFill>
                  <a:schemeClr val="tx1"/>
                </a:solidFill>
              </a:rPr>
              <a:t>CONTROLADORES</a:t>
            </a:r>
          </a:p>
          <a:p>
            <a:pPr>
              <a:buFont typeface="+mj-lt"/>
              <a:buAutoNum type="arabicPeriod"/>
            </a:pPr>
            <a:r>
              <a:rPr lang="es-ES" sz="1700" dirty="0">
                <a:solidFill>
                  <a:schemeClr val="accent2"/>
                </a:solidFill>
              </a:rPr>
              <a:t>REQUESTS</a:t>
            </a:r>
          </a:p>
          <a:p>
            <a:pPr>
              <a:buFont typeface="+mj-lt"/>
              <a:buAutoNum type="arabicPeriod"/>
            </a:pPr>
            <a:r>
              <a:rPr lang="es-ES" sz="1700" dirty="0"/>
              <a:t>RESPONSES</a:t>
            </a:r>
          </a:p>
          <a:p>
            <a:pPr>
              <a:buFont typeface="+mj-lt"/>
              <a:buAutoNum type="arabicPeriod"/>
            </a:pPr>
            <a:r>
              <a:rPr lang="es-ES" sz="1700" dirty="0"/>
              <a:t>VISTAS</a:t>
            </a:r>
          </a:p>
          <a:p>
            <a:pPr>
              <a:buFont typeface="+mj-lt"/>
              <a:buAutoNum type="arabicPeriod"/>
            </a:pPr>
            <a:r>
              <a:rPr lang="es-ES" sz="1700" dirty="0"/>
              <a:t>PLANTILLAS BLADE</a:t>
            </a:r>
          </a:p>
          <a:p>
            <a:pPr>
              <a:buFont typeface="+mj-lt"/>
              <a:buAutoNum type="arabicPeriod"/>
            </a:pPr>
            <a:r>
              <a:rPr lang="es-ES" sz="1700" dirty="0"/>
              <a:t>SESIÓN Y VALIDACIÓN</a:t>
            </a:r>
          </a:p>
          <a:p>
            <a:pPr>
              <a:buFont typeface="+mj-lt"/>
              <a:buAutoNum type="arabicPeriod"/>
            </a:pPr>
            <a:r>
              <a:rPr lang="es-ES" sz="1700" dirty="0"/>
              <a:t>SEGURIDAD</a:t>
            </a:r>
          </a:p>
          <a:p>
            <a:pPr>
              <a:buFont typeface="+mj-lt"/>
              <a:buAutoNum type="arabicPeriod"/>
            </a:pPr>
            <a:r>
              <a:rPr lang="es-ES" sz="1700" dirty="0"/>
              <a:t>BASE DE DATOS</a:t>
            </a:r>
          </a:p>
          <a:p>
            <a:pPr>
              <a:buFont typeface="+mj-lt"/>
              <a:buAutoNum type="arabicPeriod"/>
            </a:pPr>
            <a:r>
              <a:rPr lang="es-ES" sz="1700" dirty="0"/>
              <a:t>ELOQUENT (ORM)</a:t>
            </a:r>
          </a:p>
          <a:p>
            <a:pPr>
              <a:buFont typeface="+mj-lt"/>
              <a:buAutoNum type="arabicPeriod"/>
            </a:pPr>
            <a:endParaRPr lang="es-ES" dirty="0"/>
          </a:p>
          <a:p>
            <a:pPr marL="0" indent="0">
              <a:buNone/>
            </a:pPr>
            <a:endParaRPr lang="es-ES" dirty="0"/>
          </a:p>
          <a:p>
            <a:pPr>
              <a:buFont typeface="+mj-lt"/>
              <a:buAutoNum type="arabicPeriod"/>
            </a:pPr>
            <a:endParaRPr lang="es-ES" dirty="0"/>
          </a:p>
        </p:txBody>
      </p:sp>
    </p:spTree>
    <p:extLst>
      <p:ext uri="{BB962C8B-B14F-4D97-AF65-F5344CB8AC3E}">
        <p14:creationId xmlns:p14="http://schemas.microsoft.com/office/powerpoint/2010/main" val="190087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1208" y="1536192"/>
            <a:ext cx="910742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dirty="0" smtClean="0"/>
              <a:t>REQUESTS</a:t>
            </a:r>
            <a:endParaRPr lang="es-ES" dirty="0"/>
          </a:p>
        </p:txBody>
      </p:sp>
      <p:sp>
        <p:nvSpPr>
          <p:cNvPr id="5" name="Marcador de contenido 4"/>
          <p:cNvSpPr>
            <a:spLocks noGrp="1"/>
          </p:cNvSpPr>
          <p:nvPr>
            <p:ph sz="half" idx="4294967295"/>
          </p:nvPr>
        </p:nvSpPr>
        <p:spPr>
          <a:xfrm>
            <a:off x="541611" y="2779776"/>
            <a:ext cx="9793224" cy="3954656"/>
          </a:xfrm>
        </p:spPr>
        <p:txBody>
          <a:bodyPr vert="horz" lIns="91440" tIns="45720" rIns="91440" bIns="45720" rtlCol="0">
            <a:normAutofit/>
          </a:bodyPr>
          <a:lstStyle/>
          <a:p>
            <a:pPr>
              <a:lnSpc>
                <a:spcPct val="150000"/>
              </a:lnSpc>
              <a:spcBef>
                <a:spcPts val="0"/>
              </a:spcBef>
            </a:pPr>
            <a:r>
              <a:rPr lang="es-ES" sz="2000" dirty="0" smtClean="0">
                <a:solidFill>
                  <a:schemeClr val="tx1">
                    <a:lumMod val="75000"/>
                    <a:lumOff val="25000"/>
                  </a:schemeClr>
                </a:solidFill>
                <a:latin typeface="+mj-lt"/>
              </a:rPr>
              <a:t>Interactuando con la solicitud</a:t>
            </a:r>
          </a:p>
          <a:p>
            <a:pPr>
              <a:lnSpc>
                <a:spcPct val="150000"/>
              </a:lnSpc>
              <a:spcBef>
                <a:spcPts val="0"/>
              </a:spcBef>
            </a:pPr>
            <a:r>
              <a:rPr lang="es-ES" sz="2000" dirty="0" smtClean="0">
                <a:solidFill>
                  <a:schemeClr val="tx1">
                    <a:lumMod val="75000"/>
                    <a:lumOff val="25000"/>
                  </a:schemeClr>
                </a:solidFill>
                <a:latin typeface="+mj-lt"/>
              </a:rPr>
              <a:t>Input</a:t>
            </a:r>
          </a:p>
          <a:p>
            <a:pPr>
              <a:lnSpc>
                <a:spcPct val="150000"/>
              </a:lnSpc>
              <a:spcBef>
                <a:spcPts val="0"/>
              </a:spcBef>
            </a:pPr>
            <a:r>
              <a:rPr lang="es-ES" sz="2000" dirty="0" smtClean="0">
                <a:solidFill>
                  <a:schemeClr val="tx1">
                    <a:lumMod val="75000"/>
                    <a:lumOff val="25000"/>
                  </a:schemeClr>
                </a:solidFill>
                <a:latin typeface="+mj-lt"/>
              </a:rPr>
              <a:t>File</a:t>
            </a:r>
            <a:endParaRPr lang="es-ES" sz="1600" dirty="0" smtClean="0">
              <a:solidFill>
                <a:schemeClr val="tx1">
                  <a:lumMod val="75000"/>
                  <a:lumOff val="25000"/>
                </a:schemeClr>
              </a:solidFill>
              <a:latin typeface="+mj-lt"/>
            </a:endParaRPr>
          </a:p>
          <a:p>
            <a:pPr marL="0" indent="0">
              <a:lnSpc>
                <a:spcPct val="150000"/>
              </a:lnSpc>
              <a:spcBef>
                <a:spcPts val="0"/>
              </a:spcBef>
              <a:buNone/>
            </a:pPr>
            <a:endParaRPr lang="es-ES" sz="2000" dirty="0" smtClean="0">
              <a:solidFill>
                <a:schemeClr val="tx1">
                  <a:lumMod val="75000"/>
                  <a:lumOff val="25000"/>
                </a:schemeClr>
              </a:solidFill>
              <a:latin typeface="+mj-lt"/>
            </a:endParaRPr>
          </a:p>
        </p:txBody>
      </p:sp>
    </p:spTree>
    <p:extLst>
      <p:ext uri="{BB962C8B-B14F-4D97-AF65-F5344CB8AC3E}">
        <p14:creationId xmlns:p14="http://schemas.microsoft.com/office/powerpoint/2010/main" val="1876690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Interactuando con la solicitud</a:t>
            </a:r>
            <a:endParaRPr lang="es-ES" sz="2600" dirty="0"/>
          </a:p>
        </p:txBody>
      </p:sp>
      <p:sp>
        <p:nvSpPr>
          <p:cNvPr id="6" name="Marcador de contenido 4"/>
          <p:cNvSpPr>
            <a:spLocks noGrp="1"/>
          </p:cNvSpPr>
          <p:nvPr>
            <p:ph sz="half" idx="4294967295"/>
          </p:nvPr>
        </p:nvSpPr>
        <p:spPr>
          <a:xfrm>
            <a:off x="541611" y="1298448"/>
            <a:ext cx="6390530"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La </a:t>
            </a:r>
            <a:r>
              <a:rPr lang="es-ES" sz="1800" dirty="0">
                <a:solidFill>
                  <a:prstClr val="black">
                    <a:lumMod val="75000"/>
                    <a:lumOff val="25000"/>
                  </a:prstClr>
                </a:solidFill>
              </a:rPr>
              <a:t>clase de </a:t>
            </a:r>
            <a:r>
              <a:rPr lang="es-ES" sz="1800" dirty="0" err="1">
                <a:solidFill>
                  <a:prstClr val="black">
                    <a:lumMod val="75000"/>
                    <a:lumOff val="25000"/>
                  </a:prstClr>
                </a:solidFill>
              </a:rPr>
              <a:t>Laravel</a:t>
            </a:r>
            <a:r>
              <a:rPr lang="es-ES" sz="1800" dirty="0">
                <a:solidFill>
                  <a:prstClr val="black">
                    <a:lumMod val="75000"/>
                    <a:lumOff val="25000"/>
                  </a:prstClr>
                </a:solidFill>
              </a:rPr>
              <a:t> </a:t>
            </a:r>
            <a:r>
              <a:rPr lang="es-ES" sz="1800" b="1" dirty="0" err="1" smtClean="0">
                <a:solidFill>
                  <a:prstClr val="black">
                    <a:lumMod val="75000"/>
                    <a:lumOff val="25000"/>
                  </a:prstClr>
                </a:solidFill>
              </a:rPr>
              <a:t>Illuminate</a:t>
            </a:r>
            <a:r>
              <a:rPr lang="es-ES" sz="1800" b="1" dirty="0" smtClean="0">
                <a:solidFill>
                  <a:prstClr val="black">
                    <a:lumMod val="75000"/>
                    <a:lumOff val="25000"/>
                  </a:prstClr>
                </a:solidFill>
              </a:rPr>
              <a:t>\Http\</a:t>
            </a:r>
            <a:r>
              <a:rPr lang="es-ES" sz="1800" b="1" dirty="0" err="1" smtClean="0">
                <a:solidFill>
                  <a:prstClr val="black">
                    <a:lumMod val="75000"/>
                    <a:lumOff val="25000"/>
                  </a:prstClr>
                </a:solidFill>
              </a:rPr>
              <a:t>Request</a:t>
            </a:r>
            <a:r>
              <a:rPr lang="es-ES" sz="1800" dirty="0" smtClean="0">
                <a:solidFill>
                  <a:prstClr val="black">
                    <a:lumMod val="75000"/>
                    <a:lumOff val="25000"/>
                  </a:prstClr>
                </a:solidFill>
              </a:rPr>
              <a:t> proporciona </a:t>
            </a:r>
            <a:r>
              <a:rPr lang="es-ES" sz="1800" dirty="0">
                <a:solidFill>
                  <a:prstClr val="black">
                    <a:lumMod val="75000"/>
                    <a:lumOff val="25000"/>
                  </a:prstClr>
                </a:solidFill>
              </a:rPr>
              <a:t>una forma orientada a objetos de interactuar con la solicitud HTTP actual que maneja su aplicación, así como recuperar la entrada, las cookies y los archivos que se enviaron con la solicitud</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a:solidFill>
                  <a:prstClr val="black">
                    <a:lumMod val="75000"/>
                    <a:lumOff val="25000"/>
                  </a:prstClr>
                </a:solidFill>
              </a:rPr>
              <a:t>Para obtener una instancia de la solicitud HTTP actual a través de la inserción de dependencias, debe indicar </a:t>
            </a:r>
            <a:r>
              <a:rPr lang="es-ES" sz="1800" dirty="0" smtClean="0">
                <a:solidFill>
                  <a:prstClr val="black">
                    <a:lumMod val="75000"/>
                    <a:lumOff val="25000"/>
                  </a:prstClr>
                </a:solidFill>
              </a:rPr>
              <a:t>la clase </a:t>
            </a:r>
            <a:r>
              <a:rPr lang="es-ES" sz="1800" dirty="0" err="1" smtClean="0">
                <a:solidFill>
                  <a:prstClr val="black">
                    <a:lumMod val="75000"/>
                    <a:lumOff val="25000"/>
                  </a:prstClr>
                </a:solidFill>
              </a:rPr>
              <a:t>Illuminate</a:t>
            </a:r>
            <a:r>
              <a:rPr lang="es-ES" sz="1800" dirty="0" smtClean="0">
                <a:solidFill>
                  <a:prstClr val="black">
                    <a:lumMod val="75000"/>
                    <a:lumOff val="25000"/>
                  </a:prstClr>
                </a:solidFill>
              </a:rPr>
              <a:t>\Http\</a:t>
            </a:r>
            <a:r>
              <a:rPr lang="es-ES" sz="1800" dirty="0" err="1" smtClean="0">
                <a:solidFill>
                  <a:prstClr val="black">
                    <a:lumMod val="75000"/>
                    <a:lumOff val="25000"/>
                  </a:prstClr>
                </a:solidFill>
              </a:rPr>
              <a:t>Request</a:t>
            </a:r>
            <a:r>
              <a:rPr lang="es-ES" sz="1800" dirty="0" smtClean="0">
                <a:solidFill>
                  <a:prstClr val="black">
                    <a:lumMod val="75000"/>
                    <a:lumOff val="25000"/>
                  </a:prstClr>
                </a:solidFill>
              </a:rPr>
              <a:t> en </a:t>
            </a:r>
            <a:r>
              <a:rPr lang="es-ES" sz="1800" dirty="0">
                <a:solidFill>
                  <a:prstClr val="black">
                    <a:lumMod val="75000"/>
                    <a:lumOff val="25000"/>
                  </a:prstClr>
                </a:solidFill>
              </a:rPr>
              <a:t>su cierre de ruta o método de controlador</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smtClean="0">
                <a:solidFill>
                  <a:prstClr val="black">
                    <a:lumMod val="75000"/>
                    <a:lumOff val="25000"/>
                  </a:prstClr>
                </a:solidFill>
              </a:rPr>
              <a:t>Así, añadiremos un “</a:t>
            </a:r>
            <a:r>
              <a:rPr lang="es-ES" sz="1800" i="1" dirty="0" smtClean="0">
                <a:solidFill>
                  <a:prstClr val="black">
                    <a:lumMod val="75000"/>
                    <a:lumOff val="25000"/>
                  </a:prstClr>
                </a:solidFill>
              </a:rPr>
              <a:t>use</a:t>
            </a:r>
            <a:r>
              <a:rPr lang="es-ES" sz="1800" dirty="0" smtClean="0">
                <a:solidFill>
                  <a:prstClr val="black">
                    <a:lumMod val="75000"/>
                    <a:lumOff val="25000"/>
                  </a:prstClr>
                </a:solidFill>
              </a:rPr>
              <a:t>” de esa clase, y ya podremos acceder a la solicitud a través de </a:t>
            </a:r>
            <a:r>
              <a:rPr lang="es-ES" sz="1800" b="1" dirty="0" smtClean="0">
                <a:solidFill>
                  <a:prstClr val="black">
                    <a:lumMod val="75000"/>
                    <a:lumOff val="25000"/>
                  </a:prstClr>
                </a:solidFill>
              </a:rPr>
              <a:t>$</a:t>
            </a:r>
            <a:r>
              <a:rPr lang="es-ES" sz="1800" b="1" dirty="0" err="1" smtClean="0">
                <a:solidFill>
                  <a:prstClr val="black">
                    <a:lumMod val="75000"/>
                    <a:lumOff val="25000"/>
                  </a:prstClr>
                </a:solidFill>
              </a:rPr>
              <a:t>request</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5" name="Imagen 4"/>
          <p:cNvPicPr>
            <a:picLocks noChangeAspect="1"/>
          </p:cNvPicPr>
          <p:nvPr/>
        </p:nvPicPr>
        <p:blipFill>
          <a:blip r:embed="rId3"/>
          <a:stretch>
            <a:fillRect/>
          </a:stretch>
        </p:blipFill>
        <p:spPr>
          <a:xfrm>
            <a:off x="7327375" y="1475070"/>
            <a:ext cx="4318868" cy="4612170"/>
          </a:xfrm>
          <a:prstGeom prst="rect">
            <a:avLst/>
          </a:prstGeom>
        </p:spPr>
      </p:pic>
    </p:spTree>
    <p:extLst>
      <p:ext uri="{BB962C8B-B14F-4D97-AF65-F5344CB8AC3E}">
        <p14:creationId xmlns:p14="http://schemas.microsoft.com/office/powerpoint/2010/main" val="3171353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Interactuando con la solicitud</a:t>
            </a:r>
            <a:endParaRPr lang="es-ES" sz="2600" dirty="0"/>
          </a:p>
        </p:txBody>
      </p:sp>
      <p:sp>
        <p:nvSpPr>
          <p:cNvPr id="6" name="Marcador de contenido 4"/>
          <p:cNvSpPr>
            <a:spLocks noGrp="1"/>
          </p:cNvSpPr>
          <p:nvPr>
            <p:ph sz="half" idx="4294967295"/>
          </p:nvPr>
        </p:nvSpPr>
        <p:spPr>
          <a:xfrm>
            <a:off x="541611" y="1298448"/>
            <a:ext cx="4129243" cy="5683120"/>
          </a:xfrm>
        </p:spPr>
        <p:txBody>
          <a:bodyPr vert="horz" lIns="91440" tIns="45720" rIns="91440" bIns="45720" rtlCol="0">
            <a:normAutofit fontScale="92500" lnSpcReduction="10000"/>
          </a:bodyPr>
          <a:lstStyle/>
          <a:p>
            <a:pPr marL="0" indent="0">
              <a:lnSpc>
                <a:spcPct val="150000"/>
              </a:lnSpc>
              <a:spcBef>
                <a:spcPts val="600"/>
              </a:spcBef>
              <a:spcAft>
                <a:spcPts val="600"/>
              </a:spcAft>
              <a:buNone/>
            </a:pPr>
            <a:r>
              <a:rPr lang="es-ES" sz="1800" dirty="0" smtClean="0">
                <a:solidFill>
                  <a:prstClr val="black">
                    <a:lumMod val="75000"/>
                    <a:lumOff val="25000"/>
                  </a:prstClr>
                </a:solidFill>
              </a:rPr>
              <a:t>En las rutas podemos añadir </a:t>
            </a:r>
            <a:r>
              <a:rPr lang="es-ES" sz="1800" b="1" dirty="0" smtClean="0">
                <a:solidFill>
                  <a:prstClr val="black">
                    <a:lumMod val="75000"/>
                    <a:lumOff val="25000"/>
                  </a:prstClr>
                </a:solidFill>
              </a:rPr>
              <a:t>parámetros</a:t>
            </a:r>
            <a:r>
              <a:rPr lang="es-ES" sz="1800" dirty="0" smtClean="0">
                <a:solidFill>
                  <a:prstClr val="black">
                    <a:lumMod val="75000"/>
                    <a:lumOff val="25000"/>
                  </a:prstClr>
                </a:solidFill>
              </a:rPr>
              <a:t> (como id), y podremos acceder a dichos parámetros definiéndolos en los métodos correspondientes del controlador.</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4962751" y="2395636"/>
            <a:ext cx="4710513" cy="4046308"/>
          </a:xfrm>
          <a:prstGeom prst="rect">
            <a:avLst/>
          </a:prstGeom>
        </p:spPr>
      </p:pic>
      <p:cxnSp>
        <p:nvCxnSpPr>
          <p:cNvPr id="8" name="Conector recto 7"/>
          <p:cNvCxnSpPr/>
          <p:nvPr/>
        </p:nvCxnSpPr>
        <p:spPr>
          <a:xfrm flipV="1">
            <a:off x="9026611" y="5257800"/>
            <a:ext cx="360000" cy="0"/>
          </a:xfrm>
          <a:prstGeom prst="line">
            <a:avLst/>
          </a:prstGeom>
        </p:spPr>
        <p:style>
          <a:lnRef idx="1">
            <a:schemeClr val="accent2"/>
          </a:lnRef>
          <a:fillRef idx="0">
            <a:schemeClr val="accent2"/>
          </a:fillRef>
          <a:effectRef idx="0">
            <a:schemeClr val="accent2"/>
          </a:effectRef>
          <a:fontRef idx="minor">
            <a:schemeClr val="tx1"/>
          </a:fontRef>
        </p:style>
      </p:cxnSp>
      <p:pic>
        <p:nvPicPr>
          <p:cNvPr id="10" name="Imagen 9"/>
          <p:cNvPicPr>
            <a:picLocks noChangeAspect="1"/>
          </p:cNvPicPr>
          <p:nvPr/>
        </p:nvPicPr>
        <p:blipFill>
          <a:blip r:embed="rId4"/>
          <a:stretch>
            <a:fillRect/>
          </a:stretch>
        </p:blipFill>
        <p:spPr>
          <a:xfrm>
            <a:off x="4962751" y="1465628"/>
            <a:ext cx="4710513" cy="412771"/>
          </a:xfrm>
          <a:prstGeom prst="rect">
            <a:avLst/>
          </a:prstGeom>
        </p:spPr>
      </p:pic>
      <p:cxnSp>
        <p:nvCxnSpPr>
          <p:cNvPr id="11" name="Conector recto 10"/>
          <p:cNvCxnSpPr/>
          <p:nvPr/>
        </p:nvCxnSpPr>
        <p:spPr>
          <a:xfrm flipV="1">
            <a:off x="6374027" y="1795849"/>
            <a:ext cx="36000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7183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Interactuando con la solicitud</a:t>
            </a:r>
            <a:endParaRPr lang="es-ES" sz="2600" dirty="0"/>
          </a:p>
        </p:txBody>
      </p:sp>
      <p:sp>
        <p:nvSpPr>
          <p:cNvPr id="6" name="Marcador de contenido 4"/>
          <p:cNvSpPr>
            <a:spLocks noGrp="1"/>
          </p:cNvSpPr>
          <p:nvPr>
            <p:ph sz="half" idx="4294967295"/>
          </p:nvPr>
        </p:nvSpPr>
        <p:spPr>
          <a:xfrm>
            <a:off x="541611" y="1298448"/>
            <a:ext cx="11586546"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La instancia de </a:t>
            </a:r>
            <a:r>
              <a:rPr lang="es-ES" sz="1800" dirty="0" err="1" smtClean="0">
                <a:solidFill>
                  <a:prstClr val="black">
                    <a:lumMod val="75000"/>
                    <a:lumOff val="25000"/>
                  </a:prstClr>
                </a:solidFill>
              </a:rPr>
              <a:t>Request</a:t>
            </a:r>
            <a:r>
              <a:rPr lang="es-ES" sz="1800" dirty="0" smtClean="0">
                <a:solidFill>
                  <a:prstClr val="black">
                    <a:lumMod val="75000"/>
                    <a:lumOff val="25000"/>
                  </a:prstClr>
                </a:solidFill>
              </a:rPr>
              <a:t> nos proporciona una variedad de métodos para examinar la solicitud HTTP entrante.</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la ruta:</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la </a:t>
            </a:r>
            <a:r>
              <a:rPr lang="es-ES" sz="1800" dirty="0" err="1" smtClean="0">
                <a:solidFill>
                  <a:prstClr val="black">
                    <a:lumMod val="75000"/>
                    <a:lumOff val="25000"/>
                  </a:prstClr>
                </a:solidFill>
              </a:rPr>
              <a:t>url</a:t>
            </a:r>
            <a:r>
              <a:rPr lang="es-ES" sz="1800" dirty="0" smtClean="0">
                <a:solidFill>
                  <a:prstClr val="black">
                    <a:lumMod val="75000"/>
                    <a:lumOff val="25000"/>
                  </a:prstClr>
                </a:solidFill>
              </a:rPr>
              <a:t> completa:</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del método de la solicitud: </a:t>
            </a:r>
          </a:p>
          <a:p>
            <a:pPr marL="0" indent="0">
              <a:lnSpc>
                <a:spcPct val="150000"/>
              </a:lnSpc>
              <a:spcBef>
                <a:spcPts val="600"/>
              </a:spcBef>
              <a:spcAft>
                <a:spcPts val="600"/>
              </a:spcAft>
              <a:buNone/>
            </a:pPr>
            <a:r>
              <a:rPr lang="es-ES" sz="1800" dirty="0" smtClean="0">
                <a:solidFill>
                  <a:prstClr val="black">
                    <a:lumMod val="75000"/>
                    <a:lumOff val="25000"/>
                  </a:prstClr>
                </a:solidFill>
              </a:rPr>
              <a:t>Encabezados (</a:t>
            </a:r>
            <a:r>
              <a:rPr lang="es-ES" sz="1800" dirty="0" err="1" smtClean="0">
                <a:solidFill>
                  <a:prstClr val="black">
                    <a:lumMod val="75000"/>
                    <a:lumOff val="25000"/>
                  </a:prstClr>
                </a:solidFill>
              </a:rPr>
              <a:t>headers</a:t>
            </a:r>
            <a:r>
              <a:rPr lang="es-ES" sz="1800" dirty="0" smtClean="0">
                <a:solidFill>
                  <a:prstClr val="black">
                    <a:lumMod val="75000"/>
                    <a:lumOff val="25000"/>
                  </a:prstClr>
                </a:solidFill>
              </a:rPr>
              <a:t>) de la solicitud: </a:t>
            </a: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Inspección de los tipos de contenido solicitado: </a:t>
            </a:r>
          </a:p>
          <a:p>
            <a:pPr marL="0" indent="0">
              <a:lnSpc>
                <a:spcPct val="150000"/>
              </a:lnSpc>
              <a:spcBef>
                <a:spcPts val="600"/>
              </a:spcBef>
              <a:spcAft>
                <a:spcPts val="600"/>
              </a:spcAft>
              <a:buNone/>
            </a:pPr>
            <a:r>
              <a:rPr lang="es-ES" sz="1800" dirty="0" smtClean="0">
                <a:solidFill>
                  <a:prstClr val="black">
                    <a:lumMod val="75000"/>
                    <a:lumOff val="25000"/>
                  </a:prstClr>
                </a:solidFill>
              </a:rPr>
              <a:t>El método </a:t>
            </a:r>
            <a:r>
              <a:rPr lang="es-ES" sz="1800" dirty="0" err="1" smtClean="0">
                <a:solidFill>
                  <a:prstClr val="black">
                    <a:lumMod val="75000"/>
                    <a:lumOff val="25000"/>
                  </a:prstClr>
                </a:solidFill>
              </a:rPr>
              <a:t>accepts</a:t>
            </a:r>
            <a:r>
              <a:rPr lang="es-ES" sz="1800" dirty="0" smtClean="0">
                <a:solidFill>
                  <a:prstClr val="black">
                    <a:lumMod val="75000"/>
                    <a:lumOff val="25000"/>
                  </a:prstClr>
                </a:solidFill>
              </a:rPr>
              <a:t> acepta una matriz de tipos de contenido y devuelve true si la solicitud acepta alguno de los tipos de contenido.</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4" name="Imagen 3"/>
          <p:cNvPicPr>
            <a:picLocks noChangeAspect="1"/>
          </p:cNvPicPr>
          <p:nvPr/>
        </p:nvPicPr>
        <p:blipFill>
          <a:blip r:embed="rId3"/>
          <a:stretch>
            <a:fillRect/>
          </a:stretch>
        </p:blipFill>
        <p:spPr>
          <a:xfrm>
            <a:off x="3188425" y="1981620"/>
            <a:ext cx="1873346" cy="349268"/>
          </a:xfrm>
          <a:prstGeom prst="rect">
            <a:avLst/>
          </a:prstGeom>
        </p:spPr>
      </p:pic>
      <p:pic>
        <p:nvPicPr>
          <p:cNvPr id="5" name="Imagen 4"/>
          <p:cNvPicPr>
            <a:picLocks noChangeAspect="1"/>
          </p:cNvPicPr>
          <p:nvPr/>
        </p:nvPicPr>
        <p:blipFill>
          <a:blip r:embed="rId4"/>
          <a:stretch>
            <a:fillRect/>
          </a:stretch>
        </p:blipFill>
        <p:spPr>
          <a:xfrm>
            <a:off x="4050394" y="2541202"/>
            <a:ext cx="1866996" cy="311166"/>
          </a:xfrm>
          <a:prstGeom prst="rect">
            <a:avLst/>
          </a:prstGeom>
        </p:spPr>
      </p:pic>
      <p:pic>
        <p:nvPicPr>
          <p:cNvPr id="7" name="Imagen 6"/>
          <p:cNvPicPr>
            <a:picLocks noChangeAspect="1"/>
          </p:cNvPicPr>
          <p:nvPr/>
        </p:nvPicPr>
        <p:blipFill>
          <a:blip r:embed="rId5"/>
          <a:stretch>
            <a:fillRect/>
          </a:stretch>
        </p:blipFill>
        <p:spPr>
          <a:xfrm>
            <a:off x="6212908" y="2550727"/>
            <a:ext cx="3213265" cy="292115"/>
          </a:xfrm>
          <a:prstGeom prst="rect">
            <a:avLst/>
          </a:prstGeom>
        </p:spPr>
      </p:pic>
      <p:pic>
        <p:nvPicPr>
          <p:cNvPr id="12" name="Imagen 11"/>
          <p:cNvPicPr>
            <a:picLocks noChangeAspect="1"/>
          </p:cNvPicPr>
          <p:nvPr/>
        </p:nvPicPr>
        <p:blipFill>
          <a:blip r:embed="rId6"/>
          <a:stretch>
            <a:fillRect/>
          </a:stretch>
        </p:blipFill>
        <p:spPr>
          <a:xfrm>
            <a:off x="4892017" y="3089606"/>
            <a:ext cx="2222614" cy="323867"/>
          </a:xfrm>
          <a:prstGeom prst="rect">
            <a:avLst/>
          </a:prstGeom>
        </p:spPr>
      </p:pic>
      <p:pic>
        <p:nvPicPr>
          <p:cNvPr id="13" name="Imagen 12"/>
          <p:cNvPicPr>
            <a:picLocks noChangeAspect="1"/>
          </p:cNvPicPr>
          <p:nvPr/>
        </p:nvPicPr>
        <p:blipFill>
          <a:blip r:embed="rId7"/>
          <a:stretch>
            <a:fillRect/>
          </a:stretch>
        </p:blipFill>
        <p:spPr>
          <a:xfrm>
            <a:off x="4696500" y="3695814"/>
            <a:ext cx="3276768" cy="279414"/>
          </a:xfrm>
          <a:prstGeom prst="rect">
            <a:avLst/>
          </a:prstGeom>
        </p:spPr>
      </p:pic>
      <p:pic>
        <p:nvPicPr>
          <p:cNvPr id="14" name="Imagen 13"/>
          <p:cNvPicPr>
            <a:picLocks noChangeAspect="1"/>
          </p:cNvPicPr>
          <p:nvPr/>
        </p:nvPicPr>
        <p:blipFill>
          <a:blip r:embed="rId8"/>
          <a:stretch>
            <a:fillRect/>
          </a:stretch>
        </p:blipFill>
        <p:spPr>
          <a:xfrm>
            <a:off x="5589095" y="4256919"/>
            <a:ext cx="4127712" cy="330217"/>
          </a:xfrm>
          <a:prstGeom prst="rect">
            <a:avLst/>
          </a:prstGeom>
        </p:spPr>
      </p:pic>
      <p:pic>
        <p:nvPicPr>
          <p:cNvPr id="15" name="Imagen 14"/>
          <p:cNvPicPr>
            <a:picLocks noChangeAspect="1"/>
          </p:cNvPicPr>
          <p:nvPr/>
        </p:nvPicPr>
        <p:blipFill>
          <a:blip r:embed="rId9"/>
          <a:stretch>
            <a:fillRect/>
          </a:stretch>
        </p:blipFill>
        <p:spPr>
          <a:xfrm>
            <a:off x="3080490" y="5366071"/>
            <a:ext cx="5296052" cy="870484"/>
          </a:xfrm>
          <a:prstGeom prst="rect">
            <a:avLst/>
          </a:prstGeom>
        </p:spPr>
      </p:pic>
    </p:spTree>
    <p:extLst>
      <p:ext uri="{BB962C8B-B14F-4D97-AF65-F5344CB8AC3E}">
        <p14:creationId xmlns:p14="http://schemas.microsoft.com/office/powerpoint/2010/main" val="38036404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Input</a:t>
            </a:r>
            <a:endParaRPr lang="es-ES" sz="2600" dirty="0"/>
          </a:p>
        </p:txBody>
      </p:sp>
      <p:sp>
        <p:nvSpPr>
          <p:cNvPr id="6" name="Marcador de contenido 4"/>
          <p:cNvSpPr>
            <a:spLocks noGrp="1"/>
          </p:cNvSpPr>
          <p:nvPr>
            <p:ph sz="half" idx="4294967295"/>
          </p:nvPr>
        </p:nvSpPr>
        <p:spPr>
          <a:xfrm>
            <a:off x="541611" y="1298448"/>
            <a:ext cx="11586546"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Recuperación de todos los datos de la entrada:  </a:t>
            </a:r>
          </a:p>
          <a:p>
            <a:pPr marL="0" indent="0">
              <a:lnSpc>
                <a:spcPct val="150000"/>
              </a:lnSpc>
              <a:spcBef>
                <a:spcPts val="600"/>
              </a:spcBef>
              <a:spcAft>
                <a:spcPts val="600"/>
              </a:spcAft>
              <a:buNone/>
            </a:pPr>
            <a:r>
              <a:rPr lang="es-ES" sz="1800" dirty="0" smtClean="0">
                <a:solidFill>
                  <a:prstClr val="black">
                    <a:lumMod val="75000"/>
                    <a:lumOff val="25000"/>
                  </a:prstClr>
                </a:solidFill>
              </a:rPr>
              <a:t>Si queremos recuperar todos los datos como una colección (</a:t>
            </a:r>
            <a:r>
              <a:rPr lang="es-ES" sz="1800" dirty="0" err="1" smtClean="0">
                <a:solidFill>
                  <a:prstClr val="black">
                    <a:lumMod val="75000"/>
                    <a:lumOff val="25000"/>
                  </a:prstClr>
                </a:solidFill>
              </a:rPr>
              <a:t>Collection</a:t>
            </a:r>
            <a:r>
              <a:rPr lang="es-ES" sz="1800" dirty="0" smtClean="0">
                <a:solidFill>
                  <a:prstClr val="black">
                    <a:lumMod val="75000"/>
                    <a:lumOff val="25000"/>
                  </a:prstClr>
                </a:solidFill>
              </a:rPr>
              <a:t>): </a:t>
            </a:r>
          </a:p>
          <a:p>
            <a:pPr marL="0" indent="0">
              <a:lnSpc>
                <a:spcPct val="150000"/>
              </a:lnSpc>
              <a:spcBef>
                <a:spcPts val="600"/>
              </a:spcBef>
              <a:spcAft>
                <a:spcPts val="600"/>
              </a:spcAft>
              <a:buNone/>
            </a:pPr>
            <a:r>
              <a:rPr lang="es-ES" sz="1800" dirty="0" smtClean="0">
                <a:solidFill>
                  <a:prstClr val="black">
                    <a:lumMod val="75000"/>
                    <a:lumOff val="25000"/>
                  </a:prstClr>
                </a:solidFill>
              </a:rPr>
              <a:t>Si queremos recuperar un valor en concreto del input:</a:t>
            </a:r>
          </a:p>
          <a:p>
            <a:pPr marL="0" indent="0">
              <a:lnSpc>
                <a:spcPct val="150000"/>
              </a:lnSpc>
              <a:spcBef>
                <a:spcPts val="600"/>
              </a:spcBef>
              <a:spcAft>
                <a:spcPts val="600"/>
              </a:spcAft>
              <a:buNone/>
            </a:pPr>
            <a:r>
              <a:rPr lang="es-ES" sz="1800" dirty="0" smtClean="0">
                <a:solidFill>
                  <a:prstClr val="black">
                    <a:lumMod val="75000"/>
                    <a:lumOff val="25000"/>
                  </a:prstClr>
                </a:solidFill>
              </a:rPr>
              <a:t>Si en el input tenemos un array (</a:t>
            </a:r>
            <a:r>
              <a:rPr lang="es-ES" sz="1800" dirty="0" err="1" smtClean="0">
                <a:solidFill>
                  <a:prstClr val="black">
                    <a:lumMod val="75000"/>
                    <a:lumOff val="25000"/>
                  </a:prstClr>
                </a:solidFill>
              </a:rPr>
              <a:t>select</a:t>
            </a:r>
            <a:r>
              <a:rPr lang="es-ES" sz="1800" dirty="0" smtClean="0">
                <a:solidFill>
                  <a:prstClr val="black">
                    <a:lumMod val="75000"/>
                    <a:lumOff val="25000"/>
                  </a:prstClr>
                </a:solidFill>
              </a:rPr>
              <a:t> – </a:t>
            </a:r>
            <a:r>
              <a:rPr lang="es-ES" sz="1800" dirty="0" err="1" smtClean="0">
                <a:solidFill>
                  <a:prstClr val="black">
                    <a:lumMod val="75000"/>
                    <a:lumOff val="25000"/>
                  </a:prstClr>
                </a:solidFill>
              </a:rPr>
              <a:t>option</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checkbox</a:t>
            </a:r>
            <a:r>
              <a:rPr lang="es-ES" sz="1800" dirty="0" smtClean="0">
                <a:solidFill>
                  <a:prstClr val="black">
                    <a:lumMod val="75000"/>
                    <a:lumOff val="25000"/>
                  </a:prstClr>
                </a:solidFill>
              </a:rPr>
              <a:t>): </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valores de entrada JSON: </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booleanos:</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fechas: </a:t>
            </a: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parte de los datos de entrada:  </a:t>
            </a: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5905363" y="1409862"/>
            <a:ext cx="1987652" cy="368319"/>
          </a:xfrm>
          <a:prstGeom prst="rect">
            <a:avLst/>
          </a:prstGeom>
        </p:spPr>
      </p:pic>
      <p:pic>
        <p:nvPicPr>
          <p:cNvPr id="8" name="Imagen 7"/>
          <p:cNvPicPr>
            <a:picLocks noChangeAspect="1"/>
          </p:cNvPicPr>
          <p:nvPr/>
        </p:nvPicPr>
        <p:blipFill>
          <a:blip r:embed="rId4"/>
          <a:stretch>
            <a:fillRect/>
          </a:stretch>
        </p:blipFill>
        <p:spPr>
          <a:xfrm>
            <a:off x="8061868" y="1966775"/>
            <a:ext cx="2612823" cy="362473"/>
          </a:xfrm>
          <a:prstGeom prst="rect">
            <a:avLst/>
          </a:prstGeom>
        </p:spPr>
      </p:pic>
      <p:pic>
        <p:nvPicPr>
          <p:cNvPr id="9" name="Imagen 8"/>
          <p:cNvPicPr>
            <a:picLocks noChangeAspect="1"/>
          </p:cNvPicPr>
          <p:nvPr/>
        </p:nvPicPr>
        <p:blipFill>
          <a:blip r:embed="rId5"/>
          <a:stretch>
            <a:fillRect/>
          </a:stretch>
        </p:blipFill>
        <p:spPr>
          <a:xfrm>
            <a:off x="6216754" y="2539561"/>
            <a:ext cx="2765928" cy="345741"/>
          </a:xfrm>
          <a:prstGeom prst="rect">
            <a:avLst/>
          </a:prstGeom>
        </p:spPr>
      </p:pic>
      <p:pic>
        <p:nvPicPr>
          <p:cNvPr id="10" name="Imagen 9"/>
          <p:cNvPicPr>
            <a:picLocks noChangeAspect="1"/>
          </p:cNvPicPr>
          <p:nvPr/>
        </p:nvPicPr>
        <p:blipFill>
          <a:blip r:embed="rId6"/>
          <a:stretch>
            <a:fillRect/>
          </a:stretch>
        </p:blipFill>
        <p:spPr>
          <a:xfrm>
            <a:off x="6773931" y="3090628"/>
            <a:ext cx="3403775" cy="755689"/>
          </a:xfrm>
          <a:prstGeom prst="rect">
            <a:avLst/>
          </a:prstGeom>
        </p:spPr>
      </p:pic>
      <p:pic>
        <p:nvPicPr>
          <p:cNvPr id="11" name="Imagen 10"/>
          <p:cNvPicPr>
            <a:picLocks noChangeAspect="1"/>
          </p:cNvPicPr>
          <p:nvPr/>
        </p:nvPicPr>
        <p:blipFill>
          <a:blip r:embed="rId7"/>
          <a:stretch>
            <a:fillRect/>
          </a:stretch>
        </p:blipFill>
        <p:spPr>
          <a:xfrm>
            <a:off x="4946053" y="4217216"/>
            <a:ext cx="3197801" cy="325317"/>
          </a:xfrm>
          <a:prstGeom prst="rect">
            <a:avLst/>
          </a:prstGeom>
        </p:spPr>
      </p:pic>
      <p:pic>
        <p:nvPicPr>
          <p:cNvPr id="16" name="Imagen 15"/>
          <p:cNvPicPr>
            <a:picLocks noChangeAspect="1"/>
          </p:cNvPicPr>
          <p:nvPr/>
        </p:nvPicPr>
        <p:blipFill>
          <a:blip r:embed="rId8"/>
          <a:stretch>
            <a:fillRect/>
          </a:stretch>
        </p:blipFill>
        <p:spPr>
          <a:xfrm>
            <a:off x="3660522" y="4780069"/>
            <a:ext cx="3523699" cy="310915"/>
          </a:xfrm>
          <a:prstGeom prst="rect">
            <a:avLst/>
          </a:prstGeom>
        </p:spPr>
      </p:pic>
      <p:pic>
        <p:nvPicPr>
          <p:cNvPr id="17" name="Imagen 16"/>
          <p:cNvPicPr>
            <a:picLocks noChangeAspect="1"/>
          </p:cNvPicPr>
          <p:nvPr/>
        </p:nvPicPr>
        <p:blipFill>
          <a:blip r:embed="rId9"/>
          <a:stretch>
            <a:fillRect/>
          </a:stretch>
        </p:blipFill>
        <p:spPr>
          <a:xfrm>
            <a:off x="3259612" y="5347054"/>
            <a:ext cx="3015027" cy="312339"/>
          </a:xfrm>
          <a:prstGeom prst="rect">
            <a:avLst/>
          </a:prstGeom>
        </p:spPr>
      </p:pic>
      <p:pic>
        <p:nvPicPr>
          <p:cNvPr id="18" name="Imagen 17"/>
          <p:cNvPicPr>
            <a:picLocks noChangeAspect="1"/>
          </p:cNvPicPr>
          <p:nvPr/>
        </p:nvPicPr>
        <p:blipFill>
          <a:blip r:embed="rId10"/>
          <a:stretch>
            <a:fillRect/>
          </a:stretch>
        </p:blipFill>
        <p:spPr>
          <a:xfrm>
            <a:off x="5646988" y="5915463"/>
            <a:ext cx="3721291" cy="787440"/>
          </a:xfrm>
          <a:prstGeom prst="rect">
            <a:avLst/>
          </a:prstGeom>
        </p:spPr>
      </p:pic>
    </p:spTree>
    <p:extLst>
      <p:ext uri="{BB962C8B-B14F-4D97-AF65-F5344CB8AC3E}">
        <p14:creationId xmlns:p14="http://schemas.microsoft.com/office/powerpoint/2010/main" val="10162276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Input</a:t>
            </a:r>
            <a:endParaRPr lang="es-ES" sz="2600" dirty="0"/>
          </a:p>
        </p:txBody>
      </p:sp>
      <p:sp>
        <p:nvSpPr>
          <p:cNvPr id="6" name="Marcador de contenido 4"/>
          <p:cNvSpPr>
            <a:spLocks noGrp="1"/>
          </p:cNvSpPr>
          <p:nvPr>
            <p:ph sz="half" idx="4294967295"/>
          </p:nvPr>
        </p:nvSpPr>
        <p:spPr>
          <a:xfrm>
            <a:off x="541611" y="1298448"/>
            <a:ext cx="11605081"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Determinar si la entrada está presente.</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Determinar si la entrada está presente y no es una cadena vacía. </a:t>
            </a: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err="1" smtClean="0">
                <a:solidFill>
                  <a:prstClr val="black">
                    <a:lumMod val="75000"/>
                    <a:lumOff val="25000"/>
                  </a:prstClr>
                </a:solidFill>
              </a:rPr>
              <a:t>Redireccionar</a:t>
            </a:r>
            <a:r>
              <a:rPr lang="es-ES" sz="1800" dirty="0" smtClean="0">
                <a:solidFill>
                  <a:prstClr val="black">
                    <a:lumMod val="75000"/>
                    <a:lumOff val="25000"/>
                  </a:prstClr>
                </a:solidFill>
              </a:rPr>
              <a:t> </a:t>
            </a:r>
            <a:r>
              <a:rPr lang="es-ES" sz="1800" dirty="0" smtClean="0">
                <a:solidFill>
                  <a:prstClr val="black">
                    <a:lumMod val="75000"/>
                    <a:lumOff val="25000"/>
                  </a:prstClr>
                </a:solidFill>
              </a:rPr>
              <a:t>con input</a:t>
            </a:r>
          </a:p>
          <a:p>
            <a:pPr marL="0" indent="0">
              <a:lnSpc>
                <a:spcPct val="150000"/>
              </a:lnSpc>
              <a:spcBef>
                <a:spcPts val="600"/>
              </a:spcBef>
              <a:spcAft>
                <a:spcPts val="600"/>
              </a:spcAft>
              <a:buNone/>
            </a:pPr>
            <a:r>
              <a:rPr lang="es-ES" sz="1800" dirty="0" smtClean="0">
                <a:solidFill>
                  <a:prstClr val="black">
                    <a:lumMod val="75000"/>
                    <a:lumOff val="25000"/>
                  </a:prstClr>
                </a:solidFill>
              </a:rPr>
              <a:t>Cookies</a:t>
            </a: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Recuperación de archivos cargados</a:t>
            </a: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4778835" y="1453442"/>
            <a:ext cx="2623356" cy="980839"/>
          </a:xfrm>
          <a:prstGeom prst="rect">
            <a:avLst/>
          </a:prstGeom>
        </p:spPr>
      </p:pic>
      <p:pic>
        <p:nvPicPr>
          <p:cNvPr id="4" name="Imagen 3"/>
          <p:cNvPicPr>
            <a:picLocks noChangeAspect="1"/>
          </p:cNvPicPr>
          <p:nvPr/>
        </p:nvPicPr>
        <p:blipFill>
          <a:blip r:embed="rId4"/>
          <a:stretch>
            <a:fillRect/>
          </a:stretch>
        </p:blipFill>
        <p:spPr>
          <a:xfrm>
            <a:off x="7510170" y="1453441"/>
            <a:ext cx="3757248" cy="980839"/>
          </a:xfrm>
          <a:prstGeom prst="rect">
            <a:avLst/>
          </a:prstGeom>
        </p:spPr>
      </p:pic>
      <p:pic>
        <p:nvPicPr>
          <p:cNvPr id="5" name="Imagen 4"/>
          <p:cNvPicPr>
            <a:picLocks noChangeAspect="1"/>
          </p:cNvPicPr>
          <p:nvPr/>
        </p:nvPicPr>
        <p:blipFill>
          <a:blip r:embed="rId5"/>
          <a:stretch>
            <a:fillRect/>
          </a:stretch>
        </p:blipFill>
        <p:spPr>
          <a:xfrm>
            <a:off x="7510170" y="3057678"/>
            <a:ext cx="3172246" cy="947554"/>
          </a:xfrm>
          <a:prstGeom prst="rect">
            <a:avLst/>
          </a:prstGeom>
        </p:spPr>
      </p:pic>
      <p:pic>
        <p:nvPicPr>
          <p:cNvPr id="7" name="Imagen 6"/>
          <p:cNvPicPr>
            <a:picLocks noChangeAspect="1"/>
          </p:cNvPicPr>
          <p:nvPr/>
        </p:nvPicPr>
        <p:blipFill>
          <a:blip r:embed="rId6"/>
          <a:stretch>
            <a:fillRect/>
          </a:stretch>
        </p:blipFill>
        <p:spPr>
          <a:xfrm>
            <a:off x="3273522" y="4231649"/>
            <a:ext cx="3677154" cy="404083"/>
          </a:xfrm>
          <a:prstGeom prst="rect">
            <a:avLst/>
          </a:prstGeom>
        </p:spPr>
      </p:pic>
      <p:pic>
        <p:nvPicPr>
          <p:cNvPr id="8" name="Imagen 7"/>
          <p:cNvPicPr>
            <a:picLocks noChangeAspect="1"/>
          </p:cNvPicPr>
          <p:nvPr/>
        </p:nvPicPr>
        <p:blipFill>
          <a:blip r:embed="rId7"/>
          <a:stretch>
            <a:fillRect/>
          </a:stretch>
        </p:blipFill>
        <p:spPr>
          <a:xfrm>
            <a:off x="1659257" y="4752536"/>
            <a:ext cx="3017775" cy="419343"/>
          </a:xfrm>
          <a:prstGeom prst="rect">
            <a:avLst/>
          </a:prstGeom>
        </p:spPr>
      </p:pic>
      <p:pic>
        <p:nvPicPr>
          <p:cNvPr id="10" name="Imagen 9"/>
          <p:cNvPicPr>
            <a:picLocks noChangeAspect="1"/>
          </p:cNvPicPr>
          <p:nvPr/>
        </p:nvPicPr>
        <p:blipFill>
          <a:blip r:embed="rId8"/>
          <a:stretch>
            <a:fillRect/>
          </a:stretch>
        </p:blipFill>
        <p:spPr>
          <a:xfrm>
            <a:off x="4499450" y="5408579"/>
            <a:ext cx="3399282" cy="1109610"/>
          </a:xfrm>
          <a:prstGeom prst="rect">
            <a:avLst/>
          </a:prstGeom>
        </p:spPr>
      </p:pic>
    </p:spTree>
    <p:extLst>
      <p:ext uri="{BB962C8B-B14F-4D97-AF65-F5344CB8AC3E}">
        <p14:creationId xmlns:p14="http://schemas.microsoft.com/office/powerpoint/2010/main" val="25485500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Input</a:t>
            </a:r>
            <a:endParaRPr lang="es-ES" sz="2600" dirty="0"/>
          </a:p>
        </p:txBody>
      </p:sp>
      <p:sp>
        <p:nvSpPr>
          <p:cNvPr id="6" name="Marcador de contenido 4"/>
          <p:cNvSpPr>
            <a:spLocks noGrp="1"/>
          </p:cNvSpPr>
          <p:nvPr>
            <p:ph sz="half" idx="4294967295"/>
          </p:nvPr>
        </p:nvSpPr>
        <p:spPr>
          <a:xfrm>
            <a:off x="541611" y="1298448"/>
            <a:ext cx="11605081"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Determinar si </a:t>
            </a:r>
            <a:r>
              <a:rPr lang="es-ES" sz="1800" dirty="0" smtClean="0">
                <a:solidFill>
                  <a:prstClr val="black">
                    <a:lumMod val="75000"/>
                    <a:lumOff val="25000"/>
                  </a:prstClr>
                </a:solidFill>
              </a:rPr>
              <a:t>un fichero está presente en la </a:t>
            </a:r>
            <a:r>
              <a:rPr lang="es-ES" sz="1800" dirty="0" err="1" smtClean="0">
                <a:solidFill>
                  <a:prstClr val="black">
                    <a:lumMod val="75000"/>
                    <a:lumOff val="25000"/>
                  </a:prstClr>
                </a:solidFill>
              </a:rPr>
              <a:t>request</a:t>
            </a:r>
            <a:r>
              <a:rPr lang="es-ES" sz="1800" dirty="0">
                <a:solidFill>
                  <a:prstClr val="black">
                    <a:lumMod val="75000"/>
                    <a:lumOff val="25000"/>
                  </a:prstClr>
                </a:solidFill>
              </a:rPr>
              <a:t> </a:t>
            </a: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b="1" dirty="0" smtClean="0">
                <a:solidFill>
                  <a:prstClr val="black">
                    <a:lumMod val="75000"/>
                    <a:lumOff val="25000"/>
                  </a:prstClr>
                </a:solidFill>
              </a:rPr>
              <a:t>Almacenamiento de archivos</a:t>
            </a:r>
            <a:r>
              <a:rPr lang="es-ES" sz="1800" dirty="0" smtClean="0">
                <a:solidFill>
                  <a:prstClr val="black">
                    <a:lumMod val="75000"/>
                    <a:lumOff val="25000"/>
                  </a:prstClr>
                </a:solidFill>
              </a:rPr>
              <a:t> que vienen en la </a:t>
            </a:r>
            <a:r>
              <a:rPr lang="es-ES" sz="1800" dirty="0" err="1" smtClean="0">
                <a:solidFill>
                  <a:prstClr val="black">
                    <a:lumMod val="75000"/>
                    <a:lumOff val="25000"/>
                  </a:prstClr>
                </a:solidFill>
              </a:rPr>
              <a:t>request</a:t>
            </a:r>
            <a:endParaRPr lang="es-ES" sz="1800" dirty="0" smtClean="0">
              <a:solidFill>
                <a:prstClr val="black">
                  <a:lumMod val="75000"/>
                  <a:lumOff val="25000"/>
                </a:prstClr>
              </a:solidFill>
            </a:endParaRPr>
          </a:p>
          <a:p>
            <a:pPr>
              <a:lnSpc>
                <a:spcPct val="150000"/>
              </a:lnSpc>
              <a:spcBef>
                <a:spcPts val="600"/>
              </a:spcBef>
              <a:spcAft>
                <a:spcPts val="600"/>
              </a:spcAft>
              <a:buFontTx/>
              <a:buChar char="-"/>
            </a:pPr>
            <a:r>
              <a:rPr lang="es-ES" sz="1800" dirty="0" smtClean="0">
                <a:solidFill>
                  <a:prstClr val="black">
                    <a:lumMod val="75000"/>
                    <a:lumOff val="25000"/>
                  </a:prstClr>
                </a:solidFill>
              </a:rPr>
              <a:t>Podremos grabar un archivo en alguno de los sistemas de ficheros almacenados, ya sea local o en la nube.</a:t>
            </a:r>
          </a:p>
          <a:p>
            <a:pPr>
              <a:lnSpc>
                <a:spcPct val="150000"/>
              </a:lnSpc>
              <a:spcBef>
                <a:spcPts val="600"/>
              </a:spcBef>
              <a:spcAft>
                <a:spcPts val="600"/>
              </a:spcAft>
              <a:buFontTx/>
              <a:buChar char="-"/>
            </a:pPr>
            <a:r>
              <a:rPr lang="es-ES" sz="1800" dirty="0" smtClean="0">
                <a:solidFill>
                  <a:prstClr val="black">
                    <a:lumMod val="75000"/>
                    <a:lumOff val="25000"/>
                  </a:prstClr>
                </a:solidFill>
              </a:rPr>
              <a:t>El método </a:t>
            </a:r>
            <a:r>
              <a:rPr lang="es-ES" sz="1800" b="1" dirty="0" smtClean="0">
                <a:solidFill>
                  <a:prstClr val="black">
                    <a:lumMod val="75000"/>
                    <a:lumOff val="25000"/>
                  </a:prstClr>
                </a:solidFill>
              </a:rPr>
              <a:t>store</a:t>
            </a:r>
            <a:r>
              <a:rPr lang="es-ES" sz="1800" dirty="0" smtClean="0">
                <a:solidFill>
                  <a:prstClr val="black">
                    <a:lumMod val="75000"/>
                    <a:lumOff val="25000"/>
                  </a:prstClr>
                </a:solidFill>
              </a:rPr>
              <a:t> sobre un fichero descargado acepta la ruta donde debe guardarse. Esa ruta está relacionada con el directorio raíz configurado en el sistema de archivos. No hay que poner nombre, puesto que se generará uno automáticamente. Si quieres poner un nombre, se hará como segundo parámetro del método </a:t>
            </a:r>
            <a:r>
              <a:rPr lang="es-ES" sz="1800" b="1" dirty="0" err="1" smtClean="0">
                <a:solidFill>
                  <a:prstClr val="black">
                    <a:lumMod val="75000"/>
                    <a:lumOff val="25000"/>
                  </a:prstClr>
                </a:solidFill>
              </a:rPr>
              <a:t>storeAs</a:t>
            </a:r>
            <a:r>
              <a:rPr lang="es-ES" sz="1800" dirty="0" smtClean="0">
                <a:solidFill>
                  <a:prstClr val="black">
                    <a:lumMod val="75000"/>
                    <a:lumOff val="25000"/>
                  </a:prstClr>
                </a:solidFill>
              </a:rPr>
              <a:t>. Al final el método devuelve la ruta del archivo relativa a la raíz del disco.</a:t>
            </a:r>
            <a:endParaRPr lang="es-ES" sz="1800" dirty="0" smtClean="0">
              <a:solidFill>
                <a:prstClr val="black">
                  <a:lumMod val="75000"/>
                  <a:lumOff val="25000"/>
                </a:prstClr>
              </a:solidFill>
            </a:endParaRPr>
          </a:p>
        </p:txBody>
      </p:sp>
      <p:pic>
        <p:nvPicPr>
          <p:cNvPr id="9" name="Imagen 8"/>
          <p:cNvPicPr>
            <a:picLocks noChangeAspect="1"/>
          </p:cNvPicPr>
          <p:nvPr/>
        </p:nvPicPr>
        <p:blipFill>
          <a:blip r:embed="rId3"/>
          <a:stretch>
            <a:fillRect/>
          </a:stretch>
        </p:blipFill>
        <p:spPr>
          <a:xfrm>
            <a:off x="6153769" y="1453959"/>
            <a:ext cx="3187939" cy="942248"/>
          </a:xfrm>
          <a:prstGeom prst="rect">
            <a:avLst/>
          </a:prstGeom>
        </p:spPr>
      </p:pic>
      <p:pic>
        <p:nvPicPr>
          <p:cNvPr id="11" name="Imagen 10"/>
          <p:cNvPicPr>
            <a:picLocks noChangeAspect="1"/>
          </p:cNvPicPr>
          <p:nvPr/>
        </p:nvPicPr>
        <p:blipFill>
          <a:blip r:embed="rId4"/>
          <a:stretch>
            <a:fillRect/>
          </a:stretch>
        </p:blipFill>
        <p:spPr>
          <a:xfrm>
            <a:off x="844456" y="5432491"/>
            <a:ext cx="4568135" cy="986844"/>
          </a:xfrm>
          <a:prstGeom prst="rect">
            <a:avLst/>
          </a:prstGeom>
        </p:spPr>
      </p:pic>
      <p:pic>
        <p:nvPicPr>
          <p:cNvPr id="12" name="Imagen 11"/>
          <p:cNvPicPr>
            <a:picLocks noChangeAspect="1"/>
          </p:cNvPicPr>
          <p:nvPr/>
        </p:nvPicPr>
        <p:blipFill>
          <a:blip r:embed="rId5"/>
          <a:stretch>
            <a:fillRect/>
          </a:stretch>
        </p:blipFill>
        <p:spPr>
          <a:xfrm>
            <a:off x="5715436" y="5432491"/>
            <a:ext cx="5700127" cy="986844"/>
          </a:xfrm>
          <a:prstGeom prst="rect">
            <a:avLst/>
          </a:prstGeom>
        </p:spPr>
      </p:pic>
    </p:spTree>
    <p:extLst>
      <p:ext uri="{BB962C8B-B14F-4D97-AF65-F5344CB8AC3E}">
        <p14:creationId xmlns:p14="http://schemas.microsoft.com/office/powerpoint/2010/main" val="1533606691"/>
      </p:ext>
    </p:extLst>
  </p:cSld>
  <p:clrMapOvr>
    <a:masterClrMapping/>
  </p:clrMapOvr>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9B45"/>
        </a:solidFill>
        <a:ln>
          <a:solidFill>
            <a:srgbClr val="FF9B4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4199827_TF10001033" id="{B8C5CA47-16DB-4B99-941C-1142562394E7}" vid="{2A9A9F5D-B7A7-4104-8DD8-8C97F33B830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14160</TotalTime>
  <Words>487</Words>
  <Application>Microsoft Office PowerPoint</Application>
  <PresentationFormat>Panorámica</PresentationFormat>
  <Paragraphs>81</Paragraphs>
  <Slides>9</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Segoe UI</vt:lpstr>
      <vt:lpstr>Segoe UI Light</vt:lpstr>
      <vt:lpstr>WelcomeDoc</vt:lpstr>
      <vt:lpstr>Laravel 9</vt:lpstr>
      <vt:lpstr>ÍNDICE</vt:lpstr>
      <vt:lpstr>REQUESTS</vt:lpstr>
      <vt:lpstr>Interactuando con la solicitud</vt:lpstr>
      <vt:lpstr>Interactuando con la solicitud</vt:lpstr>
      <vt:lpstr>Interactuando con la solicitud</vt:lpstr>
      <vt:lpstr>Input</vt:lpstr>
      <vt:lpstr>Input</vt:lpstr>
      <vt:lpstr>Input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damos la bienvenida a PowerPoint</dc:title>
  <dc:creator>José Javier Guillén Benavente</dc:creator>
  <cp:keywords/>
  <cp:lastModifiedBy>Familia Guillén Linares</cp:lastModifiedBy>
  <cp:revision>212</cp:revision>
  <dcterms:created xsi:type="dcterms:W3CDTF">2022-09-07T07:55:08Z</dcterms:created>
  <dcterms:modified xsi:type="dcterms:W3CDTF">2023-02-06T14:47:35Z</dcterms:modified>
  <cp:version/>
</cp:coreProperties>
</file>