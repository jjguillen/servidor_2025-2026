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256" r:id="rId2"/>
    <p:sldId id="276" r:id="rId3"/>
    <p:sldId id="277" r:id="rId4"/>
    <p:sldId id="279" r:id="rId5"/>
    <p:sldId id="280" r:id="rId6"/>
    <p:sldId id="281" r:id="rId7"/>
    <p:sldId id="282" r:id="rId8"/>
    <p:sldId id="283" r:id="rId9"/>
    <p:sldId id="284" r:id="rId1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damos la bienvenida" id="{E75E278A-FF0E-49A4-B170-79828D63BBAD}">
          <p14:sldIdLst>
            <p14:sldId id="256"/>
            <p14:sldId id="276"/>
            <p14:sldId id="277"/>
          </p14:sldIdLst>
        </p14:section>
        <p14:section name="Diseñar, anotar, trabajar juntos, Información" id="{B9B51309-D148-4332-87C2-07BE32FBCA3B}">
          <p14:sldIdLst>
            <p14:sldId id="279"/>
            <p14:sldId id="280"/>
            <p14:sldId id="281"/>
            <p14:sldId id="282"/>
            <p14:sldId id="283"/>
            <p14:sldId id="284"/>
          </p14:sldIdLst>
        </p14:section>
        <p14:section name="Más información"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FF9B45"/>
    <a:srgbClr val="DD462F"/>
    <a:srgbClr val="F8CFB6"/>
    <a:srgbClr val="F8CAB6"/>
    <a:srgbClr val="923922"/>
    <a:srgbClr val="404040"/>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5" autoAdjust="0"/>
    <p:restoredTop sz="95401" autoAdjust="0"/>
  </p:normalViewPr>
  <p:slideViewPr>
    <p:cSldViewPr snapToGrid="0">
      <p:cViewPr varScale="1">
        <p:scale>
          <a:sx n="103" d="100"/>
          <a:sy n="103" d="100"/>
        </p:scale>
        <p:origin x="76" y="208"/>
      </p:cViewPr>
      <p:guideLst>
        <p:guide orient="horz" pos="2160"/>
        <p:guide pos="3840"/>
      </p:guideLst>
    </p:cSldViewPr>
  </p:slideViewPr>
  <p:outlineViewPr>
    <p:cViewPr>
      <p:scale>
        <a:sx n="33" d="100"/>
        <a:sy n="33" d="100"/>
      </p:scale>
      <p:origin x="0" y="-558"/>
    </p:cViewPr>
  </p:outlineViewPr>
  <p:notesTextViewPr>
    <p:cViewPr>
      <p:scale>
        <a:sx n="1" d="1"/>
        <a:sy n="1" d="1"/>
      </p:scale>
      <p:origin x="0" y="0"/>
    </p:cViewPr>
  </p:notesTextViewPr>
  <p:notesViewPr>
    <p:cSldViewPr snapToGrid="0">
      <p:cViewPr varScale="1">
        <p:scale>
          <a:sx n="90" d="100"/>
          <a:sy n="90" d="100"/>
        </p:scale>
        <p:origin x="272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B06AB2-534F-4317-9DBC-96E8A8114BFB}" type="datetime1">
              <a:rPr lang="es-ES" smtClean="0"/>
              <a:t>24/01/2023</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184219E-1C28-46B7-A379-E02903B01D1A}" type="slidenum">
              <a:rPr lang="es-ES" smtClean="0"/>
              <a:t>‹Nº›</a:t>
            </a:fld>
            <a:endParaRPr lang="es-ES" dirty="0"/>
          </a:p>
        </p:txBody>
      </p:sp>
    </p:spTree>
    <p:extLst>
      <p:ext uri="{BB962C8B-B14F-4D97-AF65-F5344CB8AC3E}">
        <p14:creationId xmlns:p14="http://schemas.microsoft.com/office/powerpoint/2010/main" val="29072522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BC32159-CBC1-4C9D-9A0C-0BE24C8C9CDA}" type="datetime1">
              <a:rPr lang="es-ES" noProof="0" smtClean="0"/>
              <a:t>24/01/2023</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es-ES" noProof="0" smtClean="0"/>
              <a:t>‹Nº›</a:t>
            </a:fld>
            <a:endParaRPr lang="es-ES" noProof="0"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1</a:t>
            </a:fld>
            <a:endParaRPr lang="es-E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r>
              <a:rPr lang="es-ES" dirty="0"/>
              <a:t>En el modo Presentación con diapositivas, seleccione la flecha para ir al Centro de introducción a PowerPoint.</a:t>
            </a:r>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3</a:t>
            </a:fld>
            <a:endParaRPr lang="es-ES" dirty="0"/>
          </a:p>
        </p:txBody>
      </p:sp>
    </p:spTree>
    <p:extLst>
      <p:ext uri="{BB962C8B-B14F-4D97-AF65-F5344CB8AC3E}">
        <p14:creationId xmlns:p14="http://schemas.microsoft.com/office/powerpoint/2010/main" val="522268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4</a:t>
            </a:fld>
            <a:endParaRPr lang="es-ES" dirty="0"/>
          </a:p>
        </p:txBody>
      </p:sp>
    </p:spTree>
    <p:extLst>
      <p:ext uri="{BB962C8B-B14F-4D97-AF65-F5344CB8AC3E}">
        <p14:creationId xmlns:p14="http://schemas.microsoft.com/office/powerpoint/2010/main" val="244116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5</a:t>
            </a:fld>
            <a:endParaRPr lang="es-ES" dirty="0"/>
          </a:p>
        </p:txBody>
      </p:sp>
    </p:spTree>
    <p:extLst>
      <p:ext uri="{BB962C8B-B14F-4D97-AF65-F5344CB8AC3E}">
        <p14:creationId xmlns:p14="http://schemas.microsoft.com/office/powerpoint/2010/main" val="1033157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6</a:t>
            </a:fld>
            <a:endParaRPr lang="es-ES" dirty="0"/>
          </a:p>
        </p:txBody>
      </p:sp>
    </p:spTree>
    <p:extLst>
      <p:ext uri="{BB962C8B-B14F-4D97-AF65-F5344CB8AC3E}">
        <p14:creationId xmlns:p14="http://schemas.microsoft.com/office/powerpoint/2010/main" val="2863909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7</a:t>
            </a:fld>
            <a:endParaRPr lang="es-ES" dirty="0"/>
          </a:p>
        </p:txBody>
      </p:sp>
    </p:spTree>
    <p:extLst>
      <p:ext uri="{BB962C8B-B14F-4D97-AF65-F5344CB8AC3E}">
        <p14:creationId xmlns:p14="http://schemas.microsoft.com/office/powerpoint/2010/main" val="354880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8</a:t>
            </a:fld>
            <a:endParaRPr lang="es-ES" dirty="0"/>
          </a:p>
        </p:txBody>
      </p:sp>
    </p:spTree>
    <p:extLst>
      <p:ext uri="{BB962C8B-B14F-4D97-AF65-F5344CB8AC3E}">
        <p14:creationId xmlns:p14="http://schemas.microsoft.com/office/powerpoint/2010/main" val="515324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9</a:t>
            </a:fld>
            <a:endParaRPr lang="es-ES" dirty="0"/>
          </a:p>
        </p:txBody>
      </p:sp>
    </p:spTree>
    <p:extLst>
      <p:ext uri="{BB962C8B-B14F-4D97-AF65-F5344CB8AC3E}">
        <p14:creationId xmlns:p14="http://schemas.microsoft.com/office/powerpoint/2010/main" val="323203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Rectángulo 6"/>
          <p:cNvSpPr/>
          <p:nvPr userDrawn="1"/>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9" name="Rectángulo 8"/>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cxnSp>
        <p:nvCxnSpPr>
          <p:cNvPr id="12" name="Conector recto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521208" y="368802"/>
            <a:ext cx="44348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2400" b="0" dirty="0">
                <a:solidFill>
                  <a:schemeClr val="bg2">
                    <a:lumMod val="25000"/>
                  </a:schemeClr>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5" name="Marcador de contenido 4"/>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rtlCol="0"/>
          <a:lstStyle/>
          <a:p>
            <a:pPr rtl="0"/>
            <a:fld id="{AF6F98EE-852A-4139-9CFD-A1A4BA052067}" type="datetime1">
              <a:rPr lang="es-ES" noProof="0" smtClean="0"/>
              <a:t>24/01/2023</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número de diapositiva 5"/>
          <p:cNvSpPr>
            <a:spLocks noGrp="1"/>
          </p:cNvSpPr>
          <p:nvPr>
            <p:ph type="sldNum" sz="quarter" idx="12"/>
          </p:nvPr>
        </p:nvSpPr>
        <p:spPr/>
        <p:txBody>
          <a:bodyPr rtlCol="0"/>
          <a:lstStyle/>
          <a:p>
            <a:pPr rtl="0"/>
            <a:fld id="{9860EDB8-5305-433F-BE41-D7A86D811DB3}" type="slidenum">
              <a:rPr lang="es-ES" noProof="0" smtClean="0"/>
              <a:t>‹Nº›</a:t>
            </a:fld>
            <a:endParaRPr lang="es-ES" noProof="0" dirty="0"/>
          </a:p>
        </p:txBody>
      </p:sp>
      <p:sp>
        <p:nvSpPr>
          <p:cNvPr id="9" name="Rectángulo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10" name="Rectángulo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3" name="Título 2"/>
          <p:cNvSpPr>
            <a:spLocks noGrp="1"/>
          </p:cNvSpPr>
          <p:nvPr>
            <p:ph type="title"/>
          </p:nvPr>
        </p:nvSpPr>
        <p:spPr>
          <a:xfrm>
            <a:off x="521208" y="1536192"/>
            <a:ext cx="62636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3600" b="0" dirty="0">
                <a:solidFill>
                  <a:schemeClr val="bg1"/>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8" name="Marcador de posición de contenido 7"/>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2F50242A-6024-4A62-8CDA-92D97616828A}" type="datetime1">
              <a:rPr lang="es-ES" noProof="0" smtClean="0"/>
              <a:t>24/01/2023</a:t>
            </a:fld>
            <a:endParaRPr lang="es-ES" noProof="0" dirty="0"/>
          </a:p>
        </p:txBody>
      </p:sp>
      <p:sp>
        <p:nvSpPr>
          <p:cNvPr id="5" name="Marcador de pie de página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número de diapositiva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860EDB8-5305-433F-BE41-D7A86D811DB3}" type="slidenum">
              <a:rPr lang="es-ES" noProof="0" smtClean="0"/>
              <a:t>‹Nº›</a:t>
            </a:fld>
            <a:endParaRPr lang="es-ES"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838200" y="1164324"/>
            <a:ext cx="10515600" cy="2387600"/>
          </a:xfrm>
        </p:spPr>
        <p:txBody>
          <a:bodyPr rtlCol="0">
            <a:normAutofit/>
          </a:bodyPr>
          <a:lstStyle/>
          <a:p>
            <a:pPr rtl="0"/>
            <a:r>
              <a:rPr lang="es-ES" sz="4800" dirty="0">
                <a:solidFill>
                  <a:schemeClr val="bg1"/>
                </a:solidFill>
              </a:rPr>
              <a:t>Laravel 9</a:t>
            </a:r>
          </a:p>
        </p:txBody>
      </p:sp>
      <p:sp>
        <p:nvSpPr>
          <p:cNvPr id="3" name="Subtítulo 2"/>
          <p:cNvSpPr>
            <a:spLocks noGrp="1"/>
          </p:cNvSpPr>
          <p:nvPr>
            <p:ph type="subTitle" idx="4294967295"/>
          </p:nvPr>
        </p:nvSpPr>
        <p:spPr>
          <a:xfrm>
            <a:off x="855620" y="2933105"/>
            <a:ext cx="9582736" cy="1137793"/>
          </a:xfrm>
        </p:spPr>
        <p:txBody>
          <a:bodyPr rtlCol="0">
            <a:normAutofit/>
          </a:bodyPr>
          <a:lstStyle/>
          <a:p>
            <a:pPr marL="0" indent="0" rtl="0">
              <a:buNone/>
            </a:pPr>
            <a:r>
              <a:rPr lang="es-ES" sz="2400" dirty="0">
                <a:solidFill>
                  <a:schemeClr val="bg1"/>
                </a:solidFill>
                <a:latin typeface="+mj-lt"/>
              </a:rPr>
              <a:t>Framework PHP</a:t>
            </a:r>
          </a:p>
        </p:txBody>
      </p:sp>
      <p:sp>
        <p:nvSpPr>
          <p:cNvPr id="5" name="CuadroTexto 4">
            <a:extLst>
              <a:ext uri="{FF2B5EF4-FFF2-40B4-BE49-F238E27FC236}">
                <a16:creationId xmlns:a16="http://schemas.microsoft.com/office/drawing/2014/main" id="{684A30A1-7FD6-4298-A1D0-301DDF69D250}"/>
              </a:ext>
            </a:extLst>
          </p:cNvPr>
          <p:cNvSpPr txBox="1"/>
          <p:nvPr/>
        </p:nvSpPr>
        <p:spPr>
          <a:xfrm>
            <a:off x="838200" y="5503176"/>
            <a:ext cx="3187700" cy="381000"/>
          </a:xfrm>
          <a:prstGeom prst="rect">
            <a:avLst/>
          </a:prstGeom>
          <a:noFill/>
        </p:spPr>
        <p:txBody>
          <a:bodyPr wrap="square" rtlCol="0">
            <a:spAutoFit/>
          </a:bodyPr>
          <a:lstStyle/>
          <a:p>
            <a:pPr algn="l"/>
            <a:r>
              <a:rPr lang="es-ES" dirty="0">
                <a:solidFill>
                  <a:schemeClr val="bg1"/>
                </a:solidFill>
                <a:latin typeface="+mj-lt"/>
              </a:rPr>
              <a:t>Javier Guillén Benavente</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CF6AC-EE60-4591-A0D8-8219FA214860}"/>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BD7C5854-93BC-4152-8FC3-93FDA76119B5}"/>
              </a:ext>
            </a:extLst>
          </p:cNvPr>
          <p:cNvSpPr>
            <a:spLocks noGrp="1"/>
          </p:cNvSpPr>
          <p:nvPr>
            <p:ph sz="quarter" idx="10"/>
          </p:nvPr>
        </p:nvSpPr>
        <p:spPr>
          <a:xfrm>
            <a:off x="539496" y="1435608"/>
            <a:ext cx="5023104" cy="5111242"/>
          </a:xfrm>
        </p:spPr>
        <p:txBody>
          <a:bodyPr>
            <a:normAutofit/>
          </a:bodyPr>
          <a:lstStyle/>
          <a:p>
            <a:pPr>
              <a:buFont typeface="+mj-lt"/>
              <a:buAutoNum type="arabicPeriod"/>
            </a:pPr>
            <a:r>
              <a:rPr lang="es-ES" sz="1700" dirty="0"/>
              <a:t>INTRODUCCIÓN</a:t>
            </a:r>
          </a:p>
          <a:p>
            <a:pPr>
              <a:buFont typeface="+mj-lt"/>
              <a:buAutoNum type="arabicPeriod"/>
            </a:pPr>
            <a:r>
              <a:rPr lang="es-ES" sz="1700" dirty="0"/>
              <a:t>CONCEPTOS DE ARQUITECTURA</a:t>
            </a:r>
          </a:p>
          <a:p>
            <a:pPr>
              <a:buFont typeface="+mj-lt"/>
              <a:buAutoNum type="arabicPeriod"/>
            </a:pPr>
            <a:r>
              <a:rPr lang="es-ES" sz="1700" dirty="0">
                <a:solidFill>
                  <a:schemeClr val="tx1"/>
                </a:solidFill>
              </a:rPr>
              <a:t>PRIMEROS PASOS</a:t>
            </a:r>
          </a:p>
          <a:p>
            <a:pPr>
              <a:buFont typeface="+mj-lt"/>
              <a:buAutoNum type="arabicPeriod"/>
            </a:pPr>
            <a:r>
              <a:rPr lang="es-ES" sz="1700" dirty="0">
                <a:solidFill>
                  <a:schemeClr val="tx1"/>
                </a:solidFill>
              </a:rPr>
              <a:t>ENRUTAMIENTO</a:t>
            </a:r>
          </a:p>
          <a:p>
            <a:pPr>
              <a:buFont typeface="+mj-lt"/>
              <a:buAutoNum type="arabicPeriod"/>
            </a:pPr>
            <a:r>
              <a:rPr lang="es-ES" sz="1700" dirty="0">
                <a:solidFill>
                  <a:schemeClr val="accent2"/>
                </a:solidFill>
              </a:rPr>
              <a:t>MIDDLEWARE</a:t>
            </a:r>
          </a:p>
          <a:p>
            <a:pPr>
              <a:buFont typeface="+mj-lt"/>
              <a:buAutoNum type="arabicPeriod"/>
            </a:pPr>
            <a:r>
              <a:rPr lang="es-ES" sz="1700" dirty="0"/>
              <a:t>CONTROLADORES</a:t>
            </a:r>
          </a:p>
          <a:p>
            <a:pPr>
              <a:buFont typeface="+mj-lt"/>
              <a:buAutoNum type="arabicPeriod"/>
            </a:pPr>
            <a:r>
              <a:rPr lang="es-ES" sz="1700" dirty="0"/>
              <a:t>REQUESTS</a:t>
            </a:r>
          </a:p>
          <a:p>
            <a:pPr>
              <a:buFont typeface="+mj-lt"/>
              <a:buAutoNum type="arabicPeriod"/>
            </a:pPr>
            <a:r>
              <a:rPr lang="es-ES" sz="1700" dirty="0"/>
              <a:t>RESPONSES</a:t>
            </a:r>
          </a:p>
          <a:p>
            <a:pPr>
              <a:buFont typeface="+mj-lt"/>
              <a:buAutoNum type="arabicPeriod"/>
            </a:pPr>
            <a:r>
              <a:rPr lang="es-ES" sz="1700" dirty="0"/>
              <a:t>VISTAS</a:t>
            </a:r>
          </a:p>
          <a:p>
            <a:pPr>
              <a:buFont typeface="+mj-lt"/>
              <a:buAutoNum type="arabicPeriod"/>
            </a:pPr>
            <a:r>
              <a:rPr lang="es-ES" sz="1700" dirty="0"/>
              <a:t>PLANTILLAS BLADE</a:t>
            </a:r>
          </a:p>
          <a:p>
            <a:pPr>
              <a:buFont typeface="+mj-lt"/>
              <a:buAutoNum type="arabicPeriod"/>
            </a:pPr>
            <a:r>
              <a:rPr lang="es-ES" sz="1700" dirty="0"/>
              <a:t>SESIÓN Y VALIDACIÓN</a:t>
            </a:r>
          </a:p>
          <a:p>
            <a:pPr>
              <a:buFont typeface="+mj-lt"/>
              <a:buAutoNum type="arabicPeriod"/>
            </a:pPr>
            <a:r>
              <a:rPr lang="es-ES" sz="1700" dirty="0"/>
              <a:t>SEGURIDAD</a:t>
            </a:r>
          </a:p>
          <a:p>
            <a:pPr>
              <a:buFont typeface="+mj-lt"/>
              <a:buAutoNum type="arabicPeriod"/>
            </a:pPr>
            <a:r>
              <a:rPr lang="es-ES" sz="1700" dirty="0"/>
              <a:t>BASE DE DATOS</a:t>
            </a:r>
          </a:p>
          <a:p>
            <a:pPr>
              <a:buFont typeface="+mj-lt"/>
              <a:buAutoNum type="arabicPeriod"/>
            </a:pPr>
            <a:r>
              <a:rPr lang="es-ES" sz="1700" dirty="0"/>
              <a:t>ELOQUENT (ORM)</a:t>
            </a:r>
          </a:p>
          <a:p>
            <a:pPr>
              <a:buFont typeface="+mj-lt"/>
              <a:buAutoNum type="arabicPeriod"/>
            </a:pPr>
            <a:endParaRPr lang="es-ES" dirty="0"/>
          </a:p>
          <a:p>
            <a:pPr marL="0" indent="0">
              <a:buNone/>
            </a:pPr>
            <a:endParaRPr lang="es-ES" dirty="0"/>
          </a:p>
          <a:p>
            <a:pPr>
              <a:buFont typeface="+mj-lt"/>
              <a:buAutoNum type="arabicPeriod"/>
            </a:pPr>
            <a:endParaRPr lang="es-ES" dirty="0"/>
          </a:p>
        </p:txBody>
      </p:sp>
    </p:spTree>
    <p:extLst>
      <p:ext uri="{BB962C8B-B14F-4D97-AF65-F5344CB8AC3E}">
        <p14:creationId xmlns:p14="http://schemas.microsoft.com/office/powerpoint/2010/main" val="190087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1208" y="1536192"/>
            <a:ext cx="910742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dirty="0" smtClean="0"/>
              <a:t>MIDDLEWARE</a:t>
            </a:r>
            <a:endParaRPr lang="es-ES" dirty="0"/>
          </a:p>
        </p:txBody>
      </p:sp>
      <p:sp>
        <p:nvSpPr>
          <p:cNvPr id="5" name="Marcador de contenido 4"/>
          <p:cNvSpPr>
            <a:spLocks noGrp="1"/>
          </p:cNvSpPr>
          <p:nvPr>
            <p:ph sz="half" idx="4294967295"/>
          </p:nvPr>
        </p:nvSpPr>
        <p:spPr>
          <a:xfrm>
            <a:off x="541611" y="2779776"/>
            <a:ext cx="9793224" cy="3300984"/>
          </a:xfrm>
        </p:spPr>
        <p:txBody>
          <a:bodyPr vert="horz" lIns="91440" tIns="45720" rIns="91440" bIns="45720" rtlCol="0">
            <a:normAutofit/>
          </a:bodyPr>
          <a:lstStyle/>
          <a:p>
            <a:pPr>
              <a:lnSpc>
                <a:spcPct val="150000"/>
              </a:lnSpc>
              <a:spcBef>
                <a:spcPts val="0"/>
              </a:spcBef>
            </a:pPr>
            <a:r>
              <a:rPr lang="es-ES" sz="2000" dirty="0" smtClean="0">
                <a:solidFill>
                  <a:schemeClr val="tx1">
                    <a:lumMod val="75000"/>
                    <a:lumOff val="25000"/>
                  </a:schemeClr>
                </a:solidFill>
                <a:latin typeface="+mj-lt"/>
              </a:rPr>
              <a:t>Introducción</a:t>
            </a:r>
          </a:p>
          <a:p>
            <a:pPr>
              <a:lnSpc>
                <a:spcPct val="150000"/>
              </a:lnSpc>
              <a:spcBef>
                <a:spcPts val="0"/>
              </a:spcBef>
            </a:pPr>
            <a:r>
              <a:rPr lang="es-ES" sz="2000" dirty="0" smtClean="0">
                <a:solidFill>
                  <a:schemeClr val="tx1">
                    <a:lumMod val="75000"/>
                    <a:lumOff val="25000"/>
                  </a:schemeClr>
                </a:solidFill>
                <a:latin typeface="+mj-lt"/>
              </a:rPr>
              <a:t>Definición/creación de middleware</a:t>
            </a:r>
          </a:p>
          <a:p>
            <a:pPr>
              <a:lnSpc>
                <a:spcPct val="150000"/>
              </a:lnSpc>
              <a:spcBef>
                <a:spcPts val="0"/>
              </a:spcBef>
            </a:pPr>
            <a:r>
              <a:rPr lang="es-ES" sz="2000" dirty="0" smtClean="0">
                <a:solidFill>
                  <a:schemeClr val="tx1">
                    <a:lumMod val="75000"/>
                    <a:lumOff val="25000"/>
                  </a:schemeClr>
                </a:solidFill>
                <a:latin typeface="+mj-lt"/>
              </a:rPr>
              <a:t>Registro de middleware</a:t>
            </a:r>
          </a:p>
          <a:p>
            <a:pPr>
              <a:lnSpc>
                <a:spcPct val="150000"/>
              </a:lnSpc>
              <a:spcBef>
                <a:spcPts val="0"/>
              </a:spcBef>
            </a:pPr>
            <a:r>
              <a:rPr lang="es-ES" sz="2000" dirty="0" smtClean="0">
                <a:solidFill>
                  <a:schemeClr val="tx1">
                    <a:lumMod val="75000"/>
                    <a:lumOff val="25000"/>
                  </a:schemeClr>
                </a:solidFill>
                <a:latin typeface="+mj-lt"/>
              </a:rPr>
              <a:t>Parámetros del </a:t>
            </a:r>
            <a:r>
              <a:rPr lang="es-ES" sz="2000" dirty="0" smtClean="0">
                <a:solidFill>
                  <a:schemeClr val="tx1">
                    <a:lumMod val="75000"/>
                    <a:lumOff val="25000"/>
                  </a:schemeClr>
                </a:solidFill>
                <a:latin typeface="+mj-lt"/>
              </a:rPr>
              <a:t>middleware</a:t>
            </a:r>
          </a:p>
          <a:p>
            <a:pPr>
              <a:lnSpc>
                <a:spcPct val="150000"/>
              </a:lnSpc>
              <a:spcBef>
                <a:spcPts val="0"/>
              </a:spcBef>
            </a:pPr>
            <a:r>
              <a:rPr lang="es-ES" sz="2000" dirty="0" smtClean="0">
                <a:solidFill>
                  <a:schemeClr val="tx1">
                    <a:lumMod val="75000"/>
                    <a:lumOff val="25000"/>
                  </a:schemeClr>
                </a:solidFill>
                <a:latin typeface="+mj-lt"/>
              </a:rPr>
              <a:t>Protección CSRF </a:t>
            </a:r>
            <a:endParaRPr lang="es-ES" sz="2000" dirty="0" smtClean="0">
              <a:solidFill>
                <a:schemeClr val="tx1">
                  <a:lumMod val="75000"/>
                  <a:lumOff val="25000"/>
                </a:schemeClr>
              </a:solidFill>
              <a:latin typeface="+mj-lt"/>
            </a:endParaRPr>
          </a:p>
          <a:p>
            <a:pPr marL="0" indent="0">
              <a:lnSpc>
                <a:spcPct val="150000"/>
              </a:lnSpc>
              <a:spcBef>
                <a:spcPts val="0"/>
              </a:spcBef>
              <a:buNone/>
            </a:pPr>
            <a:endParaRPr lang="es-ES" sz="2000" dirty="0" smtClean="0">
              <a:solidFill>
                <a:schemeClr val="tx1">
                  <a:lumMod val="75000"/>
                  <a:lumOff val="25000"/>
                </a:schemeClr>
              </a:solidFill>
              <a:latin typeface="+mj-lt"/>
            </a:endParaRPr>
          </a:p>
        </p:txBody>
      </p:sp>
    </p:spTree>
    <p:extLst>
      <p:ext uri="{BB962C8B-B14F-4D97-AF65-F5344CB8AC3E}">
        <p14:creationId xmlns:p14="http://schemas.microsoft.com/office/powerpoint/2010/main" val="1876690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Introducción</a:t>
            </a:r>
            <a:endParaRPr lang="es-ES" sz="2600" dirty="0"/>
          </a:p>
        </p:txBody>
      </p:sp>
      <p:sp>
        <p:nvSpPr>
          <p:cNvPr id="6" name="Marcador de contenido 4"/>
          <p:cNvSpPr>
            <a:spLocks noGrp="1"/>
          </p:cNvSpPr>
          <p:nvPr>
            <p:ph sz="half" idx="4294967295"/>
          </p:nvPr>
        </p:nvSpPr>
        <p:spPr>
          <a:xfrm>
            <a:off x="541611" y="1298448"/>
            <a:ext cx="11259092" cy="5221224"/>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El middleware proporciona un mecanismo conveniente para inspeccionar y filtrar las solicitudes HTTP que ingresan a su aplicación. Por ejemplo, </a:t>
            </a:r>
            <a:r>
              <a:rPr lang="es-ES" sz="1800" dirty="0" err="1">
                <a:solidFill>
                  <a:prstClr val="black">
                    <a:lumMod val="75000"/>
                    <a:lumOff val="25000"/>
                  </a:prstClr>
                </a:solidFill>
              </a:rPr>
              <a:t>Laravel</a:t>
            </a:r>
            <a:r>
              <a:rPr lang="es-ES" sz="1800" dirty="0">
                <a:solidFill>
                  <a:prstClr val="black">
                    <a:lumMod val="75000"/>
                    <a:lumOff val="25000"/>
                  </a:prstClr>
                </a:solidFill>
              </a:rPr>
              <a:t> incluye un middleware que verifica que el usuario de tu aplicación esté autenticado. Si el usuario no está autenticado, el middleware lo redirigirá a la pantalla de inicio de sesión de su aplicación. Sin embargo, si el usuario está autenticado, el middleware permitirá que la solicitud continúe en la aplicación.</a:t>
            </a:r>
          </a:p>
          <a:p>
            <a:pPr marL="0" indent="0">
              <a:lnSpc>
                <a:spcPct val="150000"/>
              </a:lnSpc>
              <a:spcBef>
                <a:spcPts val="600"/>
              </a:spcBef>
              <a:spcAft>
                <a:spcPts val="600"/>
              </a:spcAft>
              <a:buNone/>
            </a:pPr>
            <a:r>
              <a:rPr lang="es-ES" sz="1800" dirty="0" smtClean="0">
                <a:solidFill>
                  <a:prstClr val="black">
                    <a:lumMod val="75000"/>
                    <a:lumOff val="25000"/>
                  </a:prstClr>
                </a:solidFill>
              </a:rPr>
              <a:t>Se </a:t>
            </a:r>
            <a:r>
              <a:rPr lang="es-ES" sz="1800" dirty="0">
                <a:solidFill>
                  <a:prstClr val="black">
                    <a:lumMod val="75000"/>
                    <a:lumOff val="25000"/>
                  </a:prstClr>
                </a:solidFill>
              </a:rPr>
              <a:t>puede escribir middleware adicional para realizar una variedad de tareas además de la autenticación</a:t>
            </a:r>
            <a:r>
              <a:rPr lang="es-ES" sz="1800" dirty="0" smtClean="0">
                <a:solidFill>
                  <a:prstClr val="black">
                    <a:lumMod val="75000"/>
                    <a:lumOff val="25000"/>
                  </a:prstClr>
                </a:solidFill>
              </a:rPr>
              <a:t>. </a:t>
            </a:r>
            <a:r>
              <a:rPr lang="es-ES" sz="1800" dirty="0">
                <a:solidFill>
                  <a:prstClr val="black">
                    <a:lumMod val="75000"/>
                    <a:lumOff val="25000"/>
                  </a:prstClr>
                </a:solidFill>
              </a:rPr>
              <a:t>Hay varios middleware incluidos en el marco de </a:t>
            </a:r>
            <a:r>
              <a:rPr lang="es-ES" sz="1800" dirty="0" err="1">
                <a:solidFill>
                  <a:prstClr val="black">
                    <a:lumMod val="75000"/>
                    <a:lumOff val="25000"/>
                  </a:prstClr>
                </a:solidFill>
              </a:rPr>
              <a:t>Laravel</a:t>
            </a:r>
            <a:r>
              <a:rPr lang="es-ES" sz="1800" dirty="0">
                <a:solidFill>
                  <a:prstClr val="black">
                    <a:lumMod val="75000"/>
                    <a:lumOff val="25000"/>
                  </a:prstClr>
                </a:solidFill>
              </a:rPr>
              <a:t>, incluido el middleware para autenticación y protección CSRF. Todos estos middleware se encuentran en el </a:t>
            </a:r>
            <a:r>
              <a:rPr lang="es-ES" sz="1800" dirty="0" smtClean="0">
                <a:solidFill>
                  <a:prstClr val="black">
                    <a:lumMod val="75000"/>
                    <a:lumOff val="25000"/>
                  </a:prstClr>
                </a:solidFill>
              </a:rPr>
              <a:t>directorio app/Http/Middleware.</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1028" name="Picture 4" descr="https://miro.medium.com/max/1050/1*RgPEcCE3mHSGR-fS5lXTC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2512" y="4726781"/>
            <a:ext cx="5114638" cy="20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353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603404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Definición/creación de middleware</a:t>
            </a:r>
            <a:endParaRPr lang="es-ES" sz="2600" dirty="0"/>
          </a:p>
        </p:txBody>
      </p:sp>
      <p:sp>
        <p:nvSpPr>
          <p:cNvPr id="6" name="Marcador de contenido 4"/>
          <p:cNvSpPr>
            <a:spLocks noGrp="1"/>
          </p:cNvSpPr>
          <p:nvPr>
            <p:ph sz="half" idx="4294967295"/>
          </p:nvPr>
        </p:nvSpPr>
        <p:spPr>
          <a:xfrm>
            <a:off x="541611" y="1298448"/>
            <a:ext cx="11259092" cy="5221224"/>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Para crear un nuevo middleware, </a:t>
            </a:r>
            <a:r>
              <a:rPr lang="es-ES" sz="1800" dirty="0">
                <a:solidFill>
                  <a:prstClr val="black">
                    <a:lumMod val="75000"/>
                    <a:lumOff val="25000"/>
                  </a:prstClr>
                </a:solidFill>
              </a:rPr>
              <a:t>el comando es: </a:t>
            </a:r>
            <a:r>
              <a:rPr lang="es-ES" sz="1400" dirty="0" err="1">
                <a:solidFill>
                  <a:prstClr val="black">
                    <a:lumMod val="75000"/>
                    <a:lumOff val="25000"/>
                  </a:prstClr>
                </a:solidFill>
                <a:latin typeface="Source Code Pro" panose="020B0509030403020204" pitchFamily="49" charset="0"/>
                <a:ea typeface="Source Code Pro" panose="020B0509030403020204" pitchFamily="49" charset="0"/>
              </a:rPr>
              <a:t>sail</a:t>
            </a:r>
            <a:r>
              <a:rPr lang="es-ES" sz="1400" dirty="0">
                <a:solidFill>
                  <a:prstClr val="black">
                    <a:lumMod val="75000"/>
                    <a:lumOff val="25000"/>
                  </a:prstClr>
                </a:solidFill>
                <a:latin typeface="Source Code Pro" panose="020B0509030403020204" pitchFamily="49" charset="0"/>
                <a:ea typeface="Source Code Pro" panose="020B0509030403020204" pitchFamily="49" charset="0"/>
              </a:rPr>
              <a:t> </a:t>
            </a:r>
            <a:r>
              <a:rPr lang="es-ES" sz="1400" dirty="0" err="1">
                <a:solidFill>
                  <a:prstClr val="black">
                    <a:lumMod val="75000"/>
                    <a:lumOff val="25000"/>
                  </a:prstClr>
                </a:solidFill>
                <a:latin typeface="Source Code Pro" panose="020B0509030403020204" pitchFamily="49" charset="0"/>
                <a:ea typeface="Source Code Pro" panose="020B0509030403020204" pitchFamily="49" charset="0"/>
              </a:rPr>
              <a:t>artisan</a:t>
            </a:r>
            <a:r>
              <a:rPr lang="es-ES" sz="1400" dirty="0">
                <a:solidFill>
                  <a:prstClr val="black">
                    <a:lumMod val="75000"/>
                    <a:lumOff val="25000"/>
                  </a:prstClr>
                </a:solidFill>
                <a:latin typeface="Source Code Pro" panose="020B0509030403020204" pitchFamily="49" charset="0"/>
                <a:ea typeface="Source Code Pro" panose="020B0509030403020204" pitchFamily="49" charset="0"/>
              </a:rPr>
              <a:t> </a:t>
            </a:r>
            <a:r>
              <a:rPr lang="es-ES" sz="1400" dirty="0" err="1" smtClean="0">
                <a:solidFill>
                  <a:prstClr val="black">
                    <a:lumMod val="75000"/>
                    <a:lumOff val="25000"/>
                  </a:prstClr>
                </a:solidFill>
                <a:latin typeface="Source Code Pro" panose="020B0509030403020204" pitchFamily="49" charset="0"/>
                <a:ea typeface="Source Code Pro" panose="020B0509030403020204" pitchFamily="49" charset="0"/>
              </a:rPr>
              <a:t>make:middleware</a:t>
            </a:r>
            <a:r>
              <a:rPr lang="es-ES" sz="1400" dirty="0" smtClean="0">
                <a:solidFill>
                  <a:prstClr val="black">
                    <a:lumMod val="75000"/>
                    <a:lumOff val="25000"/>
                  </a:prstClr>
                </a:solidFill>
                <a:latin typeface="Source Code Pro" panose="020B0509030403020204" pitchFamily="49" charset="0"/>
                <a:ea typeface="Source Code Pro" panose="020B0509030403020204" pitchFamily="49" charset="0"/>
              </a:rPr>
              <a:t> </a:t>
            </a:r>
            <a:r>
              <a:rPr lang="es-ES" sz="1400" dirty="0" err="1" smtClean="0">
                <a:solidFill>
                  <a:prstClr val="black">
                    <a:lumMod val="75000"/>
                    <a:lumOff val="25000"/>
                  </a:prstClr>
                </a:solidFill>
                <a:latin typeface="Source Code Pro" panose="020B0509030403020204" pitchFamily="49" charset="0"/>
                <a:ea typeface="Source Code Pro" panose="020B0509030403020204" pitchFamily="49" charset="0"/>
              </a:rPr>
              <a:t>TokenValidoMiddleware</a:t>
            </a:r>
            <a:endParaRPr lang="es-ES" sz="1400" dirty="0" smtClean="0">
              <a:solidFill>
                <a:prstClr val="black">
                  <a:lumMod val="75000"/>
                  <a:lumOff val="25000"/>
                </a:prstClr>
              </a:solidFill>
              <a:latin typeface="Source Code Pro" panose="020B0509030403020204" pitchFamily="49" charset="0"/>
              <a:ea typeface="Source Code Pro" panose="020B0509030403020204" pitchFamily="49" charset="0"/>
            </a:endParaRPr>
          </a:p>
          <a:p>
            <a:pPr marL="0" indent="0">
              <a:lnSpc>
                <a:spcPct val="150000"/>
              </a:lnSpc>
              <a:spcBef>
                <a:spcPts val="600"/>
              </a:spcBef>
              <a:spcAft>
                <a:spcPts val="600"/>
              </a:spcAft>
              <a:buNone/>
            </a:pPr>
            <a:r>
              <a:rPr lang="es-ES" sz="1800" dirty="0" smtClean="0">
                <a:solidFill>
                  <a:prstClr val="black">
                    <a:lumMod val="75000"/>
                    <a:lumOff val="25000"/>
                  </a:prstClr>
                </a:solidFill>
              </a:rPr>
              <a:t>Este comando creará una nueva clase en el directorio app/Http/Middleware. Esa clase lleva un método “</a:t>
            </a:r>
            <a:r>
              <a:rPr lang="es-ES" sz="1800" b="1" dirty="0" err="1" smtClean="0">
                <a:solidFill>
                  <a:prstClr val="black">
                    <a:lumMod val="75000"/>
                    <a:lumOff val="25000"/>
                  </a:prstClr>
                </a:solidFill>
              </a:rPr>
              <a:t>handle</a:t>
            </a:r>
            <a:r>
              <a:rPr lang="es-ES" sz="1800" dirty="0" smtClean="0">
                <a:solidFill>
                  <a:prstClr val="black">
                    <a:lumMod val="75000"/>
                    <a:lumOff val="25000"/>
                  </a:prstClr>
                </a:solidFill>
              </a:rPr>
              <a:t>” para manejar la petición Http. Podemos acceder a </a:t>
            </a:r>
            <a:r>
              <a:rPr lang="es-ES" sz="1800" b="1" dirty="0" smtClean="0">
                <a:solidFill>
                  <a:prstClr val="black">
                    <a:lumMod val="75000"/>
                    <a:lumOff val="25000"/>
                  </a:prstClr>
                </a:solidFill>
              </a:rPr>
              <a:t>$</a:t>
            </a:r>
            <a:r>
              <a:rPr lang="es-ES" sz="1800" b="1" dirty="0" err="1" smtClean="0">
                <a:solidFill>
                  <a:prstClr val="black">
                    <a:lumMod val="75000"/>
                    <a:lumOff val="25000"/>
                  </a:prstClr>
                </a:solidFill>
              </a:rPr>
              <a:t>request</a:t>
            </a:r>
            <a:r>
              <a:rPr lang="es-ES" sz="1800" dirty="0" smtClean="0">
                <a:solidFill>
                  <a:prstClr val="black">
                    <a:lumMod val="75000"/>
                    <a:lumOff val="25000"/>
                  </a:prstClr>
                </a:solidFill>
              </a:rPr>
              <a:t>, que es la petición, y si hace lo que queremos podremos continuar el flujo básico de la petición redirigiendo a </a:t>
            </a:r>
            <a:r>
              <a:rPr lang="es-ES" sz="1800" b="1" dirty="0" smtClean="0">
                <a:solidFill>
                  <a:prstClr val="black">
                    <a:lumMod val="75000"/>
                    <a:lumOff val="25000"/>
                  </a:prstClr>
                </a:solidFill>
              </a:rPr>
              <a:t>$</a:t>
            </a:r>
            <a:r>
              <a:rPr lang="es-ES" sz="1800" b="1" dirty="0" err="1" smtClean="0">
                <a:solidFill>
                  <a:prstClr val="black">
                    <a:lumMod val="75000"/>
                    <a:lumOff val="25000"/>
                  </a:prstClr>
                </a:solidFill>
              </a:rPr>
              <a:t>next</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a:solidFill>
                  <a:prstClr val="black">
                    <a:lumMod val="75000"/>
                    <a:lumOff val="25000"/>
                  </a:prstClr>
                </a:solidFill>
              </a:rPr>
              <a:t>Es mejor visualizar el middleware como una serie de solicitudes HTTP de "capas" que deben pasar antes de llegar a su aplicación. Cada capa puede examinar la solicitud e incluso rechazarla por completo. U</a:t>
            </a:r>
            <a:r>
              <a:rPr lang="es-ES" sz="1800" dirty="0" smtClean="0">
                <a:solidFill>
                  <a:prstClr val="black">
                    <a:lumMod val="75000"/>
                    <a:lumOff val="25000"/>
                  </a:prstClr>
                </a:solidFill>
              </a:rPr>
              <a:t>n </a:t>
            </a:r>
            <a:r>
              <a:rPr lang="es-ES" sz="1800" dirty="0">
                <a:solidFill>
                  <a:prstClr val="black">
                    <a:lumMod val="75000"/>
                    <a:lumOff val="25000"/>
                  </a:prstClr>
                </a:solidFill>
              </a:rPr>
              <a:t>middleware puede realizar tareas </a:t>
            </a:r>
            <a:r>
              <a:rPr lang="es-ES" sz="1800" i="1" dirty="0">
                <a:solidFill>
                  <a:prstClr val="black">
                    <a:lumMod val="75000"/>
                    <a:lumOff val="25000"/>
                  </a:prstClr>
                </a:solidFill>
              </a:rPr>
              <a:t>antes</a:t>
            </a:r>
            <a:r>
              <a:rPr lang="es-ES" sz="1800" dirty="0">
                <a:solidFill>
                  <a:prstClr val="black">
                    <a:lumMod val="75000"/>
                    <a:lumOff val="25000"/>
                  </a:prstClr>
                </a:solidFill>
              </a:rPr>
              <a:t> o </a:t>
            </a:r>
            <a:r>
              <a:rPr lang="es-ES" sz="1800" i="1" dirty="0">
                <a:solidFill>
                  <a:prstClr val="black">
                    <a:lumMod val="75000"/>
                    <a:lumOff val="25000"/>
                  </a:prstClr>
                </a:solidFill>
              </a:rPr>
              <a:t>después</a:t>
            </a:r>
            <a:r>
              <a:rPr lang="es-ES" sz="1800" dirty="0">
                <a:solidFill>
                  <a:prstClr val="black">
                    <a:lumMod val="75000"/>
                    <a:lumOff val="25000"/>
                  </a:prstClr>
                </a:solidFill>
              </a:rPr>
              <a:t> de pasar la solicitud más profundamente a la </a:t>
            </a:r>
            <a:r>
              <a:rPr lang="es-ES" sz="1800" dirty="0" smtClean="0">
                <a:solidFill>
                  <a:prstClr val="black">
                    <a:lumMod val="75000"/>
                    <a:lumOff val="25000"/>
                  </a:prstClr>
                </a:solidFill>
              </a:rPr>
              <a:t>aplicación.</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1661185" y="4914090"/>
            <a:ext cx="3600635" cy="1428823"/>
          </a:xfrm>
          <a:prstGeom prst="rect">
            <a:avLst/>
          </a:prstGeom>
        </p:spPr>
      </p:pic>
      <p:pic>
        <p:nvPicPr>
          <p:cNvPr id="4" name="Imagen 3"/>
          <p:cNvPicPr>
            <a:picLocks noChangeAspect="1"/>
          </p:cNvPicPr>
          <p:nvPr/>
        </p:nvPicPr>
        <p:blipFill>
          <a:blip r:embed="rId4"/>
          <a:stretch>
            <a:fillRect/>
          </a:stretch>
        </p:blipFill>
        <p:spPr>
          <a:xfrm>
            <a:off x="6381394" y="4831238"/>
            <a:ext cx="3791145" cy="1898748"/>
          </a:xfrm>
          <a:prstGeom prst="rect">
            <a:avLst/>
          </a:prstGeom>
        </p:spPr>
      </p:pic>
    </p:spTree>
    <p:extLst>
      <p:ext uri="{BB962C8B-B14F-4D97-AF65-F5344CB8AC3E}">
        <p14:creationId xmlns:p14="http://schemas.microsoft.com/office/powerpoint/2010/main" val="26202516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603404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Registro de middleware</a:t>
            </a:r>
            <a:endParaRPr lang="es-ES" sz="2600" dirty="0"/>
          </a:p>
        </p:txBody>
      </p:sp>
      <p:sp>
        <p:nvSpPr>
          <p:cNvPr id="6" name="Marcador de contenido 4"/>
          <p:cNvSpPr>
            <a:spLocks noGrp="1"/>
          </p:cNvSpPr>
          <p:nvPr>
            <p:ph sz="half" idx="4294967295"/>
          </p:nvPr>
        </p:nvSpPr>
        <p:spPr>
          <a:xfrm>
            <a:off x="541611" y="1298448"/>
            <a:ext cx="11259092" cy="1117298"/>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Para que se ejecute un middleware durante una solicitud HTTP tendremos que registrarlo en la clase app/Http/</a:t>
            </a:r>
            <a:r>
              <a:rPr lang="es-ES" sz="1800" dirty="0" err="1" smtClean="0">
                <a:solidFill>
                  <a:prstClr val="black">
                    <a:lumMod val="75000"/>
                    <a:lumOff val="25000"/>
                  </a:prstClr>
                </a:solidFill>
              </a:rPr>
              <a:t>Kernel.php</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sp>
        <p:nvSpPr>
          <p:cNvPr id="7" name="Marcador de contenido 4"/>
          <p:cNvSpPr>
            <a:spLocks noGrp="1"/>
          </p:cNvSpPr>
          <p:nvPr>
            <p:ph sz="half" idx="4294967295"/>
          </p:nvPr>
        </p:nvSpPr>
        <p:spPr>
          <a:xfrm>
            <a:off x="541610" y="2415745"/>
            <a:ext cx="4981859" cy="1254211"/>
          </a:xfrm>
        </p:spPr>
        <p:txBody>
          <a:bodyPr vert="horz" lIns="91440" tIns="45720" rIns="91440" bIns="45720" rtlCol="0">
            <a:normAutofit fontScale="85000" lnSpcReduction="20000"/>
          </a:bodyPr>
          <a:lstStyle/>
          <a:p>
            <a:pPr marL="0" indent="0">
              <a:lnSpc>
                <a:spcPct val="150000"/>
              </a:lnSpc>
              <a:spcBef>
                <a:spcPts val="600"/>
              </a:spcBef>
              <a:spcAft>
                <a:spcPts val="600"/>
              </a:spcAft>
              <a:buNone/>
            </a:pPr>
            <a:r>
              <a:rPr lang="es-ES" sz="1800" b="1" dirty="0" smtClean="0">
                <a:solidFill>
                  <a:prstClr val="black">
                    <a:lumMod val="75000"/>
                    <a:lumOff val="25000"/>
                  </a:prstClr>
                </a:solidFill>
              </a:rPr>
              <a:t>Asignación de middleware a rutas</a:t>
            </a:r>
          </a:p>
          <a:p>
            <a:pPr marL="0" indent="0">
              <a:lnSpc>
                <a:spcPct val="150000"/>
              </a:lnSpc>
              <a:spcBef>
                <a:spcPts val="600"/>
              </a:spcBef>
              <a:spcAft>
                <a:spcPts val="600"/>
              </a:spcAft>
              <a:buNone/>
            </a:pPr>
            <a:r>
              <a:rPr lang="es-ES" sz="1800" dirty="0" smtClean="0">
                <a:solidFill>
                  <a:prstClr val="black">
                    <a:lumMod val="75000"/>
                    <a:lumOff val="25000"/>
                  </a:prstClr>
                </a:solidFill>
              </a:rPr>
              <a:t>Se define en app/Http/</a:t>
            </a:r>
            <a:r>
              <a:rPr lang="es-ES" sz="1800" dirty="0" err="1" smtClean="0">
                <a:solidFill>
                  <a:prstClr val="black">
                    <a:lumMod val="75000"/>
                    <a:lumOff val="25000"/>
                  </a:prstClr>
                </a:solidFill>
              </a:rPr>
              <a:t>Kernel.php</a:t>
            </a:r>
            <a:r>
              <a:rPr lang="es-ES" sz="1800" dirty="0" smtClean="0">
                <a:solidFill>
                  <a:prstClr val="black">
                    <a:lumMod val="75000"/>
                    <a:lumOff val="25000"/>
                  </a:prstClr>
                </a:solidFill>
              </a:rPr>
              <a:t> en la propiedad </a:t>
            </a:r>
            <a:r>
              <a:rPr lang="es-ES" sz="1800" i="1" dirty="0" err="1" smtClean="0">
                <a:solidFill>
                  <a:prstClr val="black">
                    <a:lumMod val="75000"/>
                    <a:lumOff val="25000"/>
                  </a:prstClr>
                </a:solidFill>
              </a:rPr>
              <a:t>routeMiddleware</a:t>
            </a:r>
            <a:r>
              <a:rPr lang="es-ES" sz="1800" dirty="0" smtClean="0">
                <a:solidFill>
                  <a:prstClr val="black">
                    <a:lumMod val="75000"/>
                    <a:lumOff val="25000"/>
                  </a:prstClr>
                </a:solidFill>
              </a:rPr>
              <a:t>. Luego se usará en una ruta (</a:t>
            </a:r>
            <a:r>
              <a:rPr lang="es-ES" sz="1800" dirty="0" err="1" smtClean="0">
                <a:solidFill>
                  <a:prstClr val="black">
                    <a:lumMod val="75000"/>
                    <a:lumOff val="25000"/>
                  </a:prstClr>
                </a:solidFill>
              </a:rPr>
              <a:t>web.php</a:t>
            </a:r>
            <a:r>
              <a:rPr lang="es-ES" sz="1800" dirty="0" smtClean="0">
                <a:solidFill>
                  <a:prstClr val="black">
                    <a:lumMod val="75000"/>
                    <a:lumOff val="25000"/>
                  </a:prstClr>
                </a:solidFill>
              </a:rPr>
              <a:t>)</a:t>
            </a: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sp>
        <p:nvSpPr>
          <p:cNvPr id="8" name="Marcador de contenido 4"/>
          <p:cNvSpPr>
            <a:spLocks noGrp="1"/>
          </p:cNvSpPr>
          <p:nvPr>
            <p:ph sz="half" idx="4294967295"/>
          </p:nvPr>
        </p:nvSpPr>
        <p:spPr>
          <a:xfrm>
            <a:off x="5726834" y="2360140"/>
            <a:ext cx="6073869" cy="1705234"/>
          </a:xfrm>
        </p:spPr>
        <p:txBody>
          <a:bodyPr vert="horz" lIns="91440" tIns="45720" rIns="91440" bIns="45720" rtlCol="0">
            <a:normAutofit fontScale="92500" lnSpcReduction="20000"/>
          </a:bodyPr>
          <a:lstStyle/>
          <a:p>
            <a:pPr marL="0" indent="0">
              <a:lnSpc>
                <a:spcPct val="124000"/>
              </a:lnSpc>
              <a:spcBef>
                <a:spcPts val="600"/>
              </a:spcBef>
              <a:spcAft>
                <a:spcPts val="600"/>
              </a:spcAft>
              <a:buNone/>
            </a:pPr>
            <a:r>
              <a:rPr lang="es-ES" sz="1600" b="1" dirty="0" smtClean="0">
                <a:solidFill>
                  <a:prstClr val="black">
                    <a:lumMod val="75000"/>
                    <a:lumOff val="25000"/>
                  </a:prstClr>
                </a:solidFill>
              </a:rPr>
              <a:t>Grupos de middleware</a:t>
            </a:r>
          </a:p>
          <a:p>
            <a:pPr marL="0" indent="0">
              <a:lnSpc>
                <a:spcPct val="124000"/>
              </a:lnSpc>
              <a:spcBef>
                <a:spcPts val="600"/>
              </a:spcBef>
              <a:spcAft>
                <a:spcPts val="600"/>
              </a:spcAft>
              <a:buNone/>
            </a:pPr>
            <a:r>
              <a:rPr lang="es-ES" sz="1600" dirty="0" smtClean="0">
                <a:solidFill>
                  <a:prstClr val="black">
                    <a:lumMod val="75000"/>
                    <a:lumOff val="25000"/>
                  </a:prstClr>
                </a:solidFill>
              </a:rPr>
              <a:t>Podemos agrupar varios middlewares en una sola clase para que sea más fácil asignarlos a rutas. Debes usar la propiedad </a:t>
            </a:r>
            <a:r>
              <a:rPr lang="es-ES" sz="1600" dirty="0" err="1" smtClean="0">
                <a:solidFill>
                  <a:prstClr val="black">
                    <a:lumMod val="75000"/>
                    <a:lumOff val="25000"/>
                  </a:prstClr>
                </a:solidFill>
              </a:rPr>
              <a:t>middlewareGroups</a:t>
            </a:r>
            <a:r>
              <a:rPr lang="es-ES" sz="1600" dirty="0" smtClean="0">
                <a:solidFill>
                  <a:prstClr val="black">
                    <a:lumMod val="75000"/>
                    <a:lumOff val="25000"/>
                  </a:prstClr>
                </a:solidFill>
              </a:rPr>
              <a:t>. Vienen ya dos grupos “web” y “api”</a:t>
            </a:r>
          </a:p>
          <a:p>
            <a:pPr marL="0" indent="0">
              <a:lnSpc>
                <a:spcPct val="124000"/>
              </a:lnSpc>
              <a:spcBef>
                <a:spcPts val="600"/>
              </a:spcBef>
              <a:spcAft>
                <a:spcPts val="600"/>
              </a:spcAft>
              <a:buNone/>
            </a:pPr>
            <a:r>
              <a:rPr lang="es-ES" sz="1400" dirty="0" smtClean="0">
                <a:solidFill>
                  <a:prstClr val="black">
                    <a:lumMod val="75000"/>
                    <a:lumOff val="25000"/>
                  </a:prstClr>
                </a:solidFill>
              </a:rPr>
              <a:t> </a:t>
            </a:r>
          </a:p>
          <a:p>
            <a:pPr marL="0" indent="0">
              <a:lnSpc>
                <a:spcPct val="150000"/>
              </a:lnSpc>
              <a:spcBef>
                <a:spcPts val="600"/>
              </a:spcBef>
              <a:spcAft>
                <a:spcPts val="600"/>
              </a:spcAft>
              <a:buNone/>
            </a:pPr>
            <a:endParaRPr lang="es-ES" sz="1600" dirty="0">
              <a:solidFill>
                <a:prstClr val="black">
                  <a:lumMod val="75000"/>
                  <a:lumOff val="25000"/>
                </a:prstClr>
              </a:solidFill>
            </a:endParaRPr>
          </a:p>
          <a:p>
            <a:pPr marL="0" indent="0">
              <a:lnSpc>
                <a:spcPct val="150000"/>
              </a:lnSpc>
              <a:spcBef>
                <a:spcPts val="600"/>
              </a:spcBef>
              <a:spcAft>
                <a:spcPts val="600"/>
              </a:spcAft>
              <a:buNone/>
            </a:pPr>
            <a:endParaRPr lang="es-ES" sz="1600" dirty="0" smtClean="0">
              <a:solidFill>
                <a:prstClr val="black">
                  <a:lumMod val="75000"/>
                  <a:lumOff val="25000"/>
                </a:prstClr>
              </a:solidFill>
            </a:endParaRPr>
          </a:p>
          <a:p>
            <a:pPr marL="0" indent="0">
              <a:lnSpc>
                <a:spcPct val="150000"/>
              </a:lnSpc>
              <a:spcBef>
                <a:spcPts val="600"/>
              </a:spcBef>
              <a:spcAft>
                <a:spcPts val="600"/>
              </a:spcAft>
              <a:buNone/>
            </a:pPr>
            <a:endParaRPr lang="es-ES" sz="1600" dirty="0" smtClean="0">
              <a:solidFill>
                <a:prstClr val="black">
                  <a:lumMod val="75000"/>
                  <a:lumOff val="25000"/>
                </a:prstClr>
              </a:solidFill>
            </a:endParaRPr>
          </a:p>
          <a:p>
            <a:pPr marL="0" indent="0">
              <a:lnSpc>
                <a:spcPct val="150000"/>
              </a:lnSpc>
              <a:spcBef>
                <a:spcPts val="600"/>
              </a:spcBef>
              <a:spcAft>
                <a:spcPts val="600"/>
              </a:spcAft>
              <a:buNone/>
            </a:pPr>
            <a:endParaRPr lang="es-ES" sz="1600" dirty="0" smtClean="0">
              <a:solidFill>
                <a:prstClr val="black">
                  <a:lumMod val="75000"/>
                  <a:lumOff val="25000"/>
                </a:prstClr>
              </a:solidFill>
            </a:endParaRPr>
          </a:p>
          <a:p>
            <a:pPr marL="0" indent="0">
              <a:lnSpc>
                <a:spcPct val="150000"/>
              </a:lnSpc>
              <a:spcBef>
                <a:spcPts val="600"/>
              </a:spcBef>
              <a:spcAft>
                <a:spcPts val="600"/>
              </a:spcAft>
              <a:buNone/>
            </a:pPr>
            <a:endParaRPr lang="es-ES" sz="1600" dirty="0">
              <a:solidFill>
                <a:prstClr val="black">
                  <a:lumMod val="75000"/>
                  <a:lumOff val="25000"/>
                </a:prstClr>
              </a:solidFill>
            </a:endParaRPr>
          </a:p>
        </p:txBody>
      </p:sp>
      <p:pic>
        <p:nvPicPr>
          <p:cNvPr id="5" name="Imagen 4"/>
          <p:cNvPicPr>
            <a:picLocks noChangeAspect="1"/>
          </p:cNvPicPr>
          <p:nvPr/>
        </p:nvPicPr>
        <p:blipFill>
          <a:blip r:embed="rId3"/>
          <a:stretch>
            <a:fillRect/>
          </a:stretch>
        </p:blipFill>
        <p:spPr>
          <a:xfrm>
            <a:off x="541610" y="3743357"/>
            <a:ext cx="4518521" cy="1926164"/>
          </a:xfrm>
          <a:prstGeom prst="rect">
            <a:avLst/>
          </a:prstGeom>
        </p:spPr>
      </p:pic>
      <p:pic>
        <p:nvPicPr>
          <p:cNvPr id="9" name="Imagen 8"/>
          <p:cNvPicPr>
            <a:picLocks noChangeAspect="1"/>
          </p:cNvPicPr>
          <p:nvPr/>
        </p:nvPicPr>
        <p:blipFill>
          <a:blip r:embed="rId4"/>
          <a:stretch>
            <a:fillRect/>
          </a:stretch>
        </p:blipFill>
        <p:spPr>
          <a:xfrm>
            <a:off x="541610" y="5860598"/>
            <a:ext cx="2921150" cy="882695"/>
          </a:xfrm>
          <a:prstGeom prst="rect">
            <a:avLst/>
          </a:prstGeom>
        </p:spPr>
      </p:pic>
      <p:pic>
        <p:nvPicPr>
          <p:cNvPr id="3" name="Imagen 2"/>
          <p:cNvPicPr>
            <a:picLocks noChangeAspect="1"/>
          </p:cNvPicPr>
          <p:nvPr/>
        </p:nvPicPr>
        <p:blipFill>
          <a:blip r:embed="rId5"/>
          <a:stretch>
            <a:fillRect/>
          </a:stretch>
        </p:blipFill>
        <p:spPr>
          <a:xfrm>
            <a:off x="5822900" y="3669956"/>
            <a:ext cx="4081041" cy="2242321"/>
          </a:xfrm>
          <a:prstGeom prst="rect">
            <a:avLst/>
          </a:prstGeom>
        </p:spPr>
      </p:pic>
      <p:pic>
        <p:nvPicPr>
          <p:cNvPr id="4" name="Imagen 3"/>
          <p:cNvPicPr>
            <a:picLocks noChangeAspect="1"/>
          </p:cNvPicPr>
          <p:nvPr/>
        </p:nvPicPr>
        <p:blipFill>
          <a:blip r:embed="rId6"/>
          <a:stretch>
            <a:fillRect/>
          </a:stretch>
        </p:blipFill>
        <p:spPr>
          <a:xfrm>
            <a:off x="5822900" y="6053846"/>
            <a:ext cx="2578233" cy="755689"/>
          </a:xfrm>
          <a:prstGeom prst="rect">
            <a:avLst/>
          </a:prstGeom>
        </p:spPr>
      </p:pic>
    </p:spTree>
    <p:extLst>
      <p:ext uri="{BB962C8B-B14F-4D97-AF65-F5344CB8AC3E}">
        <p14:creationId xmlns:p14="http://schemas.microsoft.com/office/powerpoint/2010/main" val="28731457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603404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Parámetros de middleware</a:t>
            </a:r>
            <a:endParaRPr lang="es-ES" sz="2600" dirty="0"/>
          </a:p>
        </p:txBody>
      </p:sp>
      <p:sp>
        <p:nvSpPr>
          <p:cNvPr id="6" name="Marcador de contenido 4"/>
          <p:cNvSpPr>
            <a:spLocks noGrp="1"/>
          </p:cNvSpPr>
          <p:nvPr>
            <p:ph sz="half" idx="4294967295"/>
          </p:nvPr>
        </p:nvSpPr>
        <p:spPr>
          <a:xfrm>
            <a:off x="541611" y="1298448"/>
            <a:ext cx="11259092" cy="1852526"/>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El middleware también puede recibir parámetros adicionales. Por ejemplo, si </a:t>
            </a:r>
            <a:r>
              <a:rPr lang="es-ES" sz="1800" dirty="0" smtClean="0">
                <a:solidFill>
                  <a:prstClr val="black">
                    <a:lumMod val="75000"/>
                    <a:lumOff val="25000"/>
                  </a:prstClr>
                </a:solidFill>
              </a:rPr>
              <a:t>la </a:t>
            </a:r>
            <a:r>
              <a:rPr lang="es-ES" sz="1800" dirty="0">
                <a:solidFill>
                  <a:prstClr val="black">
                    <a:lumMod val="75000"/>
                    <a:lumOff val="25000"/>
                  </a:prstClr>
                </a:solidFill>
              </a:rPr>
              <a:t>aplicación necesita verificar que el usuario autenticado tiene un "rol" determinado antes de realizar una acción determinada, puede crear un </a:t>
            </a:r>
            <a:r>
              <a:rPr lang="es-ES" sz="1800" dirty="0" smtClean="0">
                <a:solidFill>
                  <a:prstClr val="black">
                    <a:lumMod val="75000"/>
                    <a:lumOff val="25000"/>
                  </a:prstClr>
                </a:solidFill>
              </a:rPr>
              <a:t>middleware </a:t>
            </a:r>
            <a:r>
              <a:rPr lang="es-ES" sz="1800" dirty="0">
                <a:solidFill>
                  <a:prstClr val="black">
                    <a:lumMod val="75000"/>
                    <a:lumOff val="25000"/>
                  </a:prstClr>
                </a:solidFill>
              </a:rPr>
              <a:t>que reciba un nombre de rol como argumento </a:t>
            </a:r>
            <a:r>
              <a:rPr lang="es-ES" sz="1800" dirty="0" smtClean="0">
                <a:solidFill>
                  <a:prstClr val="black">
                    <a:lumMod val="75000"/>
                    <a:lumOff val="25000"/>
                  </a:prstClr>
                </a:solidFill>
              </a:rPr>
              <a:t>adicional. Los </a:t>
            </a:r>
            <a:r>
              <a:rPr lang="es-ES" sz="1800" dirty="0">
                <a:solidFill>
                  <a:prstClr val="black">
                    <a:lumMod val="75000"/>
                    <a:lumOff val="25000"/>
                  </a:prstClr>
                </a:solidFill>
              </a:rPr>
              <a:t>parámetros de middleware adicionales se pasarán al middleware después del </a:t>
            </a:r>
            <a:r>
              <a:rPr lang="es-ES" sz="1800" dirty="0" smtClean="0">
                <a:solidFill>
                  <a:prstClr val="black">
                    <a:lumMod val="75000"/>
                    <a:lumOff val="25000"/>
                  </a:prstClr>
                </a:solidFill>
              </a:rPr>
              <a:t>argumento $</a:t>
            </a:r>
            <a:r>
              <a:rPr lang="es-ES" sz="1800" dirty="0" err="1" smtClean="0">
                <a:solidFill>
                  <a:prstClr val="black">
                    <a:lumMod val="75000"/>
                    <a:lumOff val="25000"/>
                  </a:prstClr>
                </a:solidFill>
              </a:rPr>
              <a:t>next</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10" name="Imagen 9"/>
          <p:cNvPicPr>
            <a:picLocks noChangeAspect="1"/>
          </p:cNvPicPr>
          <p:nvPr/>
        </p:nvPicPr>
        <p:blipFill>
          <a:blip r:embed="rId3"/>
          <a:stretch>
            <a:fillRect/>
          </a:stretch>
        </p:blipFill>
        <p:spPr>
          <a:xfrm>
            <a:off x="623213" y="3258616"/>
            <a:ext cx="5189467" cy="2159821"/>
          </a:xfrm>
          <a:prstGeom prst="rect">
            <a:avLst/>
          </a:prstGeom>
        </p:spPr>
      </p:pic>
      <p:pic>
        <p:nvPicPr>
          <p:cNvPr id="11" name="Imagen 10"/>
          <p:cNvPicPr>
            <a:picLocks noChangeAspect="1"/>
          </p:cNvPicPr>
          <p:nvPr/>
        </p:nvPicPr>
        <p:blipFill>
          <a:blip r:embed="rId4"/>
          <a:stretch>
            <a:fillRect/>
          </a:stretch>
        </p:blipFill>
        <p:spPr>
          <a:xfrm>
            <a:off x="6300055" y="3258616"/>
            <a:ext cx="4801356" cy="1171281"/>
          </a:xfrm>
          <a:prstGeom prst="rect">
            <a:avLst/>
          </a:prstGeom>
        </p:spPr>
      </p:pic>
    </p:spTree>
    <p:extLst>
      <p:ext uri="{BB962C8B-B14F-4D97-AF65-F5344CB8AC3E}">
        <p14:creationId xmlns:p14="http://schemas.microsoft.com/office/powerpoint/2010/main" val="35638964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6055" y="3051475"/>
            <a:ext cx="6750510" cy="3806526"/>
          </a:xfrm>
          <a:prstGeom prst="rect">
            <a:avLst/>
          </a:prstGeom>
        </p:spPr>
      </p:pic>
      <p:sp>
        <p:nvSpPr>
          <p:cNvPr id="2" name="Título 1"/>
          <p:cNvSpPr>
            <a:spLocks noGrp="1"/>
          </p:cNvSpPr>
          <p:nvPr>
            <p:ph type="title"/>
          </p:nvPr>
        </p:nvSpPr>
        <p:spPr>
          <a:xfrm>
            <a:off x="521215" y="448054"/>
            <a:ext cx="603404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Protección CSRF</a:t>
            </a:r>
            <a:endParaRPr lang="es-ES" sz="2600" dirty="0"/>
          </a:p>
        </p:txBody>
      </p:sp>
      <p:sp>
        <p:nvSpPr>
          <p:cNvPr id="6" name="Marcador de contenido 4"/>
          <p:cNvSpPr>
            <a:spLocks noGrp="1"/>
          </p:cNvSpPr>
          <p:nvPr>
            <p:ph sz="half" idx="4294967295"/>
          </p:nvPr>
        </p:nvSpPr>
        <p:spPr>
          <a:xfrm>
            <a:off x="541611" y="1298448"/>
            <a:ext cx="11259092" cy="3761644"/>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Las falsificaciones de solicitudes entre sitios son un tipo de explotación maliciosa mediante la cual se ejecutan comandos no autorizados en nombre de un usuario autenticado. Afortunadamente, </a:t>
            </a:r>
            <a:r>
              <a:rPr lang="es-ES" sz="1800" dirty="0" err="1">
                <a:solidFill>
                  <a:prstClr val="black">
                    <a:lumMod val="75000"/>
                    <a:lumOff val="25000"/>
                  </a:prstClr>
                </a:solidFill>
              </a:rPr>
              <a:t>Laravel</a:t>
            </a:r>
            <a:r>
              <a:rPr lang="es-ES" sz="1800" dirty="0">
                <a:solidFill>
                  <a:prstClr val="black">
                    <a:lumMod val="75000"/>
                    <a:lumOff val="25000"/>
                  </a:prstClr>
                </a:solidFill>
              </a:rPr>
              <a:t> facilita la protección de su aplicación contra los ataques de falsificación de solicitudes entre sitios (CSRF</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smtClean="0">
                <a:solidFill>
                  <a:prstClr val="black">
                    <a:lumMod val="75000"/>
                    <a:lumOff val="25000"/>
                  </a:prstClr>
                </a:solidFill>
              </a:rPr>
              <a:t>Debemos inspeccionar en </a:t>
            </a:r>
            <a:r>
              <a:rPr lang="es-ES" sz="1800" dirty="0">
                <a:solidFill>
                  <a:prstClr val="black">
                    <a:lumMod val="75000"/>
                    <a:lumOff val="25000"/>
                  </a:prstClr>
                </a:solidFill>
              </a:rPr>
              <a:t>cada </a:t>
            </a:r>
            <a:r>
              <a:rPr lang="es-ES" sz="1800" dirty="0" smtClean="0">
                <a:solidFill>
                  <a:prstClr val="black">
                    <a:lumMod val="75000"/>
                    <a:lumOff val="25000"/>
                  </a:prstClr>
                </a:solidFill>
              </a:rPr>
              <a:t>solicitud (</a:t>
            </a:r>
            <a:r>
              <a:rPr lang="es-ES" sz="1800" dirty="0" err="1" smtClean="0">
                <a:solidFill>
                  <a:prstClr val="black">
                    <a:lumMod val="75000"/>
                    <a:lumOff val="25000"/>
                  </a:prstClr>
                </a:solidFill>
              </a:rPr>
              <a:t>request</a:t>
            </a:r>
            <a:r>
              <a:rPr lang="es-ES" sz="1800" dirty="0" smtClean="0">
                <a:solidFill>
                  <a:prstClr val="black">
                    <a:lumMod val="75000"/>
                    <a:lumOff val="25000"/>
                  </a:prstClr>
                </a:solidFill>
              </a:rPr>
              <a:t>) entrante </a:t>
            </a:r>
            <a:r>
              <a:rPr lang="es-ES" sz="1800" dirty="0">
                <a:solidFill>
                  <a:prstClr val="black">
                    <a:lumMod val="75000"/>
                    <a:lumOff val="25000"/>
                  </a:prstClr>
                </a:solidFill>
              </a:rPr>
              <a:t>un valor de sesión </a:t>
            </a:r>
            <a:r>
              <a:rPr lang="es-ES" sz="1800" dirty="0" smtClean="0">
                <a:solidFill>
                  <a:prstClr val="black">
                    <a:lumMod val="75000"/>
                    <a:lumOff val="25000"/>
                  </a:prstClr>
                </a:solidFill>
              </a:rPr>
              <a:t>secreta </a:t>
            </a:r>
            <a:r>
              <a:rPr lang="es-ES" sz="1800" dirty="0">
                <a:solidFill>
                  <a:prstClr val="black">
                    <a:lumMod val="75000"/>
                    <a:lumOff val="25000"/>
                  </a:prstClr>
                </a:solidFill>
              </a:rPr>
              <a:t>al que la aplicación malintencionada no puede acceder</a:t>
            </a:r>
            <a:r>
              <a:rPr lang="es-ES" sz="1800" dirty="0" smtClean="0">
                <a:solidFill>
                  <a:prstClr val="black">
                    <a:lumMod val="75000"/>
                    <a:lumOff val="25000"/>
                  </a:prstClr>
                </a:solidFill>
              </a:rPr>
              <a:t>.</a:t>
            </a:r>
          </a:p>
          <a:p>
            <a:pPr marL="0" indent="0">
              <a:lnSpc>
                <a:spcPct val="100000"/>
              </a:lnSpc>
              <a:spcBef>
                <a:spcPts val="600"/>
              </a:spcBef>
              <a:spcAft>
                <a:spcPts val="600"/>
              </a:spcAft>
              <a:buNone/>
            </a:pPr>
            <a:r>
              <a:rPr lang="es-ES" sz="1800" dirty="0" smtClean="0">
                <a:solidFill>
                  <a:prstClr val="black">
                    <a:lumMod val="75000"/>
                    <a:lumOff val="25000"/>
                  </a:prstClr>
                </a:solidFill>
              </a:rPr>
              <a:t>Si la petición no lleva el token, no se </a:t>
            </a:r>
          </a:p>
          <a:p>
            <a:pPr marL="0" indent="0">
              <a:lnSpc>
                <a:spcPct val="100000"/>
              </a:lnSpc>
              <a:spcBef>
                <a:spcPts val="600"/>
              </a:spcBef>
              <a:spcAft>
                <a:spcPts val="600"/>
              </a:spcAft>
              <a:buNone/>
            </a:pPr>
            <a:r>
              <a:rPr lang="es-ES" sz="1800" dirty="0" smtClean="0">
                <a:solidFill>
                  <a:prstClr val="black">
                    <a:lumMod val="75000"/>
                    <a:lumOff val="25000"/>
                  </a:prstClr>
                </a:solidFill>
              </a:rPr>
              <a:t>devuelve a quién la solicitó.</a:t>
            </a: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spTree>
    <p:extLst>
      <p:ext uri="{BB962C8B-B14F-4D97-AF65-F5344CB8AC3E}">
        <p14:creationId xmlns:p14="http://schemas.microsoft.com/office/powerpoint/2010/main" val="38848958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603404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Protección CSRF</a:t>
            </a:r>
            <a:endParaRPr lang="es-ES" sz="2600" dirty="0"/>
          </a:p>
        </p:txBody>
      </p:sp>
      <p:sp>
        <p:nvSpPr>
          <p:cNvPr id="6" name="Marcador de contenido 4"/>
          <p:cNvSpPr>
            <a:spLocks noGrp="1"/>
          </p:cNvSpPr>
          <p:nvPr>
            <p:ph sz="half" idx="4294967295"/>
          </p:nvPr>
        </p:nvSpPr>
        <p:spPr>
          <a:xfrm>
            <a:off x="541611" y="1298448"/>
            <a:ext cx="11259092" cy="2402401"/>
          </a:xfrm>
        </p:spPr>
        <p:txBody>
          <a:bodyPr vert="horz" lIns="91440" tIns="45720" rIns="91440" bIns="45720" rtlCol="0">
            <a:normAutofit/>
          </a:bodyPr>
          <a:lstStyle/>
          <a:p>
            <a:pPr marL="0" indent="0">
              <a:lnSpc>
                <a:spcPct val="150000"/>
              </a:lnSpc>
              <a:spcBef>
                <a:spcPts val="600"/>
              </a:spcBef>
              <a:spcAft>
                <a:spcPts val="600"/>
              </a:spcAft>
              <a:buNone/>
            </a:pPr>
            <a:r>
              <a:rPr lang="es-ES" sz="1800" dirty="0" err="1">
                <a:solidFill>
                  <a:prstClr val="black">
                    <a:lumMod val="75000"/>
                    <a:lumOff val="25000"/>
                  </a:prstClr>
                </a:solidFill>
              </a:rPr>
              <a:t>Laravel</a:t>
            </a:r>
            <a:r>
              <a:rPr lang="es-ES" sz="1800" dirty="0">
                <a:solidFill>
                  <a:prstClr val="black">
                    <a:lumMod val="75000"/>
                    <a:lumOff val="25000"/>
                  </a:prstClr>
                </a:solidFill>
              </a:rPr>
              <a:t> genera automáticamente un "token" CSRF para cada sesión de usuario activa administrada por la aplicación. Este token se utiliza para verificar que el usuario autenticado es la persona que realmente realiza las solicitudes a la aplicación. Dado que este token se almacena en la sesión del usuario y cambia cada vez que se regenera la sesión, una aplicación malintencionada no puede acceder a él</a:t>
            </a:r>
            <a:r>
              <a:rPr lang="es-ES" sz="1800" dirty="0" smtClean="0">
                <a:solidFill>
                  <a:prstClr val="black">
                    <a:lumMod val="75000"/>
                    <a:lumOff val="25000"/>
                  </a:prstClr>
                </a:solidFill>
              </a:rPr>
              <a:t>. Se </a:t>
            </a:r>
            <a:r>
              <a:rPr lang="es-ES" sz="1800" dirty="0">
                <a:solidFill>
                  <a:prstClr val="black">
                    <a:lumMod val="75000"/>
                    <a:lumOff val="25000"/>
                  </a:prstClr>
                </a:solidFill>
              </a:rPr>
              <a:t>puede acceder al token CSRF de la sesión actual a través de la sesión de la solicitud o mediante la función auxiliar </a:t>
            </a:r>
            <a:r>
              <a:rPr lang="es-ES" sz="1800" dirty="0" smtClean="0">
                <a:solidFill>
                  <a:prstClr val="black">
                    <a:lumMod val="75000"/>
                    <a:lumOff val="25000"/>
                  </a:prstClr>
                </a:solidFill>
              </a:rPr>
              <a:t> </a:t>
            </a:r>
            <a:r>
              <a:rPr lang="es-ES" sz="1800" i="1" dirty="0" err="1" smtClean="0">
                <a:solidFill>
                  <a:prstClr val="black">
                    <a:lumMod val="75000"/>
                    <a:lumOff val="25000"/>
                  </a:prstClr>
                </a:solidFill>
              </a:rPr>
              <a:t>csrf_token</a:t>
            </a:r>
            <a:r>
              <a:rPr lang="es-ES" sz="1800" dirty="0" smtClean="0">
                <a:solidFill>
                  <a:prstClr val="black">
                    <a:lumMod val="75000"/>
                    <a:lumOff val="25000"/>
                  </a:prstClr>
                </a:solidFill>
              </a:rPr>
              <a:t>:</a:t>
            </a: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7720999" y="3700849"/>
            <a:ext cx="3758429" cy="2116340"/>
          </a:xfrm>
          <a:prstGeom prst="rect">
            <a:avLst/>
          </a:prstGeom>
        </p:spPr>
      </p:pic>
      <p:sp>
        <p:nvSpPr>
          <p:cNvPr id="4" name="Rectángulo 3"/>
          <p:cNvSpPr/>
          <p:nvPr/>
        </p:nvSpPr>
        <p:spPr>
          <a:xfrm>
            <a:off x="541610" y="3834365"/>
            <a:ext cx="7131935" cy="2585323"/>
          </a:xfrm>
          <a:prstGeom prst="rect">
            <a:avLst/>
          </a:prstGeom>
        </p:spPr>
        <p:txBody>
          <a:bodyPr wrap="square">
            <a:spAutoFit/>
          </a:bodyPr>
          <a:lstStyle/>
          <a:p>
            <a:pPr>
              <a:lnSpc>
                <a:spcPct val="150000"/>
              </a:lnSpc>
            </a:pPr>
            <a:r>
              <a:rPr lang="es-ES" dirty="0">
                <a:solidFill>
                  <a:prstClr val="black">
                    <a:lumMod val="75000"/>
                    <a:lumOff val="25000"/>
                  </a:prstClr>
                </a:solidFill>
              </a:rPr>
              <a:t>El </a:t>
            </a:r>
            <a:r>
              <a:rPr lang="es-ES" dirty="0" smtClean="0">
                <a:solidFill>
                  <a:prstClr val="black">
                    <a:lumMod val="75000"/>
                    <a:lumOff val="25000"/>
                  </a:prstClr>
                </a:solidFill>
              </a:rPr>
              <a:t>middleware App\Http\Middleware\</a:t>
            </a:r>
            <a:r>
              <a:rPr lang="es-ES" dirty="0" err="1" smtClean="0">
                <a:solidFill>
                  <a:prstClr val="black">
                    <a:lumMod val="75000"/>
                    <a:lumOff val="25000"/>
                  </a:prstClr>
                </a:solidFill>
              </a:rPr>
              <a:t>VerifyCsrfToken</a:t>
            </a:r>
            <a:r>
              <a:rPr lang="es-ES" dirty="0" smtClean="0">
                <a:solidFill>
                  <a:prstClr val="black">
                    <a:lumMod val="75000"/>
                    <a:lumOff val="25000"/>
                  </a:prstClr>
                </a:solidFill>
              </a:rPr>
              <a:t>, </a:t>
            </a:r>
            <a:r>
              <a:rPr lang="es-ES" dirty="0">
                <a:solidFill>
                  <a:prstClr val="black">
                    <a:lumMod val="75000"/>
                    <a:lumOff val="25000"/>
                  </a:prstClr>
                </a:solidFill>
              </a:rPr>
              <a:t>que se incluye en el </a:t>
            </a:r>
            <a:r>
              <a:rPr lang="es-ES" dirty="0" smtClean="0">
                <a:solidFill>
                  <a:prstClr val="black">
                    <a:lumMod val="75000"/>
                    <a:lumOff val="25000"/>
                  </a:prstClr>
                </a:solidFill>
              </a:rPr>
              <a:t>grupo web </a:t>
            </a:r>
            <a:r>
              <a:rPr lang="es-ES" dirty="0">
                <a:solidFill>
                  <a:prstClr val="black">
                    <a:lumMod val="75000"/>
                    <a:lumOff val="25000"/>
                  </a:prstClr>
                </a:solidFill>
              </a:rPr>
              <a:t>de middleware de forma predeterminada, verificará automáticamente que el token en la entrada de la solicitud coincida con el token almacenado en la sesión. Cuando estos dos tokens coinciden, sabemos que el usuario autenticado es el que inicia la solicitud.</a:t>
            </a:r>
          </a:p>
        </p:txBody>
      </p:sp>
    </p:spTree>
    <p:extLst>
      <p:ext uri="{BB962C8B-B14F-4D97-AF65-F5344CB8AC3E}">
        <p14:creationId xmlns:p14="http://schemas.microsoft.com/office/powerpoint/2010/main" val="366040786"/>
      </p:ext>
    </p:extLst>
  </p:cSld>
  <p:clrMapOvr>
    <a:masterClrMapping/>
  </p:clrMapOvr>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9B45"/>
        </a:solidFill>
        <a:ln>
          <a:solidFill>
            <a:srgbClr val="FF9B4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4199827_TF10001033" id="{B8C5CA47-16DB-4B99-941C-1142562394E7}" vid="{2A9A9F5D-B7A7-4104-8DD8-8C97F33B830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14031</TotalTime>
  <Words>714</Words>
  <Application>Microsoft Office PowerPoint</Application>
  <PresentationFormat>Panorámica</PresentationFormat>
  <Paragraphs>73</Paragraphs>
  <Slides>9</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Calibri</vt:lpstr>
      <vt:lpstr>Segoe UI</vt:lpstr>
      <vt:lpstr>Segoe UI Light</vt:lpstr>
      <vt:lpstr>Source Code Pro</vt:lpstr>
      <vt:lpstr>WelcomeDoc</vt:lpstr>
      <vt:lpstr>Laravel 9</vt:lpstr>
      <vt:lpstr>ÍNDICE</vt:lpstr>
      <vt:lpstr>MIDDLEWARE</vt:lpstr>
      <vt:lpstr>Introducción</vt:lpstr>
      <vt:lpstr>Definición/creación de middleware</vt:lpstr>
      <vt:lpstr>Registro de middleware</vt:lpstr>
      <vt:lpstr>Parámetros de middleware</vt:lpstr>
      <vt:lpstr>Protección CSRF</vt:lpstr>
      <vt:lpstr>Protección CSRF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damos la bienvenida a PowerPoint</dc:title>
  <dc:creator>José Javier Guillén Benavente</dc:creator>
  <cp:keywords/>
  <cp:lastModifiedBy>Familia Guillén Linares</cp:lastModifiedBy>
  <cp:revision>151</cp:revision>
  <dcterms:created xsi:type="dcterms:W3CDTF">2022-09-07T07:55:08Z</dcterms:created>
  <dcterms:modified xsi:type="dcterms:W3CDTF">2023-01-24T18:55:59Z</dcterms:modified>
  <cp:version/>
</cp:coreProperties>
</file>