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handoutMasterIdLst>
    <p:handoutMasterId r:id="rId13"/>
  </p:handoutMasterIdLst>
  <p:sldIdLst>
    <p:sldId id="256" r:id="rId2"/>
    <p:sldId id="276" r:id="rId3"/>
    <p:sldId id="277" r:id="rId4"/>
    <p:sldId id="279" r:id="rId5"/>
    <p:sldId id="280" r:id="rId6"/>
    <p:sldId id="281" r:id="rId7"/>
    <p:sldId id="283" r:id="rId8"/>
    <p:sldId id="284" r:id="rId9"/>
    <p:sldId id="285" r:id="rId10"/>
    <p:sldId id="286" r:id="rId11"/>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damos la bienvenida" id="{E75E278A-FF0E-49A4-B170-79828D63BBAD}">
          <p14:sldIdLst>
            <p14:sldId id="256"/>
            <p14:sldId id="276"/>
            <p14:sldId id="277"/>
          </p14:sldIdLst>
        </p14:section>
        <p14:section name="Diseñar, anotar, trabajar juntos, Información" id="{B9B51309-D148-4332-87C2-07BE32FBCA3B}">
          <p14:sldIdLst>
            <p14:sldId id="279"/>
            <p14:sldId id="280"/>
            <p14:sldId id="281"/>
            <p14:sldId id="283"/>
            <p14:sldId id="284"/>
            <p14:sldId id="285"/>
            <p14:sldId id="286"/>
          </p14:sldIdLst>
        </p14:section>
        <p14:section name="Más información"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FF9B45"/>
    <a:srgbClr val="DD462F"/>
    <a:srgbClr val="F8CFB6"/>
    <a:srgbClr val="F8CAB6"/>
    <a:srgbClr val="923922"/>
    <a:srgbClr val="404040"/>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45" autoAdjust="0"/>
    <p:restoredTop sz="95401" autoAdjust="0"/>
  </p:normalViewPr>
  <p:slideViewPr>
    <p:cSldViewPr snapToGrid="0">
      <p:cViewPr varScale="1">
        <p:scale>
          <a:sx n="103" d="100"/>
          <a:sy n="103" d="100"/>
        </p:scale>
        <p:origin x="76" y="208"/>
      </p:cViewPr>
      <p:guideLst>
        <p:guide orient="horz" pos="2160"/>
        <p:guide pos="3840"/>
      </p:guideLst>
    </p:cSldViewPr>
  </p:slideViewPr>
  <p:outlineViewPr>
    <p:cViewPr>
      <p:scale>
        <a:sx n="33" d="100"/>
        <a:sy n="33" d="100"/>
      </p:scale>
      <p:origin x="0" y="-558"/>
    </p:cViewPr>
  </p:outlineViewPr>
  <p:notesTextViewPr>
    <p:cViewPr>
      <p:scale>
        <a:sx n="1" d="1"/>
        <a:sy n="1" d="1"/>
      </p:scale>
      <p:origin x="0" y="0"/>
    </p:cViewPr>
  </p:notesTextViewPr>
  <p:notesViewPr>
    <p:cSldViewPr snapToGrid="0">
      <p:cViewPr varScale="1">
        <p:scale>
          <a:sx n="90" d="100"/>
          <a:sy n="90" d="100"/>
        </p:scale>
        <p:origin x="272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5B06AB2-534F-4317-9DBC-96E8A8114BFB}" type="datetime1">
              <a:rPr lang="es-ES" smtClean="0"/>
              <a:t>30/01/2023</a:t>
            </a:fld>
            <a:endParaRPr lang="es-E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184219E-1C28-46B7-A379-E02903B01D1A}" type="slidenum">
              <a:rPr lang="es-ES" smtClean="0"/>
              <a:t>‹Nº›</a:t>
            </a:fld>
            <a:endParaRPr lang="es-ES" dirty="0"/>
          </a:p>
        </p:txBody>
      </p:sp>
    </p:spTree>
    <p:extLst>
      <p:ext uri="{BB962C8B-B14F-4D97-AF65-F5344CB8AC3E}">
        <p14:creationId xmlns:p14="http://schemas.microsoft.com/office/powerpoint/2010/main" val="29072522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BC32159-CBC1-4C9D-9A0C-0BE24C8C9CDA}" type="datetime1">
              <a:rPr lang="es-ES" noProof="0" smtClean="0"/>
              <a:t>30/01/2023</a:t>
            </a:fld>
            <a:endParaRPr lang="es-ES" noProof="0"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F61EA0F-A667-4B49-8422-0062BC55E249}" type="slidenum">
              <a:rPr lang="es-ES" noProof="0" smtClean="0"/>
              <a:t>‹Nº›</a:t>
            </a:fld>
            <a:endParaRPr lang="es-ES" noProof="0"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10"/>
          </p:nvPr>
        </p:nvSpPr>
        <p:spPr/>
        <p:txBody>
          <a:bodyPr rtlCol="0"/>
          <a:lstStyle/>
          <a:p>
            <a:pPr rtl="0"/>
            <a:fld id="{DF61EA0F-A667-4B49-8422-0062BC55E249}" type="slidenum">
              <a:rPr lang="es-ES" smtClean="0"/>
              <a:t>1</a:t>
            </a:fld>
            <a:endParaRPr lang="es-E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posición de notas 2"/>
          <p:cNvSpPr>
            <a:spLocks noGrp="1"/>
          </p:cNvSpPr>
          <p:nvPr>
            <p:ph type="body" idx="1"/>
          </p:nvPr>
        </p:nvSpPr>
        <p:spPr/>
        <p:txBody>
          <a:bodyPr rtlCol="0"/>
          <a:lstStyle/>
          <a:p>
            <a:pPr rtl="0"/>
            <a:r>
              <a:rPr lang="es-ES" dirty="0"/>
              <a:t>En el modo Presentación con diapositivas, seleccione la flecha para ir al Centro de introducción a PowerPoint.</a:t>
            </a:r>
          </a:p>
        </p:txBody>
      </p:sp>
      <p:sp>
        <p:nvSpPr>
          <p:cNvPr id="4" name="Marcador de número de diapositiva 3"/>
          <p:cNvSpPr>
            <a:spLocks noGrp="1"/>
          </p:cNvSpPr>
          <p:nvPr>
            <p:ph type="sldNum" sz="quarter" idx="10"/>
          </p:nvPr>
        </p:nvSpPr>
        <p:spPr/>
        <p:txBody>
          <a:bodyPr rtlCol="0"/>
          <a:lstStyle/>
          <a:p>
            <a:pPr rtl="0"/>
            <a:fld id="{DF61EA0F-A667-4B49-8422-0062BC55E249}" type="slidenum">
              <a:rPr lang="es-ES" smtClean="0"/>
              <a:t>3</a:t>
            </a:fld>
            <a:endParaRPr lang="es-ES" dirty="0"/>
          </a:p>
        </p:txBody>
      </p:sp>
    </p:spTree>
    <p:extLst>
      <p:ext uri="{BB962C8B-B14F-4D97-AF65-F5344CB8AC3E}">
        <p14:creationId xmlns:p14="http://schemas.microsoft.com/office/powerpoint/2010/main" val="522268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4</a:t>
            </a:fld>
            <a:endParaRPr lang="es-ES" dirty="0"/>
          </a:p>
        </p:txBody>
      </p:sp>
    </p:spTree>
    <p:extLst>
      <p:ext uri="{BB962C8B-B14F-4D97-AF65-F5344CB8AC3E}">
        <p14:creationId xmlns:p14="http://schemas.microsoft.com/office/powerpoint/2010/main" val="244116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5</a:t>
            </a:fld>
            <a:endParaRPr lang="es-ES" dirty="0"/>
          </a:p>
        </p:txBody>
      </p:sp>
    </p:spTree>
    <p:extLst>
      <p:ext uri="{BB962C8B-B14F-4D97-AF65-F5344CB8AC3E}">
        <p14:creationId xmlns:p14="http://schemas.microsoft.com/office/powerpoint/2010/main" val="2503167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6</a:t>
            </a:fld>
            <a:endParaRPr lang="es-ES" dirty="0"/>
          </a:p>
        </p:txBody>
      </p:sp>
    </p:spTree>
    <p:extLst>
      <p:ext uri="{BB962C8B-B14F-4D97-AF65-F5344CB8AC3E}">
        <p14:creationId xmlns:p14="http://schemas.microsoft.com/office/powerpoint/2010/main" val="2337953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7</a:t>
            </a:fld>
            <a:endParaRPr lang="es-ES" dirty="0"/>
          </a:p>
        </p:txBody>
      </p:sp>
    </p:spTree>
    <p:extLst>
      <p:ext uri="{BB962C8B-B14F-4D97-AF65-F5344CB8AC3E}">
        <p14:creationId xmlns:p14="http://schemas.microsoft.com/office/powerpoint/2010/main" val="4167056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8</a:t>
            </a:fld>
            <a:endParaRPr lang="es-ES" dirty="0"/>
          </a:p>
        </p:txBody>
      </p:sp>
    </p:spTree>
    <p:extLst>
      <p:ext uri="{BB962C8B-B14F-4D97-AF65-F5344CB8AC3E}">
        <p14:creationId xmlns:p14="http://schemas.microsoft.com/office/powerpoint/2010/main" val="3299125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9</a:t>
            </a:fld>
            <a:endParaRPr lang="es-ES" dirty="0"/>
          </a:p>
        </p:txBody>
      </p:sp>
    </p:spTree>
    <p:extLst>
      <p:ext uri="{BB962C8B-B14F-4D97-AF65-F5344CB8AC3E}">
        <p14:creationId xmlns:p14="http://schemas.microsoft.com/office/powerpoint/2010/main" val="2176534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10</a:t>
            </a:fld>
            <a:endParaRPr lang="es-ES" dirty="0"/>
          </a:p>
        </p:txBody>
      </p:sp>
    </p:spTree>
    <p:extLst>
      <p:ext uri="{BB962C8B-B14F-4D97-AF65-F5344CB8AC3E}">
        <p14:creationId xmlns:p14="http://schemas.microsoft.com/office/powerpoint/2010/main" val="4019179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7" name="Rectángulo 6"/>
          <p:cNvSpPr/>
          <p:nvPr userDrawn="1"/>
        </p:nvSpPr>
        <p:spPr>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9" name="Rectángulo 8"/>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cxnSp>
        <p:nvCxnSpPr>
          <p:cNvPr id="12" name="Conector recto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521208" y="368802"/>
            <a:ext cx="4434840" cy="640080"/>
          </a:xfrm>
        </p:spPr>
        <p:txBody>
          <a:bodyPr vert="horz" lIns="91440" tIns="45720" rIns="91440" bIns="45720" rtlCol="0" anchor="b">
            <a:normAutofit/>
          </a:bodyPr>
          <a:lstStyle>
            <a:lvl1pPr marL="0" indent="0" rtl="0">
              <a:lnSpc>
                <a:spcPct val="90000"/>
              </a:lnSpc>
              <a:spcBef>
                <a:spcPct val="30000"/>
              </a:spcBef>
              <a:buFont typeface="Arial" panose="020B0604020202020204" pitchFamily="34" charset="0"/>
              <a:defRPr lang="en-US" sz="2400" b="0" dirty="0">
                <a:solidFill>
                  <a:schemeClr val="bg2">
                    <a:lumMod val="25000"/>
                  </a:schemeClr>
                </a:solidFill>
                <a:ea typeface="+mn-ea"/>
                <a:cs typeface="+mn-cs"/>
              </a:defRPr>
            </a:lvl1pPr>
          </a:lstStyle>
          <a:p>
            <a:pPr marL="0" lvl="0" indent="0" rtl="0">
              <a:lnSpc>
                <a:spcPct val="90000"/>
              </a:lnSpc>
              <a:spcBef>
                <a:spcPct val="30000"/>
              </a:spcBef>
              <a:buFont typeface="Arial" panose="020B0604020202020204" pitchFamily="34" charset="0"/>
            </a:pPr>
            <a:r>
              <a:rPr lang="es-ES" noProof="0"/>
              <a:t>Haga clic para modificar el estilo de título del patrón</a:t>
            </a:r>
            <a:endParaRPr lang="es-ES" noProof="0" dirty="0"/>
          </a:p>
        </p:txBody>
      </p:sp>
      <p:sp>
        <p:nvSpPr>
          <p:cNvPr id="5" name="Marcador de contenido 4"/>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ES" noProof="0"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rtlCol="0"/>
          <a:lstStyle/>
          <a:p>
            <a:pPr rtl="0"/>
            <a:fld id="{AF6F98EE-852A-4139-9CFD-A1A4BA052067}" type="datetime1">
              <a:rPr lang="es-ES" noProof="0" smtClean="0"/>
              <a:t>30/01/2023</a:t>
            </a:fld>
            <a:endParaRPr lang="es-ES" noProof="0" dirty="0"/>
          </a:p>
        </p:txBody>
      </p:sp>
      <p:sp>
        <p:nvSpPr>
          <p:cNvPr id="5" name="Marcador de pie de página 4"/>
          <p:cNvSpPr>
            <a:spLocks noGrp="1"/>
          </p:cNvSpPr>
          <p:nvPr>
            <p:ph type="ftr" sz="quarter" idx="11"/>
          </p:nvPr>
        </p:nvSpPr>
        <p:spPr/>
        <p:txBody>
          <a:bodyPr rtlCol="0"/>
          <a:lstStyle/>
          <a:p>
            <a:pPr rtl="0"/>
            <a:endParaRPr lang="es-ES" noProof="0" dirty="0"/>
          </a:p>
        </p:txBody>
      </p:sp>
      <p:sp>
        <p:nvSpPr>
          <p:cNvPr id="6" name="Marcador de número de diapositiva 5"/>
          <p:cNvSpPr>
            <a:spLocks noGrp="1"/>
          </p:cNvSpPr>
          <p:nvPr>
            <p:ph type="sldNum" sz="quarter" idx="12"/>
          </p:nvPr>
        </p:nvSpPr>
        <p:spPr/>
        <p:txBody>
          <a:bodyPr rtlCol="0"/>
          <a:lstStyle/>
          <a:p>
            <a:pPr rtl="0"/>
            <a:fld id="{9860EDB8-5305-433F-BE41-D7A86D811DB3}" type="slidenum">
              <a:rPr lang="es-ES" noProof="0" smtClean="0"/>
              <a:t>‹Nº›</a:t>
            </a:fld>
            <a:endParaRPr lang="es-ES" noProof="0" dirty="0"/>
          </a:p>
        </p:txBody>
      </p:sp>
      <p:sp>
        <p:nvSpPr>
          <p:cNvPr id="9" name="Rectángulo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sp>
        <p:nvSpPr>
          <p:cNvPr id="10" name="Rectángulo 9"/>
          <p:cNvSpPr/>
          <p:nvPr userDrawn="1"/>
        </p:nvSpPr>
        <p:spPr>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sp>
        <p:nvSpPr>
          <p:cNvPr id="3" name="Título 2"/>
          <p:cNvSpPr>
            <a:spLocks noGrp="1"/>
          </p:cNvSpPr>
          <p:nvPr>
            <p:ph type="title"/>
          </p:nvPr>
        </p:nvSpPr>
        <p:spPr>
          <a:xfrm>
            <a:off x="521208" y="1536192"/>
            <a:ext cx="6263640" cy="640080"/>
          </a:xfrm>
        </p:spPr>
        <p:txBody>
          <a:bodyPr vert="horz" lIns="91440" tIns="45720" rIns="91440" bIns="45720" rtlCol="0" anchor="b">
            <a:normAutofit/>
          </a:bodyPr>
          <a:lstStyle>
            <a:lvl1pPr marL="0" indent="0" rtl="0">
              <a:lnSpc>
                <a:spcPct val="90000"/>
              </a:lnSpc>
              <a:spcBef>
                <a:spcPct val="30000"/>
              </a:spcBef>
              <a:buFont typeface="Arial" panose="020B0604020202020204" pitchFamily="34" charset="0"/>
              <a:defRPr lang="en-US" sz="3600" b="0" dirty="0">
                <a:solidFill>
                  <a:schemeClr val="bg1"/>
                </a:solidFill>
                <a:ea typeface="+mn-ea"/>
                <a:cs typeface="+mn-cs"/>
              </a:defRPr>
            </a:lvl1pPr>
          </a:lstStyle>
          <a:p>
            <a:pPr marL="0" lvl="0" indent="0" rtl="0">
              <a:lnSpc>
                <a:spcPct val="90000"/>
              </a:lnSpc>
              <a:spcBef>
                <a:spcPct val="30000"/>
              </a:spcBef>
              <a:buFont typeface="Arial" panose="020B0604020202020204" pitchFamily="34" charset="0"/>
            </a:pPr>
            <a:r>
              <a:rPr lang="es-ES" noProof="0"/>
              <a:t>Haga clic para modificar el estilo de título del patrón</a:t>
            </a:r>
            <a:endParaRPr lang="es-ES" noProof="0" dirty="0"/>
          </a:p>
        </p:txBody>
      </p:sp>
      <p:sp>
        <p:nvSpPr>
          <p:cNvPr id="8" name="Marcador de posición de contenido 7"/>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ES" noProof="0"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2F50242A-6024-4A62-8CDA-92D97616828A}" type="datetime1">
              <a:rPr lang="es-ES" noProof="0" smtClean="0"/>
              <a:t>30/01/2023</a:t>
            </a:fld>
            <a:endParaRPr lang="es-ES" noProof="0" dirty="0"/>
          </a:p>
        </p:txBody>
      </p:sp>
      <p:sp>
        <p:nvSpPr>
          <p:cNvPr id="5" name="Marcador de pie de página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número de diapositiva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9860EDB8-5305-433F-BE41-D7A86D811DB3}" type="slidenum">
              <a:rPr lang="es-ES" noProof="0" smtClean="0"/>
              <a:t>‹Nº›</a:t>
            </a:fld>
            <a:endParaRPr lang="es-ES" noProof="0"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idx="4294967295"/>
          </p:nvPr>
        </p:nvSpPr>
        <p:spPr>
          <a:xfrm>
            <a:off x="838200" y="1164324"/>
            <a:ext cx="10515600" cy="2387600"/>
          </a:xfrm>
        </p:spPr>
        <p:txBody>
          <a:bodyPr rtlCol="0">
            <a:normAutofit/>
          </a:bodyPr>
          <a:lstStyle/>
          <a:p>
            <a:pPr rtl="0"/>
            <a:r>
              <a:rPr lang="es-ES" sz="4800" dirty="0">
                <a:solidFill>
                  <a:schemeClr val="bg1"/>
                </a:solidFill>
              </a:rPr>
              <a:t>Laravel 9</a:t>
            </a:r>
          </a:p>
        </p:txBody>
      </p:sp>
      <p:sp>
        <p:nvSpPr>
          <p:cNvPr id="3" name="Subtítulo 2"/>
          <p:cNvSpPr>
            <a:spLocks noGrp="1"/>
          </p:cNvSpPr>
          <p:nvPr>
            <p:ph type="subTitle" idx="4294967295"/>
          </p:nvPr>
        </p:nvSpPr>
        <p:spPr>
          <a:xfrm>
            <a:off x="855620" y="2933105"/>
            <a:ext cx="9582736" cy="1137793"/>
          </a:xfrm>
        </p:spPr>
        <p:txBody>
          <a:bodyPr rtlCol="0">
            <a:normAutofit/>
          </a:bodyPr>
          <a:lstStyle/>
          <a:p>
            <a:pPr marL="0" indent="0" rtl="0">
              <a:buNone/>
            </a:pPr>
            <a:r>
              <a:rPr lang="es-ES" sz="2400" dirty="0">
                <a:solidFill>
                  <a:schemeClr val="bg1"/>
                </a:solidFill>
                <a:latin typeface="+mj-lt"/>
              </a:rPr>
              <a:t>Framework PHP</a:t>
            </a:r>
          </a:p>
        </p:txBody>
      </p:sp>
      <p:sp>
        <p:nvSpPr>
          <p:cNvPr id="5" name="CuadroTexto 4">
            <a:extLst>
              <a:ext uri="{FF2B5EF4-FFF2-40B4-BE49-F238E27FC236}">
                <a16:creationId xmlns:a16="http://schemas.microsoft.com/office/drawing/2014/main" id="{684A30A1-7FD6-4298-A1D0-301DDF69D250}"/>
              </a:ext>
            </a:extLst>
          </p:cNvPr>
          <p:cNvSpPr txBox="1"/>
          <p:nvPr/>
        </p:nvSpPr>
        <p:spPr>
          <a:xfrm>
            <a:off x="838200" y="5503176"/>
            <a:ext cx="3187700" cy="381000"/>
          </a:xfrm>
          <a:prstGeom prst="rect">
            <a:avLst/>
          </a:prstGeom>
          <a:noFill/>
        </p:spPr>
        <p:txBody>
          <a:bodyPr wrap="square" rtlCol="0">
            <a:spAutoFit/>
          </a:bodyPr>
          <a:lstStyle/>
          <a:p>
            <a:pPr algn="l"/>
            <a:r>
              <a:rPr lang="es-ES" dirty="0">
                <a:solidFill>
                  <a:schemeClr val="bg1"/>
                </a:solidFill>
                <a:latin typeface="+mj-lt"/>
              </a:rPr>
              <a:t>Javier Guillén Benavente</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ACF6AC-EE60-4591-A0D8-8219FA214860}"/>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BD7C5854-93BC-4152-8FC3-93FDA76119B5}"/>
              </a:ext>
            </a:extLst>
          </p:cNvPr>
          <p:cNvSpPr>
            <a:spLocks noGrp="1"/>
          </p:cNvSpPr>
          <p:nvPr>
            <p:ph sz="quarter" idx="10"/>
          </p:nvPr>
        </p:nvSpPr>
        <p:spPr>
          <a:xfrm>
            <a:off x="539496" y="1435608"/>
            <a:ext cx="5023104" cy="5111242"/>
          </a:xfrm>
        </p:spPr>
        <p:txBody>
          <a:bodyPr>
            <a:normAutofit/>
          </a:bodyPr>
          <a:lstStyle/>
          <a:p>
            <a:pPr>
              <a:buFont typeface="+mj-lt"/>
              <a:buAutoNum type="arabicPeriod"/>
            </a:pPr>
            <a:r>
              <a:rPr lang="es-ES" sz="1700" dirty="0"/>
              <a:t>INTRODUCCIÓN</a:t>
            </a:r>
          </a:p>
          <a:p>
            <a:pPr>
              <a:buFont typeface="+mj-lt"/>
              <a:buAutoNum type="arabicPeriod"/>
            </a:pPr>
            <a:r>
              <a:rPr lang="es-ES" sz="1700" dirty="0"/>
              <a:t>CONCEPTOS DE ARQUITECTURA</a:t>
            </a:r>
          </a:p>
          <a:p>
            <a:pPr>
              <a:buFont typeface="+mj-lt"/>
              <a:buAutoNum type="arabicPeriod"/>
            </a:pPr>
            <a:r>
              <a:rPr lang="es-ES" sz="1700" dirty="0">
                <a:solidFill>
                  <a:schemeClr val="tx1"/>
                </a:solidFill>
              </a:rPr>
              <a:t>PRIMEROS PASOS</a:t>
            </a:r>
          </a:p>
          <a:p>
            <a:pPr>
              <a:buFont typeface="+mj-lt"/>
              <a:buAutoNum type="arabicPeriod"/>
            </a:pPr>
            <a:r>
              <a:rPr lang="es-ES" sz="1700" dirty="0">
                <a:solidFill>
                  <a:schemeClr val="tx1"/>
                </a:solidFill>
              </a:rPr>
              <a:t>ENRUTAMIENTO</a:t>
            </a:r>
          </a:p>
          <a:p>
            <a:pPr>
              <a:buFont typeface="+mj-lt"/>
              <a:buAutoNum type="arabicPeriod"/>
            </a:pPr>
            <a:r>
              <a:rPr lang="es-ES" sz="1700" dirty="0">
                <a:solidFill>
                  <a:schemeClr val="tx1"/>
                </a:solidFill>
              </a:rPr>
              <a:t>MIDDLEWARE</a:t>
            </a:r>
          </a:p>
          <a:p>
            <a:pPr>
              <a:buFont typeface="+mj-lt"/>
              <a:buAutoNum type="arabicPeriod"/>
            </a:pPr>
            <a:r>
              <a:rPr lang="es-ES" sz="1700" dirty="0">
                <a:solidFill>
                  <a:schemeClr val="accent2"/>
                </a:solidFill>
              </a:rPr>
              <a:t>CONTROLADORES</a:t>
            </a:r>
          </a:p>
          <a:p>
            <a:pPr>
              <a:buFont typeface="+mj-lt"/>
              <a:buAutoNum type="arabicPeriod"/>
            </a:pPr>
            <a:r>
              <a:rPr lang="es-ES" sz="1700" dirty="0"/>
              <a:t>REQUESTS</a:t>
            </a:r>
          </a:p>
          <a:p>
            <a:pPr>
              <a:buFont typeface="+mj-lt"/>
              <a:buAutoNum type="arabicPeriod"/>
            </a:pPr>
            <a:r>
              <a:rPr lang="es-ES" sz="1700" dirty="0"/>
              <a:t>RESPONSES</a:t>
            </a:r>
          </a:p>
          <a:p>
            <a:pPr>
              <a:buFont typeface="+mj-lt"/>
              <a:buAutoNum type="arabicPeriod"/>
            </a:pPr>
            <a:r>
              <a:rPr lang="es-ES" sz="1700" dirty="0"/>
              <a:t>VISTAS</a:t>
            </a:r>
          </a:p>
          <a:p>
            <a:pPr>
              <a:buFont typeface="+mj-lt"/>
              <a:buAutoNum type="arabicPeriod"/>
            </a:pPr>
            <a:r>
              <a:rPr lang="es-ES" sz="1700" dirty="0"/>
              <a:t>PLANTILLAS BLADE</a:t>
            </a:r>
          </a:p>
          <a:p>
            <a:pPr>
              <a:buFont typeface="+mj-lt"/>
              <a:buAutoNum type="arabicPeriod"/>
            </a:pPr>
            <a:r>
              <a:rPr lang="es-ES" sz="1700" dirty="0"/>
              <a:t>SESIÓN Y VALIDACIÓN</a:t>
            </a:r>
          </a:p>
          <a:p>
            <a:pPr>
              <a:buFont typeface="+mj-lt"/>
              <a:buAutoNum type="arabicPeriod"/>
            </a:pPr>
            <a:r>
              <a:rPr lang="es-ES" sz="1700" dirty="0"/>
              <a:t>SEGURIDAD</a:t>
            </a:r>
          </a:p>
          <a:p>
            <a:pPr>
              <a:buFont typeface="+mj-lt"/>
              <a:buAutoNum type="arabicPeriod"/>
            </a:pPr>
            <a:r>
              <a:rPr lang="es-ES" sz="1700" dirty="0"/>
              <a:t>BASE DE DATOS</a:t>
            </a:r>
          </a:p>
          <a:p>
            <a:pPr>
              <a:buFont typeface="+mj-lt"/>
              <a:buAutoNum type="arabicPeriod"/>
            </a:pPr>
            <a:r>
              <a:rPr lang="es-ES" sz="1700" dirty="0"/>
              <a:t>ELOQUENT (ORM)</a:t>
            </a:r>
          </a:p>
          <a:p>
            <a:pPr>
              <a:buFont typeface="+mj-lt"/>
              <a:buAutoNum type="arabicPeriod"/>
            </a:pPr>
            <a:endParaRPr lang="es-ES" dirty="0"/>
          </a:p>
          <a:p>
            <a:pPr marL="0" indent="0">
              <a:buNone/>
            </a:pPr>
            <a:endParaRPr lang="es-ES" dirty="0"/>
          </a:p>
          <a:p>
            <a:pPr>
              <a:buFont typeface="+mj-lt"/>
              <a:buAutoNum type="arabicPeriod"/>
            </a:pPr>
            <a:endParaRPr lang="es-ES" dirty="0"/>
          </a:p>
        </p:txBody>
      </p:sp>
    </p:spTree>
    <p:extLst>
      <p:ext uri="{BB962C8B-B14F-4D97-AF65-F5344CB8AC3E}">
        <p14:creationId xmlns:p14="http://schemas.microsoft.com/office/powerpoint/2010/main" val="190087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21208" y="1536192"/>
            <a:ext cx="910742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dirty="0" smtClean="0"/>
              <a:t>CONTROLADORES</a:t>
            </a:r>
            <a:endParaRPr lang="es-ES" dirty="0"/>
          </a:p>
        </p:txBody>
      </p:sp>
      <p:sp>
        <p:nvSpPr>
          <p:cNvPr id="5" name="Marcador de contenido 4"/>
          <p:cNvSpPr>
            <a:spLocks noGrp="1"/>
          </p:cNvSpPr>
          <p:nvPr>
            <p:ph sz="half" idx="4294967295"/>
          </p:nvPr>
        </p:nvSpPr>
        <p:spPr>
          <a:xfrm>
            <a:off x="541611" y="2779776"/>
            <a:ext cx="9793224" cy="3954656"/>
          </a:xfrm>
        </p:spPr>
        <p:txBody>
          <a:bodyPr vert="horz" lIns="91440" tIns="45720" rIns="91440" bIns="45720" rtlCol="0">
            <a:normAutofit/>
          </a:bodyPr>
          <a:lstStyle/>
          <a:p>
            <a:pPr>
              <a:lnSpc>
                <a:spcPct val="150000"/>
              </a:lnSpc>
              <a:spcBef>
                <a:spcPts val="0"/>
              </a:spcBef>
            </a:pPr>
            <a:r>
              <a:rPr lang="es-ES" sz="2000" dirty="0" smtClean="0">
                <a:solidFill>
                  <a:schemeClr val="tx1">
                    <a:lumMod val="75000"/>
                    <a:lumOff val="25000"/>
                  </a:schemeClr>
                </a:solidFill>
                <a:latin typeface="+mj-lt"/>
              </a:rPr>
              <a:t>Introducción</a:t>
            </a:r>
          </a:p>
          <a:p>
            <a:pPr>
              <a:lnSpc>
                <a:spcPct val="150000"/>
              </a:lnSpc>
              <a:spcBef>
                <a:spcPts val="0"/>
              </a:spcBef>
            </a:pPr>
            <a:r>
              <a:rPr lang="es-ES" sz="2000" dirty="0" smtClean="0">
                <a:solidFill>
                  <a:schemeClr val="tx1">
                    <a:lumMod val="75000"/>
                    <a:lumOff val="25000"/>
                  </a:schemeClr>
                </a:solidFill>
                <a:latin typeface="+mj-lt"/>
              </a:rPr>
              <a:t>Controladores </a:t>
            </a:r>
            <a:r>
              <a:rPr lang="es-ES" sz="2000" dirty="0" smtClean="0">
                <a:solidFill>
                  <a:schemeClr val="tx1">
                    <a:lumMod val="75000"/>
                    <a:lumOff val="25000"/>
                  </a:schemeClr>
                </a:solidFill>
                <a:latin typeface="+mj-lt"/>
              </a:rPr>
              <a:t>de middleware</a:t>
            </a:r>
          </a:p>
          <a:p>
            <a:pPr>
              <a:lnSpc>
                <a:spcPct val="150000"/>
              </a:lnSpc>
              <a:spcBef>
                <a:spcPts val="0"/>
              </a:spcBef>
            </a:pPr>
            <a:r>
              <a:rPr lang="es-ES" sz="2000" dirty="0" smtClean="0">
                <a:solidFill>
                  <a:schemeClr val="tx1">
                    <a:lumMod val="75000"/>
                    <a:lumOff val="25000"/>
                  </a:schemeClr>
                </a:solidFill>
                <a:latin typeface="+mj-lt"/>
              </a:rPr>
              <a:t>Controladores de recursos: </a:t>
            </a:r>
          </a:p>
          <a:p>
            <a:pPr lvl="1">
              <a:lnSpc>
                <a:spcPct val="150000"/>
              </a:lnSpc>
              <a:spcBef>
                <a:spcPts val="0"/>
              </a:spcBef>
            </a:pPr>
            <a:r>
              <a:rPr lang="es-ES" sz="1600" dirty="0" smtClean="0">
                <a:solidFill>
                  <a:schemeClr val="tx1">
                    <a:lumMod val="75000"/>
                    <a:lumOff val="25000"/>
                  </a:schemeClr>
                </a:solidFill>
                <a:latin typeface="+mj-lt"/>
              </a:rPr>
              <a:t>Rutas </a:t>
            </a:r>
          </a:p>
          <a:p>
            <a:pPr lvl="1">
              <a:lnSpc>
                <a:spcPct val="150000"/>
              </a:lnSpc>
              <a:spcBef>
                <a:spcPts val="0"/>
              </a:spcBef>
            </a:pPr>
            <a:r>
              <a:rPr lang="es-ES" sz="1600" dirty="0" smtClean="0">
                <a:solidFill>
                  <a:schemeClr val="tx1">
                    <a:lumMod val="75000"/>
                    <a:lumOff val="25000"/>
                  </a:schemeClr>
                </a:solidFill>
                <a:latin typeface="+mj-lt"/>
              </a:rPr>
              <a:t>Controladores </a:t>
            </a:r>
            <a:r>
              <a:rPr lang="es-ES" sz="1600" dirty="0" err="1" smtClean="0">
                <a:solidFill>
                  <a:schemeClr val="tx1">
                    <a:lumMod val="75000"/>
                    <a:lumOff val="25000"/>
                  </a:schemeClr>
                </a:solidFill>
                <a:latin typeface="+mj-lt"/>
              </a:rPr>
              <a:t>singleton</a:t>
            </a:r>
            <a:endParaRPr lang="es-ES" sz="1600" dirty="0" smtClean="0">
              <a:solidFill>
                <a:schemeClr val="tx1">
                  <a:lumMod val="75000"/>
                  <a:lumOff val="25000"/>
                </a:schemeClr>
              </a:solidFill>
              <a:latin typeface="+mj-lt"/>
            </a:endParaRPr>
          </a:p>
          <a:p>
            <a:pPr marL="0" indent="0">
              <a:lnSpc>
                <a:spcPct val="150000"/>
              </a:lnSpc>
              <a:spcBef>
                <a:spcPts val="0"/>
              </a:spcBef>
              <a:buNone/>
            </a:pPr>
            <a:endParaRPr lang="es-ES" sz="2000" dirty="0" smtClean="0">
              <a:solidFill>
                <a:schemeClr val="tx1">
                  <a:lumMod val="75000"/>
                  <a:lumOff val="25000"/>
                </a:schemeClr>
              </a:solidFill>
              <a:latin typeface="+mj-lt"/>
            </a:endParaRPr>
          </a:p>
        </p:txBody>
      </p:sp>
    </p:spTree>
    <p:extLst>
      <p:ext uri="{BB962C8B-B14F-4D97-AF65-F5344CB8AC3E}">
        <p14:creationId xmlns:p14="http://schemas.microsoft.com/office/powerpoint/2010/main" val="18766905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Introducción</a:t>
            </a:r>
            <a:endParaRPr lang="es-ES" sz="2600" dirty="0"/>
          </a:p>
        </p:txBody>
      </p:sp>
      <p:sp>
        <p:nvSpPr>
          <p:cNvPr id="6" name="Marcador de contenido 4"/>
          <p:cNvSpPr>
            <a:spLocks noGrp="1"/>
          </p:cNvSpPr>
          <p:nvPr>
            <p:ph sz="half" idx="4294967295"/>
          </p:nvPr>
        </p:nvSpPr>
        <p:spPr>
          <a:xfrm>
            <a:off x="541611" y="1298448"/>
            <a:ext cx="6464670" cy="5683120"/>
          </a:xfrm>
        </p:spPr>
        <p:txBody>
          <a:bodyPr vert="horz" lIns="91440" tIns="45720" rIns="91440" bIns="45720" rtlCol="0">
            <a:normAutofit lnSpcReduction="10000"/>
          </a:bodyPr>
          <a:lstStyle/>
          <a:p>
            <a:pPr marL="0" indent="0">
              <a:lnSpc>
                <a:spcPct val="150000"/>
              </a:lnSpc>
              <a:spcBef>
                <a:spcPts val="600"/>
              </a:spcBef>
              <a:spcAft>
                <a:spcPts val="600"/>
              </a:spcAft>
              <a:buNone/>
            </a:pPr>
            <a:r>
              <a:rPr lang="es-ES" sz="1800" dirty="0" smtClean="0">
                <a:solidFill>
                  <a:prstClr val="black">
                    <a:lumMod val="75000"/>
                    <a:lumOff val="25000"/>
                  </a:prstClr>
                </a:solidFill>
              </a:rPr>
              <a:t>Los </a:t>
            </a:r>
            <a:r>
              <a:rPr lang="es-ES" sz="1800" dirty="0">
                <a:solidFill>
                  <a:prstClr val="black">
                    <a:lumMod val="75000"/>
                    <a:lumOff val="25000"/>
                  </a:prstClr>
                </a:solidFill>
              </a:rPr>
              <a:t>controladores pueden agrupar la lógica de manejo de solicitudes relacionadas en una sola clase. Por ejemplo, una </a:t>
            </a:r>
            <a:r>
              <a:rPr lang="es-ES" sz="1800" dirty="0" smtClean="0">
                <a:solidFill>
                  <a:prstClr val="black">
                    <a:lumMod val="75000"/>
                    <a:lumOff val="25000"/>
                  </a:prstClr>
                </a:solidFill>
              </a:rPr>
              <a:t>clase </a:t>
            </a:r>
            <a:r>
              <a:rPr lang="es-ES" sz="1800" dirty="0" err="1" smtClean="0">
                <a:solidFill>
                  <a:prstClr val="black">
                    <a:lumMod val="75000"/>
                    <a:lumOff val="25000"/>
                  </a:prstClr>
                </a:solidFill>
              </a:rPr>
              <a:t>UserController</a:t>
            </a:r>
            <a:r>
              <a:rPr lang="es-ES" sz="1800" dirty="0" smtClean="0">
                <a:solidFill>
                  <a:prstClr val="black">
                    <a:lumMod val="75000"/>
                    <a:lumOff val="25000"/>
                  </a:prstClr>
                </a:solidFill>
              </a:rPr>
              <a:t> </a:t>
            </a:r>
            <a:r>
              <a:rPr lang="es-ES" sz="1800" dirty="0">
                <a:solidFill>
                  <a:prstClr val="black">
                    <a:lumMod val="75000"/>
                    <a:lumOff val="25000"/>
                  </a:prstClr>
                </a:solidFill>
              </a:rPr>
              <a:t>podría manejar todas las solicitudes entrantes relacionadas con los usuarios, incluida la visualización, creación, actualización y eliminación de usuarios. </a:t>
            </a:r>
            <a:endParaRPr lang="es-ES" sz="1800" dirty="0" smtClean="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De </a:t>
            </a:r>
            <a:r>
              <a:rPr lang="es-ES" sz="1800" dirty="0">
                <a:solidFill>
                  <a:prstClr val="black">
                    <a:lumMod val="75000"/>
                    <a:lumOff val="25000"/>
                  </a:prstClr>
                </a:solidFill>
              </a:rPr>
              <a:t>forma predeterminada, los controladores se almacenan en el </a:t>
            </a:r>
            <a:r>
              <a:rPr lang="es-ES" sz="1800" dirty="0" smtClean="0">
                <a:solidFill>
                  <a:prstClr val="black">
                    <a:lumMod val="75000"/>
                    <a:lumOff val="25000"/>
                  </a:prstClr>
                </a:solidFill>
              </a:rPr>
              <a:t>directorio </a:t>
            </a:r>
            <a:r>
              <a:rPr lang="es-ES" sz="1800" dirty="0" smtClean="0">
                <a:solidFill>
                  <a:schemeClr val="accent2"/>
                </a:solidFill>
              </a:rPr>
              <a:t>app/Http/</a:t>
            </a:r>
            <a:r>
              <a:rPr lang="es-ES" sz="1800" dirty="0" err="1" smtClean="0">
                <a:solidFill>
                  <a:schemeClr val="accent2"/>
                </a:solidFill>
              </a:rPr>
              <a:t>Controllers</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Se puede definir una </a:t>
            </a:r>
            <a:r>
              <a:rPr lang="es-ES" sz="1800" b="1" dirty="0" smtClean="0">
                <a:solidFill>
                  <a:prstClr val="black">
                    <a:lumMod val="75000"/>
                    <a:lumOff val="25000"/>
                  </a:prstClr>
                </a:solidFill>
              </a:rPr>
              <a:t>ruta</a:t>
            </a:r>
            <a:r>
              <a:rPr lang="es-ES" sz="1800" dirty="0" smtClean="0">
                <a:solidFill>
                  <a:prstClr val="black">
                    <a:lumMod val="75000"/>
                    <a:lumOff val="25000"/>
                  </a:prstClr>
                </a:solidFill>
              </a:rPr>
              <a:t> a un </a:t>
            </a:r>
            <a:r>
              <a:rPr lang="es-ES" sz="1800" b="1" dirty="0" smtClean="0">
                <a:solidFill>
                  <a:prstClr val="black">
                    <a:lumMod val="75000"/>
                    <a:lumOff val="25000"/>
                  </a:prstClr>
                </a:solidFill>
              </a:rPr>
              <a:t>controlador</a:t>
            </a:r>
            <a:r>
              <a:rPr lang="es-ES" sz="1800" dirty="0" smtClean="0">
                <a:solidFill>
                  <a:prstClr val="black">
                    <a:lumMod val="75000"/>
                    <a:lumOff val="25000"/>
                  </a:prstClr>
                </a:solidFill>
              </a:rPr>
              <a:t> de la </a:t>
            </a:r>
            <a:r>
              <a:rPr lang="es-ES" sz="1800" dirty="0">
                <a:solidFill>
                  <a:prstClr val="black">
                    <a:lumMod val="75000"/>
                    <a:lumOff val="25000"/>
                  </a:prstClr>
                </a:solidFill>
              </a:rPr>
              <a:t>siguiente forma, </a:t>
            </a:r>
            <a:r>
              <a:rPr lang="es-ES" sz="1800" dirty="0" smtClean="0">
                <a:solidFill>
                  <a:prstClr val="black">
                    <a:lumMod val="75000"/>
                    <a:lumOff val="25000"/>
                  </a:prstClr>
                </a:solidFill>
              </a:rPr>
              <a:t>así cuando </a:t>
            </a:r>
            <a:r>
              <a:rPr lang="es-ES" sz="1800" dirty="0">
                <a:solidFill>
                  <a:prstClr val="black">
                    <a:lumMod val="75000"/>
                    <a:lumOff val="25000"/>
                  </a:prstClr>
                </a:solidFill>
              </a:rPr>
              <a:t>una solicitud entrante coincide con el URI de ruta especificado, se invocará el </a:t>
            </a:r>
            <a:r>
              <a:rPr lang="es-ES" sz="1800" dirty="0" smtClean="0">
                <a:solidFill>
                  <a:prstClr val="black">
                    <a:lumMod val="75000"/>
                    <a:lumOff val="25000"/>
                  </a:prstClr>
                </a:solidFill>
              </a:rPr>
              <a:t>método show de la clase App\Http\</a:t>
            </a:r>
            <a:r>
              <a:rPr lang="es-ES" sz="1800" dirty="0" err="1" smtClean="0">
                <a:solidFill>
                  <a:prstClr val="black">
                    <a:lumMod val="75000"/>
                    <a:lumOff val="25000"/>
                  </a:prstClr>
                </a:solidFill>
              </a:rPr>
              <a:t>Controllers</a:t>
            </a:r>
            <a:r>
              <a:rPr lang="es-ES" sz="1800" dirty="0" smtClean="0">
                <a:solidFill>
                  <a:prstClr val="black">
                    <a:lumMod val="75000"/>
                    <a:lumOff val="25000"/>
                  </a:prstClr>
                </a:solidFill>
              </a:rPr>
              <a:t>\</a:t>
            </a:r>
            <a:r>
              <a:rPr lang="es-ES" sz="1800" dirty="0" err="1" smtClean="0">
                <a:solidFill>
                  <a:prstClr val="black">
                    <a:lumMod val="75000"/>
                    <a:lumOff val="25000"/>
                  </a:prstClr>
                </a:solidFill>
              </a:rPr>
              <a:t>UserController</a:t>
            </a:r>
            <a:r>
              <a:rPr lang="es-ES" sz="1800" dirty="0" smtClean="0">
                <a:solidFill>
                  <a:prstClr val="black">
                    <a:lumMod val="75000"/>
                    <a:lumOff val="25000"/>
                  </a:prstClr>
                </a:solidFill>
              </a:rPr>
              <a:t> </a:t>
            </a:r>
            <a:r>
              <a:rPr lang="es-ES" sz="1800" dirty="0">
                <a:solidFill>
                  <a:prstClr val="black">
                    <a:lumMod val="75000"/>
                    <a:lumOff val="25000"/>
                  </a:prstClr>
                </a:solidFill>
              </a:rPr>
              <a:t>y los parámetros de ruta se pasarán al método.</a:t>
            </a: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7407875" y="1362317"/>
            <a:ext cx="3830595" cy="4102967"/>
          </a:xfrm>
          <a:prstGeom prst="rect">
            <a:avLst/>
          </a:prstGeom>
        </p:spPr>
      </p:pic>
      <p:pic>
        <p:nvPicPr>
          <p:cNvPr id="4" name="Imagen 3"/>
          <p:cNvPicPr>
            <a:picLocks noChangeAspect="1"/>
          </p:cNvPicPr>
          <p:nvPr/>
        </p:nvPicPr>
        <p:blipFill>
          <a:blip r:embed="rId4"/>
          <a:stretch>
            <a:fillRect/>
          </a:stretch>
        </p:blipFill>
        <p:spPr>
          <a:xfrm>
            <a:off x="7407874" y="5631058"/>
            <a:ext cx="4645623" cy="751207"/>
          </a:xfrm>
          <a:prstGeom prst="rect">
            <a:avLst/>
          </a:prstGeom>
        </p:spPr>
      </p:pic>
    </p:spTree>
    <p:extLst>
      <p:ext uri="{BB962C8B-B14F-4D97-AF65-F5344CB8AC3E}">
        <p14:creationId xmlns:p14="http://schemas.microsoft.com/office/powerpoint/2010/main" val="31713530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Controladores middleware</a:t>
            </a:r>
            <a:endParaRPr lang="es-ES" sz="2600" dirty="0"/>
          </a:p>
        </p:txBody>
      </p:sp>
      <p:sp>
        <p:nvSpPr>
          <p:cNvPr id="6" name="Marcador de contenido 4"/>
          <p:cNvSpPr>
            <a:spLocks noGrp="1"/>
          </p:cNvSpPr>
          <p:nvPr>
            <p:ph sz="half" idx="4294967295"/>
          </p:nvPr>
        </p:nvSpPr>
        <p:spPr>
          <a:xfrm>
            <a:off x="541611" y="1298448"/>
            <a:ext cx="5018930"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Los middleware se pueden asignar directamente a las rutas del controlador pero, también se pueden asignar dentro de los controladores, específicamente en su </a:t>
            </a:r>
            <a:r>
              <a:rPr lang="es-ES" sz="1800" b="1" dirty="0" smtClean="0">
                <a:solidFill>
                  <a:prstClr val="black">
                    <a:lumMod val="75000"/>
                    <a:lumOff val="25000"/>
                  </a:prstClr>
                </a:solidFill>
              </a:rPr>
              <a:t>constructor</a:t>
            </a:r>
            <a:r>
              <a:rPr lang="es-ES" sz="1800" dirty="0" smtClean="0">
                <a:solidFill>
                  <a:prstClr val="black">
                    <a:lumMod val="75000"/>
                    <a:lumOff val="25000"/>
                  </a:prstClr>
                </a:solidFill>
              </a:rPr>
              <a:t>.</a:t>
            </a:r>
          </a:p>
          <a:p>
            <a:pPr marL="0" indent="0">
              <a:lnSpc>
                <a:spcPct val="150000"/>
              </a:lnSpc>
              <a:spcBef>
                <a:spcPts val="600"/>
              </a:spcBef>
              <a:spcAft>
                <a:spcPts val="600"/>
              </a:spcAft>
              <a:buNone/>
            </a:pPr>
            <a:r>
              <a:rPr lang="es-ES" sz="1800" dirty="0" smtClean="0">
                <a:solidFill>
                  <a:prstClr val="black">
                    <a:lumMod val="75000"/>
                    <a:lumOff val="25000"/>
                  </a:prstClr>
                </a:solidFill>
              </a:rPr>
              <a:t>Puedes invocar más de un middleware en un controlador. Antes de ejecutar cada uno de los métodos del controlador deberían ejecutarse sus middlewares y, en caso de error, terminar la petición Http.</a:t>
            </a: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5" name="Imagen 4"/>
          <p:cNvPicPr>
            <a:picLocks noChangeAspect="1"/>
          </p:cNvPicPr>
          <p:nvPr/>
        </p:nvPicPr>
        <p:blipFill>
          <a:blip r:embed="rId3"/>
          <a:stretch>
            <a:fillRect/>
          </a:stretch>
        </p:blipFill>
        <p:spPr>
          <a:xfrm>
            <a:off x="6036334" y="1438276"/>
            <a:ext cx="4918615" cy="3671243"/>
          </a:xfrm>
          <a:prstGeom prst="rect">
            <a:avLst/>
          </a:prstGeom>
        </p:spPr>
      </p:pic>
    </p:spTree>
    <p:extLst>
      <p:ext uri="{BB962C8B-B14F-4D97-AF65-F5344CB8AC3E}">
        <p14:creationId xmlns:p14="http://schemas.microsoft.com/office/powerpoint/2010/main" val="14329149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Controladores de recursos</a:t>
            </a:r>
            <a:endParaRPr lang="es-ES" sz="2600" dirty="0"/>
          </a:p>
        </p:txBody>
      </p:sp>
      <p:sp>
        <p:nvSpPr>
          <p:cNvPr id="6" name="Marcador de contenido 4"/>
          <p:cNvSpPr>
            <a:spLocks noGrp="1"/>
          </p:cNvSpPr>
          <p:nvPr>
            <p:ph sz="half" idx="4294967295"/>
          </p:nvPr>
        </p:nvSpPr>
        <p:spPr>
          <a:xfrm>
            <a:off x="541610" y="1298448"/>
            <a:ext cx="11512406"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Si piensa en cada modelo de </a:t>
            </a:r>
            <a:r>
              <a:rPr lang="es-ES" sz="1800" dirty="0" err="1">
                <a:solidFill>
                  <a:prstClr val="black">
                    <a:lumMod val="75000"/>
                    <a:lumOff val="25000"/>
                  </a:prstClr>
                </a:solidFill>
              </a:rPr>
              <a:t>Eloquent</a:t>
            </a:r>
            <a:r>
              <a:rPr lang="es-ES" sz="1800" dirty="0">
                <a:solidFill>
                  <a:prstClr val="black">
                    <a:lumMod val="75000"/>
                    <a:lumOff val="25000"/>
                  </a:prstClr>
                </a:solidFill>
              </a:rPr>
              <a:t> en su aplicación como un "recurso", es típico realizar los mismos conjuntos de acciones contra cada recurso en su aplicación. Por ejemplo, imagine que su aplicación contiene un </a:t>
            </a:r>
            <a:r>
              <a:rPr lang="es-ES" sz="1800" b="1" dirty="0" smtClean="0">
                <a:solidFill>
                  <a:prstClr val="black">
                    <a:lumMod val="75000"/>
                    <a:lumOff val="25000"/>
                  </a:prstClr>
                </a:solidFill>
              </a:rPr>
              <a:t>modelo</a:t>
            </a:r>
            <a:r>
              <a:rPr lang="es-ES" sz="1800" dirty="0" smtClean="0">
                <a:solidFill>
                  <a:prstClr val="black">
                    <a:lumMod val="75000"/>
                    <a:lumOff val="25000"/>
                  </a:prstClr>
                </a:solidFill>
              </a:rPr>
              <a:t> </a:t>
            </a:r>
            <a:r>
              <a:rPr lang="es-ES" sz="1800" dirty="0" err="1" smtClean="0">
                <a:solidFill>
                  <a:prstClr val="black">
                    <a:lumMod val="75000"/>
                    <a:lumOff val="25000"/>
                  </a:prstClr>
                </a:solidFill>
              </a:rPr>
              <a:t>Movie</a:t>
            </a:r>
            <a:r>
              <a:rPr lang="es-ES" sz="1800" dirty="0" smtClean="0">
                <a:solidFill>
                  <a:prstClr val="black">
                    <a:lumMod val="75000"/>
                    <a:lumOff val="25000"/>
                  </a:prstClr>
                </a:solidFill>
              </a:rPr>
              <a:t>, entonces, es </a:t>
            </a:r>
            <a:r>
              <a:rPr lang="es-ES" sz="1800" dirty="0">
                <a:solidFill>
                  <a:prstClr val="black">
                    <a:lumMod val="75000"/>
                    <a:lumOff val="25000"/>
                  </a:prstClr>
                </a:solidFill>
              </a:rPr>
              <a:t>probable que los usuarios puedan crear, leer, actualizar o eliminar estos recursos</a:t>
            </a:r>
            <a:r>
              <a:rPr lang="es-ES" sz="1800" dirty="0" smtClean="0">
                <a:solidFill>
                  <a:prstClr val="black">
                    <a:lumMod val="75000"/>
                    <a:lumOff val="25000"/>
                  </a:prstClr>
                </a:solidFill>
              </a:rPr>
              <a:t>.</a:t>
            </a:r>
          </a:p>
          <a:p>
            <a:pPr marL="0" indent="0">
              <a:lnSpc>
                <a:spcPct val="150000"/>
              </a:lnSpc>
              <a:spcBef>
                <a:spcPts val="600"/>
              </a:spcBef>
              <a:spcAft>
                <a:spcPts val="600"/>
              </a:spcAft>
              <a:buNone/>
            </a:pPr>
            <a:r>
              <a:rPr lang="es-ES" sz="1800" dirty="0">
                <a:solidFill>
                  <a:prstClr val="black">
                    <a:lumMod val="75000"/>
                    <a:lumOff val="25000"/>
                  </a:prstClr>
                </a:solidFill>
              </a:rPr>
              <a:t>Debido a este caso de uso común, el enrutamiento de recursos de </a:t>
            </a:r>
            <a:r>
              <a:rPr lang="es-ES" sz="1800" dirty="0" err="1">
                <a:solidFill>
                  <a:prstClr val="black">
                    <a:lumMod val="75000"/>
                    <a:lumOff val="25000"/>
                  </a:prstClr>
                </a:solidFill>
              </a:rPr>
              <a:t>Laravel</a:t>
            </a:r>
            <a:r>
              <a:rPr lang="es-ES" sz="1800" dirty="0">
                <a:solidFill>
                  <a:prstClr val="black">
                    <a:lumMod val="75000"/>
                    <a:lumOff val="25000"/>
                  </a:prstClr>
                </a:solidFill>
              </a:rPr>
              <a:t> asigna las rutas típicas de creación, lectura, actualización y eliminación ("CRUD") a un controlador con una sola línea de código. Para comenzar, podemos usar la opción </a:t>
            </a:r>
            <a:r>
              <a:rPr lang="es-ES" sz="1800" b="1" dirty="0" err="1" smtClean="0">
                <a:solidFill>
                  <a:prstClr val="black">
                    <a:lumMod val="75000"/>
                    <a:lumOff val="25000"/>
                  </a:prstClr>
                </a:solidFill>
              </a:rPr>
              <a:t>make:controller</a:t>
            </a:r>
            <a:r>
              <a:rPr lang="es-ES" sz="1800" dirty="0" smtClean="0">
                <a:solidFill>
                  <a:prstClr val="black">
                    <a:lumMod val="75000"/>
                    <a:lumOff val="25000"/>
                  </a:prstClr>
                </a:solidFill>
              </a:rPr>
              <a:t> del </a:t>
            </a:r>
            <a:r>
              <a:rPr lang="es-ES" sz="1800" dirty="0">
                <a:solidFill>
                  <a:prstClr val="black">
                    <a:lumMod val="75000"/>
                    <a:lumOff val="25000"/>
                  </a:prstClr>
                </a:solidFill>
              </a:rPr>
              <a:t>comando </a:t>
            </a:r>
            <a:r>
              <a:rPr lang="es-ES" sz="1800" dirty="0" err="1">
                <a:solidFill>
                  <a:prstClr val="black">
                    <a:lumMod val="75000"/>
                    <a:lumOff val="25000"/>
                  </a:prstClr>
                </a:solidFill>
              </a:rPr>
              <a:t>Artisan</a:t>
            </a:r>
            <a:r>
              <a:rPr lang="es-ES" sz="1800" dirty="0">
                <a:solidFill>
                  <a:prstClr val="black">
                    <a:lumMod val="75000"/>
                    <a:lumOff val="25000"/>
                  </a:prstClr>
                </a:solidFill>
              </a:rPr>
              <a:t> </a:t>
            </a:r>
            <a:r>
              <a:rPr lang="es-ES" sz="1800" b="1" dirty="0" smtClean="0">
                <a:solidFill>
                  <a:prstClr val="black">
                    <a:lumMod val="75000"/>
                    <a:lumOff val="25000"/>
                  </a:prstClr>
                </a:solidFill>
              </a:rPr>
              <a:t>–</a:t>
            </a:r>
            <a:r>
              <a:rPr lang="es-ES" sz="1800" b="1" dirty="0" err="1" smtClean="0">
                <a:solidFill>
                  <a:prstClr val="black">
                    <a:lumMod val="75000"/>
                    <a:lumOff val="25000"/>
                  </a:prstClr>
                </a:solidFill>
              </a:rPr>
              <a:t>resource</a:t>
            </a:r>
            <a:r>
              <a:rPr lang="es-ES" sz="1800" b="1" dirty="0" smtClean="0">
                <a:solidFill>
                  <a:prstClr val="black">
                    <a:lumMod val="75000"/>
                    <a:lumOff val="25000"/>
                  </a:prstClr>
                </a:solidFill>
              </a:rPr>
              <a:t> </a:t>
            </a:r>
            <a:r>
              <a:rPr lang="es-ES" sz="1800" dirty="0" smtClean="0">
                <a:solidFill>
                  <a:prstClr val="black">
                    <a:lumMod val="75000"/>
                    <a:lumOff val="25000"/>
                  </a:prstClr>
                </a:solidFill>
              </a:rPr>
              <a:t>para </a:t>
            </a:r>
            <a:r>
              <a:rPr lang="es-ES" sz="1800" dirty="0">
                <a:solidFill>
                  <a:prstClr val="black">
                    <a:lumMod val="75000"/>
                    <a:lumOff val="25000"/>
                  </a:prstClr>
                </a:solidFill>
              </a:rPr>
              <a:t>crear rápidamente un controlador para manejar estas </a:t>
            </a:r>
            <a:r>
              <a:rPr lang="es-ES" sz="1800" dirty="0" smtClean="0">
                <a:solidFill>
                  <a:prstClr val="black">
                    <a:lumMod val="75000"/>
                    <a:lumOff val="25000"/>
                  </a:prstClr>
                </a:solidFill>
              </a:rPr>
              <a:t>acciones.</a:t>
            </a: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El controlador va a tener un método por cada una de las operaciones de recursos disponibles (CRUD), y ya podríamos registrar una </a:t>
            </a:r>
            <a:r>
              <a:rPr lang="es-ES" sz="1800" b="1" dirty="0" smtClean="0">
                <a:solidFill>
                  <a:prstClr val="black">
                    <a:lumMod val="75000"/>
                    <a:lumOff val="25000"/>
                  </a:prstClr>
                </a:solidFill>
              </a:rPr>
              <a:t>ruta de recursos </a:t>
            </a:r>
            <a:r>
              <a:rPr lang="es-ES" sz="1800" dirty="0" smtClean="0">
                <a:solidFill>
                  <a:prstClr val="black">
                    <a:lumMod val="75000"/>
                    <a:lumOff val="25000"/>
                  </a:prstClr>
                </a:solidFill>
              </a:rPr>
              <a:t>que apunte al controlador. </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5013473" y="4214149"/>
            <a:ext cx="5402727" cy="465190"/>
          </a:xfrm>
          <a:prstGeom prst="rect">
            <a:avLst/>
          </a:prstGeom>
        </p:spPr>
      </p:pic>
      <p:pic>
        <p:nvPicPr>
          <p:cNvPr id="4" name="Imagen 3"/>
          <p:cNvPicPr>
            <a:picLocks noChangeAspect="1"/>
          </p:cNvPicPr>
          <p:nvPr/>
        </p:nvPicPr>
        <p:blipFill>
          <a:blip r:embed="rId4"/>
          <a:stretch>
            <a:fillRect/>
          </a:stretch>
        </p:blipFill>
        <p:spPr>
          <a:xfrm>
            <a:off x="5013473" y="6072222"/>
            <a:ext cx="5612118" cy="458323"/>
          </a:xfrm>
          <a:prstGeom prst="rect">
            <a:avLst/>
          </a:prstGeom>
        </p:spPr>
      </p:pic>
    </p:spTree>
    <p:extLst>
      <p:ext uri="{BB962C8B-B14F-4D97-AF65-F5344CB8AC3E}">
        <p14:creationId xmlns:p14="http://schemas.microsoft.com/office/powerpoint/2010/main" val="3777896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Controladores de recursos</a:t>
            </a:r>
            <a:endParaRPr lang="es-ES" sz="2600" dirty="0"/>
          </a:p>
        </p:txBody>
      </p:sp>
      <p:sp>
        <p:nvSpPr>
          <p:cNvPr id="6" name="Marcador de contenido 4"/>
          <p:cNvSpPr>
            <a:spLocks noGrp="1"/>
          </p:cNvSpPr>
          <p:nvPr>
            <p:ph sz="half" idx="4294967295"/>
          </p:nvPr>
        </p:nvSpPr>
        <p:spPr>
          <a:xfrm>
            <a:off x="541610" y="1298448"/>
            <a:ext cx="11512406"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Esta declaración de ruta única crea </a:t>
            </a:r>
            <a:r>
              <a:rPr lang="es-ES" sz="1800" i="1" dirty="0">
                <a:solidFill>
                  <a:prstClr val="black">
                    <a:lumMod val="75000"/>
                    <a:lumOff val="25000"/>
                  </a:prstClr>
                </a:solidFill>
              </a:rPr>
              <a:t>múltiples rutas </a:t>
            </a:r>
            <a:r>
              <a:rPr lang="es-ES" sz="1800" dirty="0">
                <a:solidFill>
                  <a:prstClr val="black">
                    <a:lumMod val="75000"/>
                    <a:lumOff val="25000"/>
                  </a:prstClr>
                </a:solidFill>
              </a:rPr>
              <a:t>para manejar una variedad de acciones en el recurso. El controlador generado ya tendrá métodos </a:t>
            </a:r>
            <a:r>
              <a:rPr lang="es-ES" sz="1800" dirty="0" smtClean="0">
                <a:solidFill>
                  <a:prstClr val="black">
                    <a:lumMod val="75000"/>
                    <a:lumOff val="25000"/>
                  </a:prstClr>
                </a:solidFill>
              </a:rPr>
              <a:t>para </a:t>
            </a:r>
            <a:r>
              <a:rPr lang="es-ES" sz="1800" dirty="0">
                <a:solidFill>
                  <a:prstClr val="black">
                    <a:lumMod val="75000"/>
                    <a:lumOff val="25000"/>
                  </a:prstClr>
                </a:solidFill>
              </a:rPr>
              <a:t>cada una de estas acciones. Recuerde, siempre puede obtener una descripción general rápida de las rutas de su aplicación ejecutando el </a:t>
            </a:r>
            <a:r>
              <a:rPr lang="es-ES" sz="1800" dirty="0" smtClean="0">
                <a:solidFill>
                  <a:prstClr val="black">
                    <a:lumMod val="75000"/>
                    <a:lumOff val="25000"/>
                  </a:prstClr>
                </a:solidFill>
              </a:rPr>
              <a:t>comando </a:t>
            </a:r>
            <a:r>
              <a:rPr lang="es-ES" sz="1800" dirty="0" err="1" smtClean="0">
                <a:solidFill>
                  <a:prstClr val="black">
                    <a:lumMod val="75000"/>
                    <a:lumOff val="25000"/>
                  </a:prstClr>
                </a:solidFill>
              </a:rPr>
              <a:t>Artisan</a:t>
            </a:r>
            <a:r>
              <a:rPr lang="es-ES" sz="1800" dirty="0" smtClean="0">
                <a:solidFill>
                  <a:prstClr val="black">
                    <a:lumMod val="75000"/>
                    <a:lumOff val="25000"/>
                  </a:prstClr>
                </a:solidFill>
              </a:rPr>
              <a:t> </a:t>
            </a:r>
            <a:r>
              <a:rPr lang="es-ES" sz="1800" b="1" dirty="0" err="1" smtClean="0">
                <a:solidFill>
                  <a:prstClr val="black">
                    <a:lumMod val="75000"/>
                    <a:lumOff val="25000"/>
                  </a:prstClr>
                </a:solidFill>
              </a:rPr>
              <a:t>route:list</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5" name="Imagen 4"/>
          <p:cNvPicPr>
            <a:picLocks noChangeAspect="1"/>
          </p:cNvPicPr>
          <p:nvPr/>
        </p:nvPicPr>
        <p:blipFill>
          <a:blip r:embed="rId3"/>
          <a:stretch>
            <a:fillRect/>
          </a:stretch>
        </p:blipFill>
        <p:spPr>
          <a:xfrm>
            <a:off x="2824046" y="2859898"/>
            <a:ext cx="6527407" cy="3658291"/>
          </a:xfrm>
          <a:prstGeom prst="rect">
            <a:avLst/>
          </a:prstGeom>
        </p:spPr>
      </p:pic>
    </p:spTree>
    <p:extLst>
      <p:ext uri="{BB962C8B-B14F-4D97-AF65-F5344CB8AC3E}">
        <p14:creationId xmlns:p14="http://schemas.microsoft.com/office/powerpoint/2010/main" val="28810817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4" y="448054"/>
            <a:ext cx="6268823"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Controladores de recursos</a:t>
            </a:r>
            <a:endParaRPr lang="es-ES" sz="2600" dirty="0"/>
          </a:p>
        </p:txBody>
      </p:sp>
      <p:sp>
        <p:nvSpPr>
          <p:cNvPr id="6" name="Marcador de contenido 4"/>
          <p:cNvSpPr>
            <a:spLocks noGrp="1"/>
          </p:cNvSpPr>
          <p:nvPr>
            <p:ph sz="half" idx="4294967295"/>
          </p:nvPr>
        </p:nvSpPr>
        <p:spPr>
          <a:xfrm>
            <a:off x="541610" y="1298448"/>
            <a:ext cx="11512406" cy="5683120"/>
          </a:xfrm>
        </p:spPr>
        <p:txBody>
          <a:bodyPr vert="horz" lIns="91440" tIns="45720" rIns="91440" bIns="45720" rtlCol="0">
            <a:normAutofit/>
          </a:bodyPr>
          <a:lstStyle/>
          <a:p>
            <a:pPr marL="0" indent="0">
              <a:lnSpc>
                <a:spcPct val="150000"/>
              </a:lnSpc>
              <a:spcBef>
                <a:spcPts val="600"/>
              </a:spcBef>
              <a:spcAft>
                <a:spcPts val="600"/>
              </a:spcAft>
              <a:buNone/>
            </a:pPr>
            <a:r>
              <a:rPr lang="es-ES" sz="2000" b="1" dirty="0" smtClean="0">
                <a:solidFill>
                  <a:prstClr val="black">
                    <a:lumMod val="75000"/>
                    <a:lumOff val="25000"/>
                  </a:prstClr>
                </a:solidFill>
              </a:rPr>
              <a:t>Rutas parciales</a:t>
            </a:r>
          </a:p>
          <a:p>
            <a:pPr marL="0" indent="0">
              <a:lnSpc>
                <a:spcPct val="150000"/>
              </a:lnSpc>
              <a:spcBef>
                <a:spcPts val="600"/>
              </a:spcBef>
              <a:spcAft>
                <a:spcPts val="600"/>
              </a:spcAft>
              <a:buNone/>
            </a:pPr>
            <a:r>
              <a:rPr lang="es-ES" sz="1800" dirty="0" smtClean="0">
                <a:solidFill>
                  <a:prstClr val="black">
                    <a:lumMod val="75000"/>
                    <a:lumOff val="25000"/>
                  </a:prstClr>
                </a:solidFill>
              </a:rPr>
              <a:t>A las rutas de recursos se le puede limitar el subconjunto de acciones que el controlador debe manejar en lugar del conjunto completo de acciones predeterminadas.</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r>
              <a:rPr lang="es-ES" sz="2000" b="1" dirty="0" smtClean="0">
                <a:solidFill>
                  <a:prstClr val="black">
                    <a:lumMod val="75000"/>
                    <a:lumOff val="25000"/>
                  </a:prstClr>
                </a:solidFill>
              </a:rPr>
              <a:t>Rutas de API</a:t>
            </a:r>
          </a:p>
          <a:p>
            <a:pPr marL="0" indent="0">
              <a:lnSpc>
                <a:spcPct val="150000"/>
              </a:lnSpc>
              <a:spcBef>
                <a:spcPts val="600"/>
              </a:spcBef>
              <a:spcAft>
                <a:spcPts val="600"/>
              </a:spcAft>
              <a:buNone/>
            </a:pPr>
            <a:r>
              <a:rPr lang="es-ES" sz="1800" dirty="0">
                <a:solidFill>
                  <a:prstClr val="black">
                    <a:lumMod val="75000"/>
                    <a:lumOff val="25000"/>
                  </a:prstClr>
                </a:solidFill>
              </a:rPr>
              <a:t>Al declarar rutas de recursos que consumirán las API, normalmente deseará excluir las rutas que presenten plantillas HTML como </a:t>
            </a:r>
            <a:r>
              <a:rPr lang="es-ES" sz="1800" dirty="0" err="1" smtClean="0">
                <a:solidFill>
                  <a:prstClr val="black">
                    <a:lumMod val="75000"/>
                    <a:lumOff val="25000"/>
                  </a:prstClr>
                </a:solidFill>
              </a:rPr>
              <a:t>create</a:t>
            </a:r>
            <a:r>
              <a:rPr lang="es-ES" sz="1800" dirty="0" smtClean="0">
                <a:solidFill>
                  <a:prstClr val="black">
                    <a:lumMod val="75000"/>
                    <a:lumOff val="25000"/>
                  </a:prstClr>
                </a:solidFill>
              </a:rPr>
              <a:t> y </a:t>
            </a:r>
            <a:r>
              <a:rPr lang="es-ES" sz="1800" dirty="0">
                <a:solidFill>
                  <a:prstClr val="black">
                    <a:lumMod val="75000"/>
                    <a:lumOff val="25000"/>
                  </a:prstClr>
                </a:solidFill>
              </a:rPr>
              <a:t>edit. </a:t>
            </a:r>
            <a:r>
              <a:rPr lang="es-ES" sz="1800" dirty="0" smtClean="0">
                <a:solidFill>
                  <a:prstClr val="black">
                    <a:lumMod val="75000"/>
                    <a:lumOff val="25000"/>
                  </a:prstClr>
                </a:solidFill>
              </a:rPr>
              <a:t>Utilizaremos el método </a:t>
            </a:r>
            <a:r>
              <a:rPr lang="es-ES" sz="1800" b="1" dirty="0" err="1" smtClean="0">
                <a:solidFill>
                  <a:prstClr val="black">
                    <a:lumMod val="75000"/>
                    <a:lumOff val="25000"/>
                  </a:prstClr>
                </a:solidFill>
              </a:rPr>
              <a:t>apiResource</a:t>
            </a:r>
            <a:r>
              <a:rPr lang="es-ES" sz="1800" dirty="0" smtClean="0">
                <a:solidFill>
                  <a:prstClr val="black">
                    <a:lumMod val="75000"/>
                    <a:lumOff val="25000"/>
                  </a:prstClr>
                </a:solidFill>
              </a:rPr>
              <a:t> para excluir esos métodos. </a:t>
            </a: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Los controladores de API se pueden crear fácilmente con el comando </a:t>
            </a:r>
            <a:r>
              <a:rPr lang="es-ES" sz="1800" b="1" dirty="0" smtClean="0">
                <a:solidFill>
                  <a:prstClr val="black">
                    <a:lumMod val="75000"/>
                    <a:lumOff val="25000"/>
                  </a:prstClr>
                </a:solidFill>
              </a:rPr>
              <a:t>--api </a:t>
            </a:r>
            <a:r>
              <a:rPr lang="es-ES" sz="1800" dirty="0" smtClean="0">
                <a:solidFill>
                  <a:prstClr val="black">
                    <a:lumMod val="75000"/>
                    <a:lumOff val="25000"/>
                  </a:prstClr>
                </a:solidFill>
              </a:rPr>
              <a:t>cuando usamos </a:t>
            </a:r>
            <a:r>
              <a:rPr lang="es-ES" sz="1800" dirty="0" err="1" smtClean="0">
                <a:solidFill>
                  <a:prstClr val="black">
                    <a:lumMod val="75000"/>
                    <a:lumOff val="25000"/>
                  </a:prstClr>
                </a:solidFill>
              </a:rPr>
              <a:t>make:controller</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6297813" y="2399059"/>
            <a:ext cx="4245951" cy="1556261"/>
          </a:xfrm>
          <a:prstGeom prst="rect">
            <a:avLst/>
          </a:prstGeom>
        </p:spPr>
      </p:pic>
      <p:pic>
        <p:nvPicPr>
          <p:cNvPr id="4" name="Imagen 3"/>
          <p:cNvPicPr>
            <a:picLocks noChangeAspect="1"/>
          </p:cNvPicPr>
          <p:nvPr/>
        </p:nvPicPr>
        <p:blipFill>
          <a:blip r:embed="rId4"/>
          <a:stretch>
            <a:fillRect/>
          </a:stretch>
        </p:blipFill>
        <p:spPr>
          <a:xfrm>
            <a:off x="3573148" y="5055931"/>
            <a:ext cx="4542845" cy="875227"/>
          </a:xfrm>
          <a:prstGeom prst="rect">
            <a:avLst/>
          </a:prstGeom>
        </p:spPr>
      </p:pic>
    </p:spTree>
    <p:extLst>
      <p:ext uri="{BB962C8B-B14F-4D97-AF65-F5344CB8AC3E}">
        <p14:creationId xmlns:p14="http://schemas.microsoft.com/office/powerpoint/2010/main" val="32025845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4" y="448054"/>
            <a:ext cx="6268823"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Controladores de recursos</a:t>
            </a:r>
            <a:endParaRPr lang="es-ES" sz="2600" dirty="0"/>
          </a:p>
        </p:txBody>
      </p:sp>
      <p:sp>
        <p:nvSpPr>
          <p:cNvPr id="6" name="Marcador de contenido 4"/>
          <p:cNvSpPr>
            <a:spLocks noGrp="1"/>
          </p:cNvSpPr>
          <p:nvPr>
            <p:ph sz="half" idx="4294967295"/>
          </p:nvPr>
        </p:nvSpPr>
        <p:spPr>
          <a:xfrm>
            <a:off x="541610" y="1298448"/>
            <a:ext cx="11512406" cy="5683120"/>
          </a:xfrm>
        </p:spPr>
        <p:txBody>
          <a:bodyPr vert="horz" lIns="91440" tIns="45720" rIns="91440" bIns="45720" rtlCol="0">
            <a:normAutofit/>
          </a:bodyPr>
          <a:lstStyle/>
          <a:p>
            <a:pPr marL="0" indent="0">
              <a:lnSpc>
                <a:spcPct val="150000"/>
              </a:lnSpc>
              <a:spcBef>
                <a:spcPts val="600"/>
              </a:spcBef>
              <a:spcAft>
                <a:spcPts val="600"/>
              </a:spcAft>
              <a:buNone/>
            </a:pPr>
            <a:r>
              <a:rPr lang="es-ES" sz="2000" b="1" dirty="0" smtClean="0">
                <a:solidFill>
                  <a:prstClr val="black">
                    <a:lumMod val="75000"/>
                    <a:lumOff val="25000"/>
                  </a:prstClr>
                </a:solidFill>
              </a:rPr>
              <a:t>Recursos anidados</a:t>
            </a:r>
          </a:p>
          <a:p>
            <a:pPr marL="0" indent="0">
              <a:lnSpc>
                <a:spcPct val="150000"/>
              </a:lnSpc>
              <a:spcBef>
                <a:spcPts val="600"/>
              </a:spcBef>
              <a:spcAft>
                <a:spcPts val="600"/>
              </a:spcAft>
              <a:buNone/>
            </a:pPr>
            <a:r>
              <a:rPr lang="es-ES" sz="1800" dirty="0">
                <a:solidFill>
                  <a:prstClr val="black">
                    <a:lumMod val="75000"/>
                    <a:lumOff val="25000"/>
                  </a:prstClr>
                </a:solidFill>
              </a:rPr>
              <a:t>A veces, es posible que necesite definir rutas a un recurso anidado. Por ejemplo, un recurso fotográfico puede tener múltiples comentarios que se pueden adjuntar a la foto. Para anidar los controladores de recursos, puede usar la notación de "punto" en su declaración de </a:t>
            </a:r>
            <a:r>
              <a:rPr lang="es-ES" sz="1800" dirty="0" smtClean="0">
                <a:solidFill>
                  <a:prstClr val="black">
                    <a:lumMod val="75000"/>
                    <a:lumOff val="25000"/>
                  </a:prstClr>
                </a:solidFill>
              </a:rPr>
              <a:t>ruta.</a:t>
            </a:r>
          </a:p>
          <a:p>
            <a:pPr marL="0" indent="0">
              <a:lnSpc>
                <a:spcPct val="150000"/>
              </a:lnSpc>
              <a:spcBef>
                <a:spcPts val="600"/>
              </a:spcBef>
              <a:spcAft>
                <a:spcPts val="600"/>
              </a:spcAft>
              <a:buNone/>
            </a:pPr>
            <a:r>
              <a:rPr lang="es-ES" sz="1800" dirty="0">
                <a:solidFill>
                  <a:prstClr val="black">
                    <a:lumMod val="75000"/>
                    <a:lumOff val="25000"/>
                  </a:prstClr>
                </a:solidFill>
              </a:rPr>
              <a:t>A menudo, no es del todo necesario tener tanto el ID principal como el secundario dentro de un URI, ya que el ID secundario ya es un identificador </a:t>
            </a:r>
            <a:r>
              <a:rPr lang="es-ES" sz="1800" dirty="0" smtClean="0">
                <a:solidFill>
                  <a:prstClr val="black">
                    <a:lumMod val="75000"/>
                    <a:lumOff val="25000"/>
                  </a:prstClr>
                </a:solidFill>
              </a:rPr>
              <a:t>único. En estos casos podemos usar “anidamiento superficial”.</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5" name="Imagen 4"/>
          <p:cNvPicPr>
            <a:picLocks noChangeAspect="1"/>
          </p:cNvPicPr>
          <p:nvPr/>
        </p:nvPicPr>
        <p:blipFill>
          <a:blip r:embed="rId3"/>
          <a:stretch>
            <a:fillRect/>
          </a:stretch>
        </p:blipFill>
        <p:spPr>
          <a:xfrm>
            <a:off x="6252129" y="2988523"/>
            <a:ext cx="5623906" cy="397228"/>
          </a:xfrm>
          <a:prstGeom prst="rect">
            <a:avLst/>
          </a:prstGeom>
        </p:spPr>
      </p:pic>
      <p:pic>
        <p:nvPicPr>
          <p:cNvPr id="7" name="Imagen 6"/>
          <p:cNvPicPr>
            <a:picLocks noChangeAspect="1"/>
          </p:cNvPicPr>
          <p:nvPr/>
        </p:nvPicPr>
        <p:blipFill>
          <a:blip r:embed="rId4"/>
          <a:stretch>
            <a:fillRect/>
          </a:stretch>
        </p:blipFill>
        <p:spPr>
          <a:xfrm>
            <a:off x="5542006" y="4907204"/>
            <a:ext cx="6392989" cy="337243"/>
          </a:xfrm>
          <a:prstGeom prst="rect">
            <a:avLst/>
          </a:prstGeom>
        </p:spPr>
      </p:pic>
      <p:pic>
        <p:nvPicPr>
          <p:cNvPr id="8" name="Imagen 7"/>
          <p:cNvPicPr>
            <a:picLocks noChangeAspect="1"/>
          </p:cNvPicPr>
          <p:nvPr/>
        </p:nvPicPr>
        <p:blipFill>
          <a:blip r:embed="rId5"/>
          <a:stretch>
            <a:fillRect/>
          </a:stretch>
        </p:blipFill>
        <p:spPr>
          <a:xfrm>
            <a:off x="541610" y="4276710"/>
            <a:ext cx="4649473" cy="2612607"/>
          </a:xfrm>
          <a:prstGeom prst="rect">
            <a:avLst/>
          </a:prstGeom>
        </p:spPr>
      </p:pic>
      <p:cxnSp>
        <p:nvCxnSpPr>
          <p:cNvPr id="10" name="Conector recto de flecha 9"/>
          <p:cNvCxnSpPr/>
          <p:nvPr/>
        </p:nvCxnSpPr>
        <p:spPr>
          <a:xfrm>
            <a:off x="9304638" y="4213654"/>
            <a:ext cx="1754659" cy="549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91227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4" y="448054"/>
            <a:ext cx="6268823"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Controladores de recursos </a:t>
            </a:r>
            <a:r>
              <a:rPr lang="es-ES" sz="2600" dirty="0" err="1" smtClean="0"/>
              <a:t>singleton</a:t>
            </a:r>
            <a:endParaRPr lang="es-ES" sz="2600" dirty="0"/>
          </a:p>
        </p:txBody>
      </p:sp>
      <p:sp>
        <p:nvSpPr>
          <p:cNvPr id="6" name="Marcador de contenido 4"/>
          <p:cNvSpPr>
            <a:spLocks noGrp="1"/>
          </p:cNvSpPr>
          <p:nvPr>
            <p:ph sz="half" idx="4294967295"/>
          </p:nvPr>
        </p:nvSpPr>
        <p:spPr>
          <a:xfrm>
            <a:off x="541610" y="1298448"/>
            <a:ext cx="11512406" cy="5683120"/>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A veces, su aplicación tendrá recursos que pueden tener solo una instancia. Por ejemplo, el "perfil" de un usuario se puede editar o actualizar, pero un usuario no puede tener más de un "</a:t>
            </a:r>
            <a:r>
              <a:rPr lang="es-ES" sz="1800" dirty="0" smtClean="0">
                <a:solidFill>
                  <a:prstClr val="black">
                    <a:lumMod val="75000"/>
                    <a:lumOff val="25000"/>
                  </a:prstClr>
                </a:solidFill>
              </a:rPr>
              <a:t>perfil</a:t>
            </a:r>
            <a:r>
              <a:rPr lang="es-ES" sz="1800" dirty="0">
                <a:solidFill>
                  <a:prstClr val="black">
                    <a:lumMod val="75000"/>
                    <a:lumOff val="25000"/>
                  </a:prstClr>
                </a:solidFill>
              </a:rPr>
              <a:t>“. En </a:t>
            </a:r>
            <a:r>
              <a:rPr lang="es-ES" sz="1800" dirty="0" smtClean="0">
                <a:solidFill>
                  <a:prstClr val="black">
                    <a:lumMod val="75000"/>
                    <a:lumOff val="25000"/>
                  </a:prstClr>
                </a:solidFill>
              </a:rPr>
              <a:t>este caso, </a:t>
            </a:r>
            <a:r>
              <a:rPr lang="es-ES" sz="1800" dirty="0">
                <a:solidFill>
                  <a:prstClr val="black">
                    <a:lumMod val="75000"/>
                    <a:lumOff val="25000"/>
                  </a:prstClr>
                </a:solidFill>
              </a:rPr>
              <a:t>puede registrar un controlador de recursos "</a:t>
            </a:r>
            <a:r>
              <a:rPr lang="es-ES" sz="1800" dirty="0" err="1" smtClean="0">
                <a:solidFill>
                  <a:prstClr val="black">
                    <a:lumMod val="75000"/>
                    <a:lumOff val="25000"/>
                  </a:prstClr>
                </a:solidFill>
              </a:rPr>
              <a:t>singleton</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r>
              <a:rPr lang="es-ES" sz="1800" dirty="0" smtClean="0">
                <a:solidFill>
                  <a:prstClr val="black">
                    <a:lumMod val="75000"/>
                    <a:lumOff val="25000"/>
                  </a:prstClr>
                </a:solidFill>
              </a:rPr>
              <a:t>Se registrarán las siguientes rutas:</a:t>
            </a: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4498353" y="2288292"/>
            <a:ext cx="5290418" cy="1239562"/>
          </a:xfrm>
          <a:prstGeom prst="rect">
            <a:avLst/>
          </a:prstGeom>
        </p:spPr>
      </p:pic>
      <p:pic>
        <p:nvPicPr>
          <p:cNvPr id="4" name="Imagen 3"/>
          <p:cNvPicPr>
            <a:picLocks noChangeAspect="1"/>
          </p:cNvPicPr>
          <p:nvPr/>
        </p:nvPicPr>
        <p:blipFill>
          <a:blip r:embed="rId4"/>
          <a:stretch>
            <a:fillRect/>
          </a:stretch>
        </p:blipFill>
        <p:spPr>
          <a:xfrm>
            <a:off x="3010772" y="4452421"/>
            <a:ext cx="6816743" cy="1966914"/>
          </a:xfrm>
          <a:prstGeom prst="rect">
            <a:avLst/>
          </a:prstGeom>
        </p:spPr>
      </p:pic>
    </p:spTree>
    <p:extLst>
      <p:ext uri="{BB962C8B-B14F-4D97-AF65-F5344CB8AC3E}">
        <p14:creationId xmlns:p14="http://schemas.microsoft.com/office/powerpoint/2010/main" val="141523993"/>
      </p:ext>
    </p:extLst>
  </p:cSld>
  <p:clrMapOvr>
    <a:masterClrMapping/>
  </p:clrMapOvr>
  <p:timing>
    <p:tnLst>
      <p:par>
        <p:cTn id="1" dur="indefinite" restart="never" nodeType="tmRoot"/>
      </p:par>
    </p:tn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9B45"/>
        </a:solidFill>
        <a:ln>
          <a:solidFill>
            <a:srgbClr val="FF9B4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4199827_TF10001033" id="{B8C5CA47-16DB-4B99-941C-1142562394E7}" vid="{2A9A9F5D-B7A7-4104-8DD8-8C97F33B830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14102</TotalTime>
  <Words>703</Words>
  <Application>Microsoft Office PowerPoint</Application>
  <PresentationFormat>Panorámica</PresentationFormat>
  <Paragraphs>69</Paragraphs>
  <Slides>10</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Segoe UI</vt:lpstr>
      <vt:lpstr>Segoe UI Light</vt:lpstr>
      <vt:lpstr>WelcomeDoc</vt:lpstr>
      <vt:lpstr>Laravel 9</vt:lpstr>
      <vt:lpstr>ÍNDICE</vt:lpstr>
      <vt:lpstr>CONTROLADORES</vt:lpstr>
      <vt:lpstr>Introducción</vt:lpstr>
      <vt:lpstr>Controladores middleware</vt:lpstr>
      <vt:lpstr>Controladores de recursos</vt:lpstr>
      <vt:lpstr>Controladores de recursos</vt:lpstr>
      <vt:lpstr>Controladores de recursos</vt:lpstr>
      <vt:lpstr>Controladores de recursos</vt:lpstr>
      <vt:lpstr>Controladores de recursos singleton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damos la bienvenida a PowerPoint</dc:title>
  <dc:creator>José Javier Guillén Benavente</dc:creator>
  <cp:keywords/>
  <cp:lastModifiedBy>Familia Guillén Linares</cp:lastModifiedBy>
  <cp:revision>178</cp:revision>
  <dcterms:created xsi:type="dcterms:W3CDTF">2022-09-07T07:55:08Z</dcterms:created>
  <dcterms:modified xsi:type="dcterms:W3CDTF">2023-01-30T15:36:28Z</dcterms:modified>
  <cp:version/>
</cp:coreProperties>
</file>