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handoutMasterIdLst>
    <p:handoutMasterId r:id="rId12"/>
  </p:handoutMasterIdLst>
  <p:sldIdLst>
    <p:sldId id="256" r:id="rId2"/>
    <p:sldId id="276" r:id="rId3"/>
    <p:sldId id="277" r:id="rId4"/>
    <p:sldId id="273" r:id="rId5"/>
    <p:sldId id="281" r:id="rId6"/>
    <p:sldId id="282" r:id="rId7"/>
    <p:sldId id="280" r:id="rId8"/>
    <p:sldId id="283" r:id="rId9"/>
    <p:sldId id="278" r:id="rId10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Le damos la bienvenida" id="{E75E278A-FF0E-49A4-B170-79828D63BBAD}">
          <p14:sldIdLst>
            <p14:sldId id="256"/>
            <p14:sldId id="276"/>
            <p14:sldId id="277"/>
          </p14:sldIdLst>
        </p14:section>
        <p14:section name="Diseñar, anotar, trabajar juntos, Información" id="{B9B51309-D148-4332-87C2-07BE32FBCA3B}">
          <p14:sldIdLst>
            <p14:sldId id="273"/>
            <p14:sldId id="281"/>
            <p14:sldId id="282"/>
            <p14:sldId id="280"/>
            <p14:sldId id="283"/>
            <p14:sldId id="278"/>
          </p14:sldIdLst>
        </p14:section>
        <p14:section name="Más información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4726"/>
    <a:srgbClr val="FF9B45"/>
    <a:srgbClr val="DD462F"/>
    <a:srgbClr val="F8CFB6"/>
    <a:srgbClr val="F8CAB6"/>
    <a:srgbClr val="923922"/>
    <a:srgbClr val="404040"/>
    <a:srgbClr val="F5F5F5"/>
    <a:srgbClr val="F2F2F2"/>
    <a:srgbClr val="D2B4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245" autoAdjust="0"/>
    <p:restoredTop sz="95401" autoAdjust="0"/>
  </p:normalViewPr>
  <p:slideViewPr>
    <p:cSldViewPr snapToGrid="0">
      <p:cViewPr varScale="1">
        <p:scale>
          <a:sx n="103" d="100"/>
          <a:sy n="103" d="100"/>
        </p:scale>
        <p:origin x="76" y="2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58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0" d="100"/>
          <a:sy n="90" d="100"/>
        </p:scale>
        <p:origin x="2724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5B06AB2-534F-4317-9DBC-96E8A8114BFB}" type="datetime1">
              <a:rPr lang="es-ES" smtClean="0"/>
              <a:t>30/09/2022</a:t>
            </a:fld>
            <a:endParaRPr lang="es-ES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5184219E-1C28-46B7-A379-E02903B01D1A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0725221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BC32159-CBC1-4C9D-9A0C-0BE24C8C9CDA}" type="datetime1">
              <a:rPr lang="es-ES" noProof="0" smtClean="0"/>
              <a:t>30/09/2022</a:t>
            </a:fld>
            <a:endParaRPr lang="es-ES" noProof="0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 dirty="0"/>
              <a:t>Haga clic para modificar los estilos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F61EA0F-A667-4B49-8422-0062BC55E249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s-ES" smtClean="0"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es-ES" dirty="0"/>
              <a:t>En el modo Presentación con diapositivas, seleccione la flecha para ir al Centro de introducción a PowerPoint.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s-ES" smtClean="0"/>
              <a:t>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222684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s-ES" smtClean="0"/>
              <a:t>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800877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s-ES" smtClean="0"/>
              <a:t>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903577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s-ES" smtClean="0"/>
              <a:t>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34536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s-ES" smtClean="0"/>
              <a:t>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55096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s-ES" smtClean="0"/>
              <a:t>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179815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s-ES" smtClean="0"/>
              <a:t>9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39058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 userDrawn="1"/>
        </p:nvSpPr>
        <p:spPr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/>
          <p:cNvSpPr/>
          <p:nvPr userDrawn="1"/>
        </p:nvSpPr>
        <p:spPr>
          <a:xfrm>
            <a:off x="254476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sz="1800" noProof="0" dirty="0"/>
          </a:p>
        </p:txBody>
      </p:sp>
      <p:cxnSp>
        <p:nvCxnSpPr>
          <p:cNvPr id="12" name="Conector recto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21208" y="368802"/>
            <a:ext cx="4434840" cy="64008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rtl="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defRPr lang="en-US" sz="2400" b="0" dirty="0">
                <a:solidFill>
                  <a:schemeClr val="bg2">
                    <a:lumMod val="25000"/>
                  </a:schemeClr>
                </a:solidFill>
                <a:ea typeface="+mn-ea"/>
                <a:cs typeface="+mn-cs"/>
              </a:defRPr>
            </a:lvl1pPr>
          </a:lstStyle>
          <a:p>
            <a:pPr marL="0" lvl="0" indent="0" rtl="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</a:pPr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5" name="Marcador de contenido 4"/>
          <p:cNvSpPr>
            <a:spLocks noGrp="1"/>
          </p:cNvSpPr>
          <p:nvPr>
            <p:ph sz="quarter" idx="10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ES" noProof="0"/>
              <a:t>Haga clic para modificar los estilos de texto del patrón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ES" noProof="0"/>
              <a:t>Segundo nivel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ES" noProof="0"/>
              <a:t>Tercer nivel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ES" noProof="0"/>
              <a:t>Cuarto nivel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ES" noProof="0"/>
              <a:t>Quinto nivel</a:t>
            </a:r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F6F98EE-852A-4139-9CFD-A1A4BA052067}" type="datetime1">
              <a:rPr lang="es-ES" noProof="0" smtClean="0"/>
              <a:t>30/09/2022</a:t>
            </a:fld>
            <a:endParaRPr lang="es-ES" noProof="0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860EDB8-5305-433F-BE41-D7A86D811DB3}" type="slidenum">
              <a:rPr lang="es-ES" noProof="0" smtClean="0"/>
              <a:t>‹Nº›</a:t>
            </a:fld>
            <a:endParaRPr lang="es-ES" noProof="0" dirty="0"/>
          </a:p>
        </p:txBody>
      </p:sp>
      <p:sp>
        <p:nvSpPr>
          <p:cNvPr id="9" name="Rectángulo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sz="1800" noProof="0" dirty="0"/>
          </a:p>
        </p:txBody>
      </p:sp>
      <p:sp>
        <p:nvSpPr>
          <p:cNvPr id="10" name="Rectángulo 9"/>
          <p:cNvSpPr/>
          <p:nvPr userDrawn="1"/>
        </p:nvSpPr>
        <p:spPr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sz="1800" noProof="0" dirty="0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263640" cy="64008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rtl="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defRPr lang="en-US" sz="3600" b="0" dirty="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 indent="0" rtl="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</a:pPr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8" name="Marcador de posición de contenido 7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ES" noProof="0"/>
              <a:t>Haga clic para modificar los estilos de texto del patrón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ES" noProof="0"/>
              <a:t>Segundo nivel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ES" noProof="0"/>
              <a:t>Tercer nivel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ES" noProof="0"/>
              <a:t>Cuarto nivel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ES" noProof="0"/>
              <a:t>Quinto nivel</a:t>
            </a:r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s-ES" noProof="0" dirty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s-ES" noProof="0" dirty="0"/>
              <a:t>Haga clic para modificar los estilos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2F50242A-6024-4A62-8CDA-92D97616828A}" type="datetime1">
              <a:rPr lang="es-ES" noProof="0" smtClean="0"/>
              <a:t>30/09/2022</a:t>
            </a:fld>
            <a:endParaRPr lang="es-ES" noProof="0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es-ES" noProof="0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idx="4294967295"/>
          </p:nvPr>
        </p:nvSpPr>
        <p:spPr>
          <a:xfrm>
            <a:off x="838200" y="1164324"/>
            <a:ext cx="10515600" cy="2387600"/>
          </a:xfrm>
        </p:spPr>
        <p:txBody>
          <a:bodyPr rtlCol="0">
            <a:normAutofit/>
          </a:bodyPr>
          <a:lstStyle/>
          <a:p>
            <a:pPr rtl="0"/>
            <a:r>
              <a:rPr lang="es-ES" sz="4800" dirty="0">
                <a:solidFill>
                  <a:schemeClr val="bg1"/>
                </a:solidFill>
              </a:rPr>
              <a:t>Laravel 9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4294967295"/>
          </p:nvPr>
        </p:nvSpPr>
        <p:spPr>
          <a:xfrm>
            <a:off x="855620" y="2933105"/>
            <a:ext cx="9582736" cy="1137793"/>
          </a:xfrm>
        </p:spPr>
        <p:txBody>
          <a:bodyPr rtlCol="0">
            <a:normAutofit/>
          </a:bodyPr>
          <a:lstStyle/>
          <a:p>
            <a:pPr marL="0" indent="0" rtl="0">
              <a:buNone/>
            </a:pPr>
            <a:r>
              <a:rPr lang="es-ES" sz="2400" dirty="0">
                <a:solidFill>
                  <a:schemeClr val="bg1"/>
                </a:solidFill>
                <a:latin typeface="+mj-lt"/>
              </a:rPr>
              <a:t>Framework PHP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84A30A1-7FD6-4298-A1D0-301DDF69D250}"/>
              </a:ext>
            </a:extLst>
          </p:cNvPr>
          <p:cNvSpPr txBox="1"/>
          <p:nvPr/>
        </p:nvSpPr>
        <p:spPr>
          <a:xfrm>
            <a:off x="838200" y="5503176"/>
            <a:ext cx="31877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dirty="0">
                <a:solidFill>
                  <a:schemeClr val="bg1"/>
                </a:solidFill>
                <a:latin typeface="+mj-lt"/>
              </a:rPr>
              <a:t>Javier Guillén Benavente</a:t>
            </a: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ACF6AC-EE60-4591-A0D8-8219FA214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ÍNDICE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D7C5854-93BC-4152-8FC3-93FDA76119B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39496" y="1435608"/>
            <a:ext cx="5023104" cy="5111242"/>
          </a:xfrm>
        </p:spPr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es-ES" sz="1700" dirty="0"/>
              <a:t>INTRODUCCIÓN</a:t>
            </a:r>
          </a:p>
          <a:p>
            <a:pPr>
              <a:buFont typeface="+mj-lt"/>
              <a:buAutoNum type="arabicPeriod"/>
            </a:pPr>
            <a:r>
              <a:rPr lang="es-ES" sz="1700" dirty="0">
                <a:solidFill>
                  <a:schemeClr val="accent2"/>
                </a:solidFill>
              </a:rPr>
              <a:t>CONCEPTOS DE ARQUITECTURA</a:t>
            </a:r>
          </a:p>
          <a:p>
            <a:pPr>
              <a:buFont typeface="+mj-lt"/>
              <a:buAutoNum type="arabicPeriod"/>
            </a:pPr>
            <a:r>
              <a:rPr lang="es-ES" sz="1700" dirty="0"/>
              <a:t>PRIMEROS PASOS</a:t>
            </a:r>
          </a:p>
          <a:p>
            <a:pPr>
              <a:buFont typeface="+mj-lt"/>
              <a:buAutoNum type="arabicPeriod"/>
            </a:pPr>
            <a:r>
              <a:rPr lang="es-ES" sz="1700" dirty="0"/>
              <a:t>ENRUTAMIENTO</a:t>
            </a:r>
          </a:p>
          <a:p>
            <a:pPr>
              <a:buFont typeface="+mj-lt"/>
              <a:buAutoNum type="arabicPeriod"/>
            </a:pPr>
            <a:r>
              <a:rPr lang="es-ES" sz="1700" dirty="0"/>
              <a:t>MIDDLEWARE</a:t>
            </a:r>
          </a:p>
          <a:p>
            <a:pPr>
              <a:buFont typeface="+mj-lt"/>
              <a:buAutoNum type="arabicPeriod"/>
            </a:pPr>
            <a:r>
              <a:rPr lang="es-ES" sz="1700" dirty="0"/>
              <a:t>CONTROLADORES</a:t>
            </a:r>
          </a:p>
          <a:p>
            <a:pPr>
              <a:buFont typeface="+mj-lt"/>
              <a:buAutoNum type="arabicPeriod"/>
            </a:pPr>
            <a:r>
              <a:rPr lang="es-ES" sz="1700" dirty="0"/>
              <a:t>REQUESTS</a:t>
            </a:r>
          </a:p>
          <a:p>
            <a:pPr>
              <a:buFont typeface="+mj-lt"/>
              <a:buAutoNum type="arabicPeriod"/>
            </a:pPr>
            <a:r>
              <a:rPr lang="es-ES" sz="1700" dirty="0"/>
              <a:t>RESPONSES</a:t>
            </a:r>
          </a:p>
          <a:p>
            <a:pPr>
              <a:buFont typeface="+mj-lt"/>
              <a:buAutoNum type="arabicPeriod"/>
            </a:pPr>
            <a:r>
              <a:rPr lang="es-ES" sz="1700" dirty="0"/>
              <a:t>VISTAS</a:t>
            </a:r>
          </a:p>
          <a:p>
            <a:pPr>
              <a:buFont typeface="+mj-lt"/>
              <a:buAutoNum type="arabicPeriod"/>
            </a:pPr>
            <a:r>
              <a:rPr lang="es-ES" sz="1700" dirty="0"/>
              <a:t>PLANTILLAS BLADE</a:t>
            </a:r>
          </a:p>
          <a:p>
            <a:pPr>
              <a:buFont typeface="+mj-lt"/>
              <a:buAutoNum type="arabicPeriod"/>
            </a:pPr>
            <a:r>
              <a:rPr lang="es-ES" sz="1700" dirty="0"/>
              <a:t>SESIÓN Y VALIDACIÓN</a:t>
            </a:r>
          </a:p>
          <a:p>
            <a:pPr>
              <a:buFont typeface="+mj-lt"/>
              <a:buAutoNum type="arabicPeriod"/>
            </a:pPr>
            <a:r>
              <a:rPr lang="es-ES" sz="1700" dirty="0"/>
              <a:t>SEGURIDAD</a:t>
            </a:r>
          </a:p>
          <a:p>
            <a:pPr>
              <a:buFont typeface="+mj-lt"/>
              <a:buAutoNum type="arabicPeriod"/>
            </a:pPr>
            <a:r>
              <a:rPr lang="es-ES" sz="1700" dirty="0"/>
              <a:t>BASE DE DATOS</a:t>
            </a:r>
          </a:p>
          <a:p>
            <a:pPr>
              <a:buFont typeface="+mj-lt"/>
              <a:buAutoNum type="arabicPeriod"/>
            </a:pPr>
            <a:r>
              <a:rPr lang="es-ES" sz="1700" dirty="0"/>
              <a:t>ELOQUENT (ORM)</a:t>
            </a:r>
          </a:p>
          <a:p>
            <a:pPr>
              <a:buFont typeface="+mj-lt"/>
              <a:buAutoNum type="arabicPeriod"/>
            </a:pPr>
            <a:endParaRPr lang="es-ES" dirty="0"/>
          </a:p>
          <a:p>
            <a:pPr marL="0" indent="0">
              <a:buNone/>
            </a:pPr>
            <a:endParaRPr lang="es-ES" dirty="0"/>
          </a:p>
          <a:p>
            <a:pPr>
              <a:buFont typeface="+mj-lt"/>
              <a:buAutoNum type="arabicPeriod"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00875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521208" y="1536192"/>
            <a:ext cx="9107424" cy="6400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rtl="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</a:pPr>
            <a:r>
              <a:rPr lang="es-ES" smtClean="0"/>
              <a:t>ARQUITECTURA</a:t>
            </a:r>
            <a:endParaRPr lang="es-ES" dirty="0"/>
          </a:p>
        </p:txBody>
      </p:sp>
      <p:sp>
        <p:nvSpPr>
          <p:cNvPr id="5" name="Marcador de contenido 4"/>
          <p:cNvSpPr>
            <a:spLocks noGrp="1"/>
          </p:cNvSpPr>
          <p:nvPr>
            <p:ph sz="half" idx="4294967295"/>
          </p:nvPr>
        </p:nvSpPr>
        <p:spPr>
          <a:xfrm>
            <a:off x="541611" y="2779776"/>
            <a:ext cx="9793224" cy="3300984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s-E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Ciclo de vida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s-ES" sz="20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Service</a:t>
            </a:r>
            <a:r>
              <a:rPr lang="es-E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</a:t>
            </a:r>
            <a:r>
              <a:rPr lang="es-ES" sz="20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container</a:t>
            </a:r>
            <a:endParaRPr lang="es-ES" sz="20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s-ES" sz="20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Service</a:t>
            </a:r>
            <a:r>
              <a:rPr lang="es-E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</a:t>
            </a:r>
            <a:r>
              <a:rPr lang="es-ES" sz="20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providers</a:t>
            </a:r>
            <a:endParaRPr lang="es-ES" sz="20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s-ES" sz="20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Facades</a:t>
            </a:r>
            <a:r>
              <a:rPr lang="es-E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o fachadas</a:t>
            </a:r>
            <a:endParaRPr lang="es-ES" sz="20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7669050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21215" y="448054"/>
            <a:ext cx="4928616" cy="6400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rtl="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</a:pPr>
            <a:r>
              <a:rPr lang="es-ES" sz="2600" dirty="0" smtClean="0"/>
              <a:t>Ciclo de vida</a:t>
            </a:r>
            <a:endParaRPr lang="es-ES" sz="2600" dirty="0"/>
          </a:p>
        </p:txBody>
      </p:sp>
      <p:sp>
        <p:nvSpPr>
          <p:cNvPr id="6" name="Marcador de contenido 4"/>
          <p:cNvSpPr>
            <a:spLocks noGrp="1"/>
          </p:cNvSpPr>
          <p:nvPr>
            <p:ph sz="half" idx="4294967295"/>
          </p:nvPr>
        </p:nvSpPr>
        <p:spPr>
          <a:xfrm>
            <a:off x="541611" y="1298448"/>
            <a:ext cx="11259092" cy="5221224"/>
          </a:xfrm>
        </p:spPr>
        <p:txBody>
          <a:bodyPr vert="horz" lIns="91440" tIns="45720" rIns="91440" bIns="45720" rtlCol="0">
            <a:normAutofit fontScale="77500" lnSpcReduction="20000"/>
          </a:bodyPr>
          <a:lstStyle/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El punto de entrada para todas las peticiones http es el fichero </a:t>
            </a:r>
            <a:r>
              <a:rPr lang="es-ES" sz="1800" dirty="0" err="1" smtClean="0">
                <a:solidFill>
                  <a:schemeClr val="accent2"/>
                </a:solidFill>
              </a:rPr>
              <a:t>public</a:t>
            </a:r>
            <a:r>
              <a:rPr lang="es-ES" sz="1800" dirty="0" smtClean="0">
                <a:solidFill>
                  <a:schemeClr val="accent2"/>
                </a:solidFill>
              </a:rPr>
              <a:t>/</a:t>
            </a:r>
            <a:r>
              <a:rPr lang="es-ES" sz="1800" dirty="0" err="1" smtClean="0">
                <a:solidFill>
                  <a:schemeClr val="accent2"/>
                </a:solidFill>
              </a:rPr>
              <a:t>index.php</a:t>
            </a:r>
            <a:r>
              <a:rPr lang="es-ES" sz="1800" dirty="0" smtClean="0">
                <a:solidFill>
                  <a:schemeClr val="accent2"/>
                </a:solidFill>
              </a:rPr>
              <a:t>. </a:t>
            </a:r>
            <a:r>
              <a:rPr lang="es-ES" sz="1800" dirty="0" smtClean="0"/>
              <a:t>Es un punto de partida para cargar el resto de componentes del framework. Este fichero carga la definición  de </a:t>
            </a:r>
            <a:r>
              <a:rPr lang="es-ES" sz="1800" dirty="0" err="1" smtClean="0"/>
              <a:t>autoloaders</a:t>
            </a:r>
            <a:r>
              <a:rPr lang="es-ES" sz="1800" dirty="0" smtClean="0"/>
              <a:t> (cargar automáticamente las clases) y, a continuación, crea una instancia de la aplicación (</a:t>
            </a:r>
            <a:r>
              <a:rPr lang="es-ES" sz="1800" dirty="0" err="1" smtClean="0"/>
              <a:t>bootstrap</a:t>
            </a:r>
            <a:r>
              <a:rPr lang="es-ES" sz="1800" dirty="0" smtClean="0"/>
              <a:t>/</a:t>
            </a:r>
            <a:r>
              <a:rPr lang="es-ES" sz="1800" dirty="0" err="1" smtClean="0"/>
              <a:t>app.php</a:t>
            </a:r>
            <a:r>
              <a:rPr lang="es-ES" sz="1800" dirty="0" smtClean="0"/>
              <a:t>).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800" dirty="0" smtClean="0"/>
              <a:t>La solicitud entrante se pasa al </a:t>
            </a:r>
            <a:r>
              <a:rPr lang="es-ES" sz="1800" dirty="0" err="1" smtClean="0">
                <a:solidFill>
                  <a:schemeClr val="accent2"/>
                </a:solidFill>
              </a:rPr>
              <a:t>kernel</a:t>
            </a:r>
            <a:r>
              <a:rPr lang="es-ES" sz="1800" dirty="0" smtClean="0">
                <a:solidFill>
                  <a:schemeClr val="accent2"/>
                </a:solidFill>
              </a:rPr>
              <a:t> HTTP </a:t>
            </a:r>
            <a:r>
              <a:rPr lang="es-ES" sz="1800" dirty="0" smtClean="0"/>
              <a:t>o al </a:t>
            </a:r>
            <a:r>
              <a:rPr lang="es-ES" sz="1800" dirty="0" err="1" smtClean="0"/>
              <a:t>kernel</a:t>
            </a:r>
            <a:r>
              <a:rPr lang="es-ES" sz="1800" dirty="0" smtClean="0"/>
              <a:t> de la consola dependiendo de la solicitud. Esta es la parte central desde la que fluyen las solicitudes. El </a:t>
            </a:r>
            <a:r>
              <a:rPr lang="es-ES" sz="1800" dirty="0" err="1" smtClean="0"/>
              <a:t>kernel</a:t>
            </a:r>
            <a:r>
              <a:rPr lang="es-ES" sz="1800" dirty="0" smtClean="0"/>
              <a:t> HTTP (</a:t>
            </a:r>
            <a:r>
              <a:rPr lang="es-ES" sz="1800" dirty="0" smtClean="0">
                <a:solidFill>
                  <a:schemeClr val="accent2"/>
                </a:solidFill>
              </a:rPr>
              <a:t>app/Http/</a:t>
            </a:r>
            <a:r>
              <a:rPr lang="es-ES" sz="1800" dirty="0" err="1" smtClean="0">
                <a:solidFill>
                  <a:schemeClr val="accent2"/>
                </a:solidFill>
              </a:rPr>
              <a:t>Kernel.php</a:t>
            </a:r>
            <a:r>
              <a:rPr lang="es-ES" sz="1800" dirty="0" smtClean="0"/>
              <a:t>) básicamente define unos “</a:t>
            </a:r>
            <a:r>
              <a:rPr lang="es-ES" sz="1800" dirty="0" err="1" smtClean="0"/>
              <a:t>bootstrappers</a:t>
            </a:r>
            <a:r>
              <a:rPr lang="es-ES" sz="1800" dirty="0" smtClean="0"/>
              <a:t>” que se ejecutarán antes de la petición y que </a:t>
            </a:r>
            <a:r>
              <a:rPr lang="es-ES" sz="1800" b="1" dirty="0" smtClean="0"/>
              <a:t>configuran</a:t>
            </a:r>
            <a:r>
              <a:rPr lang="es-ES" sz="1800" dirty="0" smtClean="0"/>
              <a:t> el manejo de errores, </a:t>
            </a:r>
            <a:r>
              <a:rPr lang="es-ES" sz="1800" dirty="0" err="1" smtClean="0"/>
              <a:t>logging</a:t>
            </a:r>
            <a:r>
              <a:rPr lang="es-ES" sz="1800" dirty="0" smtClean="0"/>
              <a:t>, entorno, …, y otras tareas previas necesarias para manejar la petición HTTP. También incluye una lista de “middleware” que todas las solicitudes deben procesar antes de ser procesadas (autenticación, CSRF, permisos, políticas, etc.).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800" dirty="0"/>
              <a:t>Una de las acciones de arranque del </a:t>
            </a:r>
            <a:r>
              <a:rPr lang="es-ES" sz="1800" dirty="0" err="1"/>
              <a:t>kernel</a:t>
            </a:r>
            <a:r>
              <a:rPr lang="es-ES" sz="1800" dirty="0"/>
              <a:t> más importantes es cargar </a:t>
            </a:r>
            <a:r>
              <a:rPr lang="es-ES" sz="1800" dirty="0" smtClean="0"/>
              <a:t>los </a:t>
            </a:r>
            <a:r>
              <a:rPr lang="es-ES" sz="1800" dirty="0"/>
              <a:t>proveedores de </a:t>
            </a:r>
            <a:r>
              <a:rPr lang="es-ES" sz="1800" dirty="0" smtClean="0"/>
              <a:t>servicios (</a:t>
            </a:r>
            <a:r>
              <a:rPr lang="es-ES" sz="1800" dirty="0" err="1" smtClean="0">
                <a:solidFill>
                  <a:schemeClr val="accent2"/>
                </a:solidFill>
              </a:rPr>
              <a:t>service</a:t>
            </a:r>
            <a:r>
              <a:rPr lang="es-ES" sz="1800" dirty="0" smtClean="0">
                <a:solidFill>
                  <a:schemeClr val="accent2"/>
                </a:solidFill>
              </a:rPr>
              <a:t> </a:t>
            </a:r>
            <a:r>
              <a:rPr lang="es-ES" sz="1800" dirty="0" err="1" smtClean="0">
                <a:solidFill>
                  <a:schemeClr val="accent2"/>
                </a:solidFill>
              </a:rPr>
              <a:t>providers</a:t>
            </a:r>
            <a:r>
              <a:rPr lang="es-ES" sz="1800" dirty="0" smtClean="0"/>
              <a:t>) </a:t>
            </a:r>
            <a:r>
              <a:rPr lang="es-ES" sz="1800" dirty="0"/>
              <a:t>para su </a:t>
            </a:r>
            <a:r>
              <a:rPr lang="es-ES" sz="1800" dirty="0" smtClean="0"/>
              <a:t>aplicación. Son los responsables de arrancar todos los componentes del framework (base de datos, validación, enrutamiento, …). Están en el archivo </a:t>
            </a:r>
            <a:r>
              <a:rPr lang="es-ES" sz="1800" dirty="0" err="1" smtClean="0">
                <a:solidFill>
                  <a:schemeClr val="accent2"/>
                </a:solidFill>
              </a:rPr>
              <a:t>config</a:t>
            </a:r>
            <a:r>
              <a:rPr lang="es-ES" sz="1800" dirty="0" smtClean="0">
                <a:solidFill>
                  <a:schemeClr val="accent2"/>
                </a:solidFill>
              </a:rPr>
              <a:t>/</a:t>
            </a:r>
            <a:r>
              <a:rPr lang="es-ES" sz="1800" dirty="0" err="1" smtClean="0">
                <a:solidFill>
                  <a:schemeClr val="accent2"/>
                </a:solidFill>
              </a:rPr>
              <a:t>app.php</a:t>
            </a:r>
            <a:r>
              <a:rPr lang="es-ES" sz="1800" dirty="0" smtClean="0"/>
              <a:t>.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800" dirty="0" smtClean="0"/>
              <a:t>Uno de los </a:t>
            </a:r>
            <a:r>
              <a:rPr lang="es-ES" sz="1800" dirty="0" err="1" smtClean="0"/>
              <a:t>service</a:t>
            </a:r>
            <a:r>
              <a:rPr lang="es-ES" sz="1800" dirty="0" smtClean="0"/>
              <a:t> </a:t>
            </a:r>
            <a:r>
              <a:rPr lang="es-ES" sz="1800" dirty="0" err="1" smtClean="0"/>
              <a:t>providers</a:t>
            </a:r>
            <a:r>
              <a:rPr lang="es-ES" sz="1800" dirty="0" smtClean="0"/>
              <a:t> más importantes es el de enrutamiento (</a:t>
            </a:r>
            <a:r>
              <a:rPr lang="es-ES" sz="1800" dirty="0" err="1" smtClean="0">
                <a:solidFill>
                  <a:schemeClr val="accent2"/>
                </a:solidFill>
              </a:rPr>
              <a:t>routing</a:t>
            </a:r>
            <a:r>
              <a:rPr lang="es-ES" sz="1800" dirty="0" smtClean="0"/>
              <a:t>). Carga los archivos de rutas de la carpeta </a:t>
            </a:r>
            <a:r>
              <a:rPr lang="es-ES" sz="1800" dirty="0" err="1" smtClean="0"/>
              <a:t>routes.php</a:t>
            </a:r>
            <a:r>
              <a:rPr lang="es-ES" sz="1800" dirty="0" smtClean="0"/>
              <a:t> de tu aplicación. El enrutador enviará la solicitud (</a:t>
            </a:r>
            <a:r>
              <a:rPr lang="es-ES" sz="1800" dirty="0" err="1" smtClean="0"/>
              <a:t>request</a:t>
            </a:r>
            <a:r>
              <a:rPr lang="es-ES" sz="1800" dirty="0" smtClean="0"/>
              <a:t>) requerida a una ruta especificada en el fichero anterior. Entonces la solicitud pasará a esa nueva ruta o a ejecutar un método de un controlador y la respuesta se enviará devuelta a la cadena de la ruta. El enrutador, antes de atender a la ruta a la que debe ir, ejecutará también cualquier middleware que se haya asociado a la ruta.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800" dirty="0" smtClean="0"/>
              <a:t>Una </a:t>
            </a:r>
            <a:r>
              <a:rPr lang="es-ES" sz="1800" dirty="0"/>
              <a:t>vez que la respuesta viaja de regreso a través del middleware, el método del núcleo HTTP </a:t>
            </a:r>
            <a:r>
              <a:rPr lang="es-ES" sz="1800" i="1" dirty="0" err="1" smtClean="0"/>
              <a:t>handle</a:t>
            </a:r>
            <a:r>
              <a:rPr lang="es-ES" sz="1800" dirty="0" smtClean="0"/>
              <a:t> devuelve </a:t>
            </a:r>
            <a:r>
              <a:rPr lang="es-ES" sz="1800" dirty="0"/>
              <a:t>el objeto de respuesta y el </a:t>
            </a:r>
            <a:r>
              <a:rPr lang="es-ES" sz="1800" dirty="0" smtClean="0"/>
              <a:t>archivo </a:t>
            </a:r>
            <a:r>
              <a:rPr lang="es-ES" sz="1800" dirty="0" err="1" smtClean="0"/>
              <a:t>index.php</a:t>
            </a:r>
            <a:r>
              <a:rPr lang="es-ES" sz="1800" dirty="0" smtClean="0"/>
              <a:t> </a:t>
            </a:r>
            <a:r>
              <a:rPr lang="es-ES" sz="1800" dirty="0"/>
              <a:t>llama al </a:t>
            </a:r>
            <a:r>
              <a:rPr lang="es-ES" sz="1800" dirty="0" smtClean="0"/>
              <a:t>método </a:t>
            </a:r>
            <a:r>
              <a:rPr lang="es-ES" sz="1800" i="1" dirty="0" err="1" smtClean="0"/>
              <a:t>send</a:t>
            </a:r>
            <a:r>
              <a:rPr lang="es-ES" sz="1800" dirty="0" smtClean="0"/>
              <a:t> </a:t>
            </a:r>
            <a:r>
              <a:rPr lang="es-ES" sz="1800" dirty="0"/>
              <a:t>en la respuesta devuelta. </a:t>
            </a:r>
            <a:r>
              <a:rPr lang="es-ES" sz="1800" dirty="0" smtClean="0"/>
              <a:t>Éste envía </a:t>
            </a:r>
            <a:r>
              <a:rPr lang="es-ES" sz="1800" dirty="0"/>
              <a:t>el contenido de la respuesta al navegador web del </a:t>
            </a:r>
            <a:r>
              <a:rPr lang="es-ES" sz="1800" dirty="0" smtClean="0"/>
              <a:t>usuario.</a:t>
            </a:r>
            <a:endParaRPr lang="es-ES" sz="1200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0117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21215" y="448054"/>
            <a:ext cx="4928616" cy="6400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rtl="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</a:pPr>
            <a:r>
              <a:rPr lang="es-ES" sz="2600" dirty="0" err="1" smtClean="0"/>
              <a:t>Service</a:t>
            </a:r>
            <a:r>
              <a:rPr lang="es-ES" sz="2600" dirty="0" smtClean="0"/>
              <a:t> </a:t>
            </a:r>
            <a:r>
              <a:rPr lang="es-ES" sz="2600" dirty="0" err="1" smtClean="0"/>
              <a:t>container</a:t>
            </a:r>
            <a:endParaRPr lang="es-ES" sz="2600" dirty="0"/>
          </a:p>
        </p:txBody>
      </p:sp>
      <p:sp>
        <p:nvSpPr>
          <p:cNvPr id="6" name="Marcador de contenido 4"/>
          <p:cNvSpPr>
            <a:spLocks noGrp="1"/>
          </p:cNvSpPr>
          <p:nvPr>
            <p:ph sz="half" idx="4294967295"/>
          </p:nvPr>
        </p:nvSpPr>
        <p:spPr>
          <a:xfrm>
            <a:off x="541611" y="1298448"/>
            <a:ext cx="11259092" cy="5221224"/>
          </a:xfr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El </a:t>
            </a:r>
            <a:r>
              <a:rPr lang="es-ES" sz="18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service</a:t>
            </a:r>
            <a:r>
              <a:rPr lang="es-E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s-ES" sz="18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container</a:t>
            </a:r>
            <a:r>
              <a:rPr lang="es-E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es una de las piezas más importantes de </a:t>
            </a:r>
            <a:r>
              <a:rPr lang="es-ES" sz="18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Laravel</a:t>
            </a:r>
            <a:r>
              <a:rPr lang="es-E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como framework. Sin embargo muchas veces no recibe la atención que merece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.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Para explicar lo que hace necesitamos entender el concepto “inyección </a:t>
            </a:r>
            <a:r>
              <a:rPr lang="es-E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de dependencias”. Decimos que se "inyecta una dependencia" cuando se pasa como argumento la instancia de una clase sobre otra, a través de uno de sus métodos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.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Tal como acabamos de ver, la inyección de dependencias le permite a una clase ceder el control de creación de instancias al framework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. Entonces el </a:t>
            </a:r>
            <a:r>
              <a:rPr lang="es-ES" sz="18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Service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s-ES" sz="18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Container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es una clase capaz de registrar datos y devolverlos cuando se </a:t>
            </a:r>
            <a:r>
              <a:rPr lang="es-E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solicitan. </a:t>
            </a:r>
            <a:r>
              <a:rPr lang="es-ES" sz="18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Laravel</a:t>
            </a:r>
            <a:r>
              <a:rPr lang="es-E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como framework define un </a:t>
            </a:r>
            <a:r>
              <a:rPr lang="es-ES" sz="18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container</a:t>
            </a:r>
            <a:r>
              <a:rPr lang="es-E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por nosotros, así que no tenemos que 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preocuparnos. Lo </a:t>
            </a:r>
            <a:r>
              <a:rPr lang="es-E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pone a nuestra disposición a través del </a:t>
            </a:r>
            <a:r>
              <a:rPr lang="es-ES" sz="18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helper</a:t>
            </a:r>
            <a:r>
              <a:rPr lang="es-E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s-ES" sz="18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app</a:t>
            </a:r>
            <a:r>
              <a:rPr lang="es-E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(). 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	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El </a:t>
            </a:r>
            <a:r>
              <a:rPr lang="es-ES" sz="18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Service</a:t>
            </a:r>
            <a:r>
              <a:rPr lang="es-E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s-ES" sz="18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Container</a:t>
            </a:r>
            <a:r>
              <a:rPr lang="es-E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de </a:t>
            </a:r>
            <a:r>
              <a:rPr lang="es-ES" sz="18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Laravel</a:t>
            </a:r>
            <a:r>
              <a:rPr lang="es-E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presenta un método </a:t>
            </a:r>
            <a:r>
              <a:rPr lang="es-ES" sz="1800" b="1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bind</a:t>
            </a:r>
            <a:r>
              <a:rPr lang="es-E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() y un método </a:t>
            </a:r>
            <a:r>
              <a:rPr lang="es-ES" sz="1800" b="1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make</a:t>
            </a:r>
            <a:r>
              <a:rPr lang="es-E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(), que son usados para vincular servicios y acceder a ellos, a través del </a:t>
            </a:r>
            <a:r>
              <a:rPr lang="es-ES" sz="18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container</a:t>
            </a:r>
            <a:r>
              <a:rPr lang="es-E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.</a:t>
            </a: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200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0579" y="2953880"/>
            <a:ext cx="4770316" cy="955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9893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21215" y="448054"/>
            <a:ext cx="4928616" cy="6400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rtl="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</a:pPr>
            <a:r>
              <a:rPr lang="es-ES" sz="2600" dirty="0" err="1" smtClean="0"/>
              <a:t>Service</a:t>
            </a:r>
            <a:r>
              <a:rPr lang="es-ES" sz="2600" dirty="0" smtClean="0"/>
              <a:t> </a:t>
            </a:r>
            <a:r>
              <a:rPr lang="es-ES" sz="2600" dirty="0" err="1" smtClean="0"/>
              <a:t>providers</a:t>
            </a:r>
            <a:endParaRPr lang="es-ES" sz="2600" dirty="0"/>
          </a:p>
        </p:txBody>
      </p:sp>
      <p:sp>
        <p:nvSpPr>
          <p:cNvPr id="6" name="Marcador de contenido 4"/>
          <p:cNvSpPr>
            <a:spLocks noGrp="1"/>
          </p:cNvSpPr>
          <p:nvPr>
            <p:ph sz="half" idx="4294967295"/>
          </p:nvPr>
        </p:nvSpPr>
        <p:spPr>
          <a:xfrm>
            <a:off x="541611" y="1298448"/>
            <a:ext cx="11259092" cy="5221224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Los </a:t>
            </a:r>
            <a:r>
              <a:rPr lang="es-ES" sz="18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proveedores de servicios </a:t>
            </a:r>
            <a:r>
              <a:rPr lang="es-E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son el lugar central de todo el arranque de aplicaciones de </a:t>
            </a:r>
            <a:r>
              <a:rPr lang="es-ES" sz="18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Laravel</a:t>
            </a:r>
            <a:r>
              <a:rPr lang="es-E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. 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Nuestra aplicación</a:t>
            </a:r>
            <a:r>
              <a:rPr lang="es-E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, así como todos los servicios principales de </a:t>
            </a:r>
            <a:r>
              <a:rPr lang="es-ES" sz="18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Laravel</a:t>
            </a:r>
            <a:r>
              <a:rPr lang="es-E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, se inician a través de proveedores de servicios. 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Inician la mayoría de servicios del framework (registrar servicios), </a:t>
            </a:r>
            <a:r>
              <a:rPr lang="es-E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incluido el registro de enlaces de contenedores de 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servicios (correo, caché, …), </a:t>
            </a:r>
            <a:r>
              <a:rPr lang="es-E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detectores de eventos, middleware e incluso rutas. Los proveedores de servicios son el</a:t>
            </a:r>
            <a:r>
              <a:rPr lang="es-ES" sz="1800" i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 lugar central para configurar </a:t>
            </a:r>
            <a:r>
              <a:rPr lang="es-ES" sz="1800" i="1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la</a:t>
            </a:r>
            <a:r>
              <a:rPr lang="es-ES" sz="1800" i="1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aplicación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.</a:t>
            </a: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8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Laravel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, </a:t>
            </a:r>
            <a:r>
              <a:rPr lang="es-E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por 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defecto, </a:t>
            </a:r>
            <a:r>
              <a:rPr lang="es-E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crea algunos </a:t>
            </a:r>
            <a:r>
              <a:rPr lang="es-ES" sz="18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Service</a:t>
            </a:r>
            <a:r>
              <a:rPr lang="es-E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s-ES" sz="18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Providers</a:t>
            </a:r>
            <a:r>
              <a:rPr lang="es-E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, pero también podemos crear nuestros propios </a:t>
            </a:r>
            <a:r>
              <a:rPr lang="es-ES" sz="18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providers</a:t>
            </a:r>
            <a:r>
              <a:rPr lang="es-E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y organizar allí nuestros </a:t>
            </a:r>
            <a:r>
              <a:rPr lang="es-ES" sz="18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bindings</a:t>
            </a:r>
            <a:r>
              <a:rPr lang="es-E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y cualquier inicialización que necesitemos para nuestros servicios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.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En el archivo </a:t>
            </a:r>
            <a:r>
              <a:rPr lang="es-ES" sz="1800" dirty="0" err="1" smtClean="0">
                <a:solidFill>
                  <a:schemeClr val="accent2"/>
                </a:solidFill>
              </a:rPr>
              <a:t>config</a:t>
            </a:r>
            <a:r>
              <a:rPr lang="es-ES" sz="1800" dirty="0" smtClean="0">
                <a:solidFill>
                  <a:schemeClr val="accent2"/>
                </a:solidFill>
              </a:rPr>
              <a:t>/</a:t>
            </a:r>
            <a:r>
              <a:rPr lang="es-ES" sz="1800" dirty="0" err="1" smtClean="0">
                <a:solidFill>
                  <a:schemeClr val="accent2"/>
                </a:solidFill>
              </a:rPr>
              <a:t>app.php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están los </a:t>
            </a:r>
            <a:r>
              <a:rPr lang="es-ES" sz="18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providers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de </a:t>
            </a:r>
            <a:r>
              <a:rPr lang="es-ES" sz="18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Laravel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por defecto. Todos se cargarán al iniciar nuestra aplicación.</a:t>
            </a: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Podemos crear nuestros propios </a:t>
            </a:r>
            <a:r>
              <a:rPr lang="es-ES" sz="18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providers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y más tarde registrarlos en </a:t>
            </a:r>
            <a:r>
              <a:rPr lang="es-ES" sz="18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config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/</a:t>
            </a:r>
            <a:r>
              <a:rPr lang="es-ES" sz="18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app.php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. 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Algunos </a:t>
            </a:r>
            <a:r>
              <a:rPr lang="es-ES" sz="18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providers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se pueden lanzar en diferido, sólo se registran cuando se necesitan.</a:t>
            </a:r>
            <a:endParaRPr lang="es-ES" sz="1200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29306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21215" y="448054"/>
            <a:ext cx="4928616" cy="6400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rtl="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</a:pPr>
            <a:r>
              <a:rPr lang="es-ES" sz="2600" dirty="0" err="1" smtClean="0"/>
              <a:t>Facades</a:t>
            </a:r>
            <a:endParaRPr lang="es-ES" sz="2600" dirty="0"/>
          </a:p>
        </p:txBody>
      </p:sp>
      <p:sp>
        <p:nvSpPr>
          <p:cNvPr id="6" name="Marcador de contenido 4"/>
          <p:cNvSpPr>
            <a:spLocks noGrp="1"/>
          </p:cNvSpPr>
          <p:nvPr>
            <p:ph sz="half" idx="4294967295"/>
          </p:nvPr>
        </p:nvSpPr>
        <p:spPr>
          <a:xfrm>
            <a:off x="541611" y="1298448"/>
            <a:ext cx="11333232" cy="5368022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s-E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A lo largo de la documentación de </a:t>
            </a:r>
            <a:r>
              <a:rPr lang="es-ES" sz="18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Laravel</a:t>
            </a:r>
            <a:r>
              <a:rPr lang="es-E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, 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veremos </a:t>
            </a:r>
            <a:r>
              <a:rPr lang="es-E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ejemplos de código que interactúa con las características de </a:t>
            </a:r>
            <a:r>
              <a:rPr lang="es-ES" sz="18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Laravel</a:t>
            </a:r>
            <a:r>
              <a:rPr lang="es-E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a través de "</a:t>
            </a:r>
            <a:r>
              <a:rPr lang="es-ES" sz="1800" b="1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fachadas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“ (</a:t>
            </a:r>
            <a:r>
              <a:rPr lang="es-ES" sz="18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facades</a:t>
            </a:r>
            <a:r>
              <a:rPr lang="es-E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). Las fachadas proporcionan una interfaz "</a:t>
            </a:r>
            <a:r>
              <a:rPr lang="es-ES" sz="1800" i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estática</a:t>
            </a:r>
            <a:r>
              <a:rPr lang="es-E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" para las clases que están disponibles en el contenedor de servicios de la 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aplicación.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A la hora de usar los componentes del framework llamaremos a estas fachadas en lugar de a las clases originales que tienen el código de los servicios del framework.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Por ejemplo, para usar la funcionalidad de las rutas y sus métodos usaremos                                                        la fachada </a:t>
            </a:r>
            <a:r>
              <a:rPr lang="es-ES" sz="18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Route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.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Algunas de las fachadas llevan métodos auxiliares como </a:t>
            </a:r>
            <a:r>
              <a:rPr lang="es-ES" sz="18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view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, </a:t>
            </a:r>
            <a:r>
              <a:rPr lang="es-ES" sz="18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json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, </a:t>
            </a:r>
            <a:r>
              <a:rPr lang="es-ES" sz="18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url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, </a:t>
            </a:r>
            <a:r>
              <a:rPr lang="es-ES" sz="18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config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, …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Hay también funciones auxiliares ya de </a:t>
            </a:r>
            <a:r>
              <a:rPr lang="es-ES" sz="18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Laravel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que hacen los mismo sin tener que llamar a la fachada correspondiente. Por ejemplo, en los controladores podemos cargar una vista con:  </a:t>
            </a:r>
            <a:r>
              <a:rPr lang="es-ES" sz="18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return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s-ES" sz="18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view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(‘</a:t>
            </a:r>
            <a:r>
              <a:rPr lang="es-ES" sz="18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login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’);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Realmente al invocar un método estático de una fachada </a:t>
            </a:r>
            <a:r>
              <a:rPr lang="es-ES" sz="18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Laravel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resuelve el nombre a través del Controlador de Servicios y ejecuta el método solicitado sobre ese objeto.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endParaRPr lang="es-ES" sz="1800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1633" y="3113759"/>
            <a:ext cx="2883048" cy="1416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1408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21215" y="448054"/>
            <a:ext cx="4928616" cy="6400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rtl="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</a:pPr>
            <a:r>
              <a:rPr lang="es-ES" sz="2600" dirty="0" err="1" smtClean="0"/>
              <a:t>Facades</a:t>
            </a:r>
            <a:endParaRPr lang="es-ES" sz="2600" dirty="0"/>
          </a:p>
        </p:txBody>
      </p:sp>
      <p:sp>
        <p:nvSpPr>
          <p:cNvPr id="6" name="Marcador de contenido 4"/>
          <p:cNvSpPr>
            <a:spLocks noGrp="1"/>
          </p:cNvSpPr>
          <p:nvPr>
            <p:ph sz="half" idx="4294967295"/>
          </p:nvPr>
        </p:nvSpPr>
        <p:spPr>
          <a:xfrm>
            <a:off x="521215" y="1329339"/>
            <a:ext cx="5982757" cy="5368022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s-ES" sz="1400" b="1" u="sng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Facade	</a:t>
            </a:r>
            <a:r>
              <a:rPr lang="es-ES" sz="1400" b="1" u="sng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Class</a:t>
            </a:r>
            <a:r>
              <a:rPr lang="es-ES" sz="1400" b="1" u="sng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		</a:t>
            </a:r>
            <a:r>
              <a:rPr lang="es-ES" sz="1400" b="1" u="sng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Service</a:t>
            </a:r>
            <a:r>
              <a:rPr lang="es-ES" sz="1400" b="1" u="sng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s-ES" sz="1400" b="1" u="sng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Container</a:t>
            </a:r>
            <a:r>
              <a:rPr lang="es-ES" sz="1400" b="1" u="sng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s-ES" sz="1400" b="1" u="sng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Binding</a:t>
            </a:r>
            <a:endParaRPr lang="es-ES" sz="1400" b="1" u="sng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s-ES" sz="14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Auth</a:t>
            </a:r>
            <a:r>
              <a:rPr lang="es-ES" sz="14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	</a:t>
            </a:r>
            <a:r>
              <a:rPr lang="es-ES" sz="14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Illuminate</a:t>
            </a:r>
            <a:r>
              <a:rPr lang="es-ES" sz="14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\</a:t>
            </a:r>
            <a:r>
              <a:rPr lang="es-ES" sz="14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Auth</a:t>
            </a:r>
            <a:r>
              <a:rPr lang="es-ES" sz="14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\</a:t>
            </a:r>
            <a:r>
              <a:rPr lang="es-ES" sz="14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AuthManager</a:t>
            </a:r>
            <a:r>
              <a:rPr lang="es-ES" sz="14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	</a:t>
            </a:r>
            <a:r>
              <a:rPr lang="es-ES" sz="14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auth</a:t>
            </a:r>
            <a:endParaRPr lang="es-ES" sz="14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s-ES" sz="14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Cache	</a:t>
            </a:r>
            <a:r>
              <a:rPr lang="es-ES" sz="14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Illuminate</a:t>
            </a:r>
            <a:r>
              <a:rPr lang="es-ES" sz="14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\Cache\</a:t>
            </a:r>
            <a:r>
              <a:rPr lang="es-ES" sz="14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CacheManager</a:t>
            </a:r>
            <a:r>
              <a:rPr lang="es-ES" sz="14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	cache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s-ES" sz="14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Config</a:t>
            </a:r>
            <a:r>
              <a:rPr lang="es-ES" sz="14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	</a:t>
            </a:r>
            <a:r>
              <a:rPr lang="es-ES" sz="14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Illuminate</a:t>
            </a:r>
            <a:r>
              <a:rPr lang="es-ES" sz="14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\</a:t>
            </a:r>
            <a:r>
              <a:rPr lang="es-ES" sz="14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Config</a:t>
            </a:r>
            <a:r>
              <a:rPr lang="es-ES" sz="14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\</a:t>
            </a:r>
            <a:r>
              <a:rPr lang="es-ES" sz="14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Repository</a:t>
            </a:r>
            <a:r>
              <a:rPr lang="es-ES" sz="14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	</a:t>
            </a:r>
            <a:r>
              <a:rPr lang="es-ES" sz="14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config</a:t>
            </a:r>
            <a:endParaRPr lang="es-ES" sz="14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s-ES" sz="14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Cookie	</a:t>
            </a:r>
            <a:r>
              <a:rPr lang="es-ES" sz="14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Illuminate</a:t>
            </a:r>
            <a:r>
              <a:rPr lang="es-ES" sz="14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\Cookie\</a:t>
            </a:r>
            <a:r>
              <a:rPr lang="es-ES" sz="14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CookieJar</a:t>
            </a:r>
            <a:r>
              <a:rPr lang="es-ES" sz="14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	cookie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s-ES" sz="14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Crypt</a:t>
            </a:r>
            <a:r>
              <a:rPr lang="es-ES" sz="14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	</a:t>
            </a:r>
            <a:r>
              <a:rPr lang="es-ES" sz="14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Illuminate</a:t>
            </a:r>
            <a:r>
              <a:rPr lang="es-ES" sz="14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\</a:t>
            </a:r>
            <a:r>
              <a:rPr lang="es-ES" sz="14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Encryption</a:t>
            </a:r>
            <a:r>
              <a:rPr lang="es-ES" sz="14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\</a:t>
            </a:r>
            <a:r>
              <a:rPr lang="es-ES" sz="14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Encrypter</a:t>
            </a:r>
            <a:r>
              <a:rPr lang="es-ES" sz="14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	</a:t>
            </a:r>
            <a:r>
              <a:rPr lang="es-ES" sz="14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encrypter</a:t>
            </a:r>
            <a:endParaRPr lang="es-ES" sz="14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s-ES" sz="14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Date	</a:t>
            </a:r>
            <a:r>
              <a:rPr lang="es-ES" sz="14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Illuminate</a:t>
            </a:r>
            <a:r>
              <a:rPr lang="es-ES" sz="14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\</a:t>
            </a:r>
            <a:r>
              <a:rPr lang="es-ES" sz="14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Support</a:t>
            </a:r>
            <a:r>
              <a:rPr lang="es-ES" sz="14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\</a:t>
            </a:r>
            <a:r>
              <a:rPr lang="es-ES" sz="14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DateFactory</a:t>
            </a:r>
            <a:r>
              <a:rPr lang="es-ES" sz="14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	date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s-ES" sz="14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DB	</a:t>
            </a:r>
            <a:r>
              <a:rPr lang="es-ES" sz="14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Illuminate</a:t>
            </a:r>
            <a:r>
              <a:rPr lang="es-ES" sz="14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\</a:t>
            </a:r>
            <a:r>
              <a:rPr lang="es-ES" sz="14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Database</a:t>
            </a:r>
            <a:r>
              <a:rPr lang="es-ES" sz="14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\</a:t>
            </a:r>
            <a:r>
              <a:rPr lang="es-ES" sz="14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DatabaseManager</a:t>
            </a:r>
            <a:r>
              <a:rPr lang="es-ES" sz="14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s-ES" sz="14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  </a:t>
            </a:r>
            <a:r>
              <a:rPr lang="es-ES" sz="14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db</a:t>
            </a:r>
            <a:endParaRPr lang="es-ES" sz="14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s-ES" sz="14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File	</a:t>
            </a:r>
            <a:r>
              <a:rPr lang="es-ES" sz="14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Illuminate</a:t>
            </a:r>
            <a:r>
              <a:rPr lang="es-ES" sz="14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\</a:t>
            </a:r>
            <a:r>
              <a:rPr lang="es-ES" sz="14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Filesystem</a:t>
            </a:r>
            <a:r>
              <a:rPr lang="es-ES" sz="14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\</a:t>
            </a:r>
            <a:r>
              <a:rPr lang="es-ES" sz="14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Filesystem</a:t>
            </a:r>
            <a:r>
              <a:rPr lang="es-ES" sz="14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	files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s-ES" sz="14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Lang</a:t>
            </a:r>
            <a:r>
              <a:rPr lang="es-ES" sz="14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	</a:t>
            </a:r>
            <a:r>
              <a:rPr lang="es-ES" sz="14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Illuminate</a:t>
            </a:r>
            <a:r>
              <a:rPr lang="es-ES" sz="14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\</a:t>
            </a:r>
            <a:r>
              <a:rPr lang="es-ES" sz="14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Translation</a:t>
            </a:r>
            <a:r>
              <a:rPr lang="es-ES" sz="14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\</a:t>
            </a:r>
            <a:r>
              <a:rPr lang="es-ES" sz="14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Translator</a:t>
            </a:r>
            <a:r>
              <a:rPr lang="es-ES" sz="14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	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s-ES" sz="1400" dirty="0">
                <a:solidFill>
                  <a:prstClr val="black">
                    <a:lumMod val="75000"/>
                    <a:lumOff val="25000"/>
                  </a:prstClr>
                </a:solidFill>
              </a:rPr>
              <a:t>Log	</a:t>
            </a:r>
            <a:r>
              <a:rPr lang="es-ES" sz="14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Illuminate</a:t>
            </a:r>
            <a:r>
              <a:rPr lang="es-ES" sz="1400" dirty="0">
                <a:solidFill>
                  <a:prstClr val="black">
                    <a:lumMod val="75000"/>
                    <a:lumOff val="25000"/>
                  </a:prstClr>
                </a:solidFill>
              </a:rPr>
              <a:t>\Log\</a:t>
            </a:r>
            <a:r>
              <a:rPr lang="es-ES" sz="14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LogManager</a:t>
            </a:r>
            <a:r>
              <a:rPr lang="es-ES" sz="1400" dirty="0">
                <a:solidFill>
                  <a:prstClr val="black">
                    <a:lumMod val="75000"/>
                    <a:lumOff val="25000"/>
                  </a:prstClr>
                </a:solidFill>
              </a:rPr>
              <a:t>	</a:t>
            </a:r>
            <a:r>
              <a:rPr lang="es-ES" sz="14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log</a:t>
            </a:r>
            <a:endParaRPr lang="es-ES" sz="1400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4" name="Rectángulo 3"/>
          <p:cNvSpPr/>
          <p:nvPr/>
        </p:nvSpPr>
        <p:spPr>
          <a:xfrm>
            <a:off x="5958189" y="1329339"/>
            <a:ext cx="6096000" cy="481670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s-ES" sz="1400" b="1" u="sng" dirty="0">
                <a:solidFill>
                  <a:prstClr val="black">
                    <a:lumMod val="75000"/>
                    <a:lumOff val="25000"/>
                  </a:prstClr>
                </a:solidFill>
              </a:rPr>
              <a:t>Facade	</a:t>
            </a:r>
            <a:r>
              <a:rPr lang="es-ES" sz="1400" b="1" u="sng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Class</a:t>
            </a:r>
            <a:r>
              <a:rPr lang="es-ES" sz="1400" b="1" u="sng" dirty="0">
                <a:solidFill>
                  <a:prstClr val="black">
                    <a:lumMod val="75000"/>
                    <a:lumOff val="25000"/>
                  </a:prstClr>
                </a:solidFill>
              </a:rPr>
              <a:t>	</a:t>
            </a:r>
            <a:r>
              <a:rPr lang="es-ES" sz="1400" b="1" u="sng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		</a:t>
            </a:r>
            <a:r>
              <a:rPr lang="es-ES" sz="1400" b="1" u="sng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Service</a:t>
            </a:r>
            <a:r>
              <a:rPr lang="es-ES" sz="1400" b="1" u="sng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s-ES" sz="1400" b="1" u="sng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Container</a:t>
            </a:r>
            <a:r>
              <a:rPr lang="es-ES" sz="1400" b="1" u="sng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s-ES" sz="1400" b="1" u="sng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Binding</a:t>
            </a:r>
            <a:endParaRPr lang="es-ES" sz="1400" b="1" u="sng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s-ES" sz="14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Mail	</a:t>
            </a:r>
            <a:r>
              <a:rPr lang="es-ES" sz="14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Illuminate</a:t>
            </a:r>
            <a:r>
              <a:rPr lang="es-ES" sz="14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\Mail\Mailer			</a:t>
            </a:r>
            <a:r>
              <a:rPr lang="es-ES" sz="14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mailer</a:t>
            </a:r>
            <a:endParaRPr lang="es-ES" sz="14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s-ES" sz="14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Redirect</a:t>
            </a:r>
            <a:r>
              <a:rPr lang="es-ES" sz="14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	</a:t>
            </a:r>
            <a:r>
              <a:rPr lang="es-ES" sz="14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Illuminate</a:t>
            </a:r>
            <a:r>
              <a:rPr lang="es-ES" sz="14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\</a:t>
            </a:r>
            <a:r>
              <a:rPr lang="es-ES" sz="14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Routing</a:t>
            </a:r>
            <a:r>
              <a:rPr lang="es-ES" sz="14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\Redirector		</a:t>
            </a:r>
            <a:r>
              <a:rPr lang="es-ES" sz="14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redirect</a:t>
            </a:r>
            <a:endParaRPr lang="es-ES" sz="14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s-ES" sz="14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Redis</a:t>
            </a:r>
            <a:r>
              <a:rPr lang="es-ES" sz="1400" dirty="0">
                <a:solidFill>
                  <a:prstClr val="black">
                    <a:lumMod val="75000"/>
                    <a:lumOff val="25000"/>
                  </a:prstClr>
                </a:solidFill>
              </a:rPr>
              <a:t>	</a:t>
            </a:r>
            <a:r>
              <a:rPr lang="es-ES" sz="14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Illuminate</a:t>
            </a:r>
            <a:r>
              <a:rPr lang="es-ES" sz="1400" dirty="0">
                <a:solidFill>
                  <a:prstClr val="black">
                    <a:lumMod val="75000"/>
                    <a:lumOff val="25000"/>
                  </a:prstClr>
                </a:solidFill>
              </a:rPr>
              <a:t>\</a:t>
            </a:r>
            <a:r>
              <a:rPr lang="es-ES" sz="14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Redis</a:t>
            </a:r>
            <a:r>
              <a:rPr lang="es-ES" sz="1400" dirty="0">
                <a:solidFill>
                  <a:prstClr val="black">
                    <a:lumMod val="75000"/>
                    <a:lumOff val="25000"/>
                  </a:prstClr>
                </a:solidFill>
              </a:rPr>
              <a:t>\</a:t>
            </a:r>
            <a:r>
              <a:rPr lang="es-ES" sz="14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RedisManager</a:t>
            </a:r>
            <a:r>
              <a:rPr lang="es-ES" sz="1400" dirty="0">
                <a:solidFill>
                  <a:prstClr val="black">
                    <a:lumMod val="75000"/>
                    <a:lumOff val="25000"/>
                  </a:prstClr>
                </a:solidFill>
              </a:rPr>
              <a:t>	</a:t>
            </a:r>
            <a:r>
              <a:rPr lang="es-ES" sz="14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	</a:t>
            </a:r>
            <a:r>
              <a:rPr lang="es-ES" sz="14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redis</a:t>
            </a:r>
            <a:endParaRPr lang="es-ES" sz="14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s-ES" sz="14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Request</a:t>
            </a:r>
            <a:r>
              <a:rPr lang="es-ES" sz="1400" dirty="0">
                <a:solidFill>
                  <a:prstClr val="black">
                    <a:lumMod val="75000"/>
                    <a:lumOff val="25000"/>
                  </a:prstClr>
                </a:solidFill>
              </a:rPr>
              <a:t>	</a:t>
            </a:r>
            <a:r>
              <a:rPr lang="es-ES" sz="14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Illuminate</a:t>
            </a:r>
            <a:r>
              <a:rPr lang="es-ES" sz="1400" dirty="0">
                <a:solidFill>
                  <a:prstClr val="black">
                    <a:lumMod val="75000"/>
                    <a:lumOff val="25000"/>
                  </a:prstClr>
                </a:solidFill>
              </a:rPr>
              <a:t>\Http\</a:t>
            </a:r>
            <a:r>
              <a:rPr lang="es-ES" sz="14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Request</a:t>
            </a:r>
            <a:r>
              <a:rPr lang="es-ES" sz="1400" dirty="0">
                <a:solidFill>
                  <a:prstClr val="black">
                    <a:lumMod val="75000"/>
                    <a:lumOff val="25000"/>
                  </a:prstClr>
                </a:solidFill>
              </a:rPr>
              <a:t>	</a:t>
            </a:r>
            <a:r>
              <a:rPr lang="es-ES" sz="14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	</a:t>
            </a:r>
            <a:r>
              <a:rPr lang="es-ES" sz="14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request</a:t>
            </a:r>
            <a:endParaRPr lang="es-ES" sz="14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s-ES" sz="1400" dirty="0">
                <a:solidFill>
                  <a:prstClr val="black">
                    <a:lumMod val="75000"/>
                    <a:lumOff val="25000"/>
                  </a:prstClr>
                </a:solidFill>
              </a:rPr>
              <a:t>Response	</a:t>
            </a:r>
            <a:r>
              <a:rPr lang="es-ES" sz="14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Illuminate</a:t>
            </a:r>
            <a:r>
              <a:rPr lang="es-ES" sz="1400" dirty="0">
                <a:solidFill>
                  <a:prstClr val="black">
                    <a:lumMod val="75000"/>
                    <a:lumOff val="25000"/>
                  </a:prstClr>
                </a:solidFill>
              </a:rPr>
              <a:t>\</a:t>
            </a:r>
            <a:r>
              <a:rPr lang="es-ES" sz="14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Contracts</a:t>
            </a:r>
            <a:r>
              <a:rPr lang="es-ES" sz="1400" dirty="0">
                <a:solidFill>
                  <a:prstClr val="black">
                    <a:lumMod val="75000"/>
                    <a:lumOff val="25000"/>
                  </a:prstClr>
                </a:solidFill>
              </a:rPr>
              <a:t>\</a:t>
            </a:r>
            <a:r>
              <a:rPr lang="es-ES" sz="14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Routing</a:t>
            </a:r>
            <a:r>
              <a:rPr lang="es-ES" sz="1400" dirty="0">
                <a:solidFill>
                  <a:prstClr val="black">
                    <a:lumMod val="75000"/>
                    <a:lumOff val="25000"/>
                  </a:prstClr>
                </a:solidFill>
              </a:rPr>
              <a:t>\</a:t>
            </a:r>
            <a:r>
              <a:rPr lang="es-ES" sz="14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ResponseFactory</a:t>
            </a:r>
            <a:r>
              <a:rPr lang="es-ES" sz="1400" dirty="0">
                <a:solidFill>
                  <a:prstClr val="black">
                    <a:lumMod val="75000"/>
                    <a:lumOff val="25000"/>
                  </a:prstClr>
                </a:solidFill>
              </a:rPr>
              <a:t>	 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s-ES" sz="14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Route</a:t>
            </a:r>
            <a:r>
              <a:rPr lang="es-ES" sz="1400" dirty="0">
                <a:solidFill>
                  <a:prstClr val="black">
                    <a:lumMod val="75000"/>
                    <a:lumOff val="25000"/>
                  </a:prstClr>
                </a:solidFill>
              </a:rPr>
              <a:t>	</a:t>
            </a:r>
            <a:r>
              <a:rPr lang="es-ES" sz="14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Illuminate</a:t>
            </a:r>
            <a:r>
              <a:rPr lang="es-ES" sz="1400" dirty="0">
                <a:solidFill>
                  <a:prstClr val="black">
                    <a:lumMod val="75000"/>
                    <a:lumOff val="25000"/>
                  </a:prstClr>
                </a:solidFill>
              </a:rPr>
              <a:t>\</a:t>
            </a:r>
            <a:r>
              <a:rPr lang="es-ES" sz="14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Routing</a:t>
            </a:r>
            <a:r>
              <a:rPr lang="es-ES" sz="1400" dirty="0">
                <a:solidFill>
                  <a:prstClr val="black">
                    <a:lumMod val="75000"/>
                    <a:lumOff val="25000"/>
                  </a:prstClr>
                </a:solidFill>
              </a:rPr>
              <a:t>\Router	</a:t>
            </a:r>
            <a:r>
              <a:rPr lang="es-ES" sz="14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	router</a:t>
            </a:r>
            <a:endParaRPr lang="es-ES" sz="14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s-ES" sz="14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Session</a:t>
            </a:r>
            <a:r>
              <a:rPr lang="es-ES" sz="1400" dirty="0">
                <a:solidFill>
                  <a:prstClr val="black">
                    <a:lumMod val="75000"/>
                    <a:lumOff val="25000"/>
                  </a:prstClr>
                </a:solidFill>
              </a:rPr>
              <a:t>	</a:t>
            </a:r>
            <a:r>
              <a:rPr lang="es-ES" sz="14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Illuminate</a:t>
            </a:r>
            <a:r>
              <a:rPr lang="es-ES" sz="1400" dirty="0">
                <a:solidFill>
                  <a:prstClr val="black">
                    <a:lumMod val="75000"/>
                    <a:lumOff val="25000"/>
                  </a:prstClr>
                </a:solidFill>
              </a:rPr>
              <a:t>\</a:t>
            </a:r>
            <a:r>
              <a:rPr lang="es-ES" sz="14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Session</a:t>
            </a:r>
            <a:r>
              <a:rPr lang="es-ES" sz="1400" dirty="0">
                <a:solidFill>
                  <a:prstClr val="black">
                    <a:lumMod val="75000"/>
                    <a:lumOff val="25000"/>
                  </a:prstClr>
                </a:solidFill>
              </a:rPr>
              <a:t>\</a:t>
            </a:r>
            <a:r>
              <a:rPr lang="es-ES" sz="14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SessionManager</a:t>
            </a:r>
            <a:r>
              <a:rPr lang="es-ES" sz="1400" dirty="0">
                <a:solidFill>
                  <a:prstClr val="black">
                    <a:lumMod val="75000"/>
                    <a:lumOff val="25000"/>
                  </a:prstClr>
                </a:solidFill>
              </a:rPr>
              <a:t>	</a:t>
            </a:r>
            <a:r>
              <a:rPr lang="es-ES" sz="14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session</a:t>
            </a:r>
            <a:endParaRPr lang="es-ES" sz="14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s-ES" sz="1400" dirty="0">
                <a:solidFill>
                  <a:prstClr val="black">
                    <a:lumMod val="75000"/>
                    <a:lumOff val="25000"/>
                  </a:prstClr>
                </a:solidFill>
              </a:rPr>
              <a:t>Storage	</a:t>
            </a:r>
            <a:r>
              <a:rPr lang="es-ES" sz="14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Illuminate</a:t>
            </a:r>
            <a:r>
              <a:rPr lang="es-ES" sz="1400" dirty="0">
                <a:solidFill>
                  <a:prstClr val="black">
                    <a:lumMod val="75000"/>
                    <a:lumOff val="25000"/>
                  </a:prstClr>
                </a:solidFill>
              </a:rPr>
              <a:t>\</a:t>
            </a:r>
            <a:r>
              <a:rPr lang="es-ES" sz="14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Filesystem</a:t>
            </a:r>
            <a:r>
              <a:rPr lang="es-ES" sz="1400" dirty="0">
                <a:solidFill>
                  <a:prstClr val="black">
                    <a:lumMod val="75000"/>
                    <a:lumOff val="25000"/>
                  </a:prstClr>
                </a:solidFill>
              </a:rPr>
              <a:t>\</a:t>
            </a:r>
            <a:r>
              <a:rPr lang="es-ES" sz="14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FilesystemManager</a:t>
            </a:r>
            <a:r>
              <a:rPr lang="es-ES" sz="1400" dirty="0">
                <a:solidFill>
                  <a:prstClr val="black">
                    <a:lumMod val="75000"/>
                    <a:lumOff val="25000"/>
                  </a:prstClr>
                </a:solidFill>
              </a:rPr>
              <a:t>	</a:t>
            </a:r>
            <a:r>
              <a:rPr lang="es-ES" sz="14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filesystem</a:t>
            </a:r>
            <a:endParaRPr lang="es-ES" sz="14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s-ES" sz="1400" dirty="0">
                <a:solidFill>
                  <a:prstClr val="black">
                    <a:lumMod val="75000"/>
                    <a:lumOff val="25000"/>
                  </a:prstClr>
                </a:solidFill>
              </a:rPr>
              <a:t>URL	</a:t>
            </a:r>
            <a:r>
              <a:rPr lang="es-ES" sz="14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Illuminate</a:t>
            </a:r>
            <a:r>
              <a:rPr lang="es-ES" sz="1400" dirty="0">
                <a:solidFill>
                  <a:prstClr val="black">
                    <a:lumMod val="75000"/>
                    <a:lumOff val="25000"/>
                  </a:prstClr>
                </a:solidFill>
              </a:rPr>
              <a:t>\</a:t>
            </a:r>
            <a:r>
              <a:rPr lang="es-ES" sz="14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Routing</a:t>
            </a:r>
            <a:r>
              <a:rPr lang="es-ES" sz="1400" dirty="0">
                <a:solidFill>
                  <a:prstClr val="black">
                    <a:lumMod val="75000"/>
                    <a:lumOff val="25000"/>
                  </a:prstClr>
                </a:solidFill>
              </a:rPr>
              <a:t>\</a:t>
            </a:r>
            <a:r>
              <a:rPr lang="es-ES" sz="14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UrlGenerator</a:t>
            </a:r>
            <a:r>
              <a:rPr lang="es-ES" sz="1400" dirty="0">
                <a:solidFill>
                  <a:prstClr val="black">
                    <a:lumMod val="75000"/>
                    <a:lumOff val="25000"/>
                  </a:prstClr>
                </a:solidFill>
              </a:rPr>
              <a:t>	</a:t>
            </a:r>
            <a:r>
              <a:rPr lang="es-ES" sz="14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	</a:t>
            </a:r>
            <a:r>
              <a:rPr lang="es-ES" sz="14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url</a:t>
            </a:r>
            <a:endParaRPr lang="es-ES" sz="14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s-ES" sz="14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Validator</a:t>
            </a:r>
            <a:r>
              <a:rPr lang="es-ES" sz="1400" dirty="0">
                <a:solidFill>
                  <a:prstClr val="black">
                    <a:lumMod val="75000"/>
                    <a:lumOff val="25000"/>
                  </a:prstClr>
                </a:solidFill>
              </a:rPr>
              <a:t>	</a:t>
            </a:r>
            <a:r>
              <a:rPr lang="es-ES" sz="14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Illuminate</a:t>
            </a:r>
            <a:r>
              <a:rPr lang="es-ES" sz="1400" dirty="0">
                <a:solidFill>
                  <a:prstClr val="black">
                    <a:lumMod val="75000"/>
                    <a:lumOff val="25000"/>
                  </a:prstClr>
                </a:solidFill>
              </a:rPr>
              <a:t>\</a:t>
            </a:r>
            <a:r>
              <a:rPr lang="es-ES" sz="14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Validation</a:t>
            </a:r>
            <a:r>
              <a:rPr lang="es-ES" sz="1400" dirty="0">
                <a:solidFill>
                  <a:prstClr val="black">
                    <a:lumMod val="75000"/>
                    <a:lumOff val="25000"/>
                  </a:prstClr>
                </a:solidFill>
              </a:rPr>
              <a:t>\Factory	</a:t>
            </a:r>
            <a:r>
              <a:rPr lang="es-ES" sz="14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	</a:t>
            </a:r>
            <a:r>
              <a:rPr lang="es-ES" sz="14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validator</a:t>
            </a:r>
            <a:endParaRPr lang="es-ES" sz="14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s-ES" sz="1400" dirty="0">
                <a:solidFill>
                  <a:prstClr val="black">
                    <a:lumMod val="75000"/>
                    <a:lumOff val="25000"/>
                  </a:prstClr>
                </a:solidFill>
              </a:rPr>
              <a:t>View	</a:t>
            </a:r>
            <a:r>
              <a:rPr lang="es-ES" sz="14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Illuminate</a:t>
            </a:r>
            <a:r>
              <a:rPr lang="es-ES" sz="1400" dirty="0">
                <a:solidFill>
                  <a:prstClr val="black">
                    <a:lumMod val="75000"/>
                    <a:lumOff val="25000"/>
                  </a:prstClr>
                </a:solidFill>
              </a:rPr>
              <a:t>\View\Factory	</a:t>
            </a:r>
            <a:r>
              <a:rPr lang="es-ES" sz="14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	</a:t>
            </a:r>
            <a:r>
              <a:rPr lang="es-ES" sz="14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view</a:t>
            </a:r>
            <a:endParaRPr lang="es-ES" sz="1400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95357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21215" y="448054"/>
            <a:ext cx="4928616" cy="6400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rtl="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</a:pPr>
            <a:r>
              <a:rPr lang="es-ES" sz="2600" dirty="0" err="1" smtClean="0"/>
              <a:t>Workflow</a:t>
            </a:r>
            <a:endParaRPr lang="es-ES" sz="2600" dirty="0"/>
          </a:p>
        </p:txBody>
      </p:sp>
      <p:pic>
        <p:nvPicPr>
          <p:cNvPr id="1026" name="Picture 2" descr="http://saifulmasud.weebly.com/uploads/2/9/3/5/29353475/laravel-architecture_orig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1730" y="1340262"/>
            <a:ext cx="8427308" cy="5211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9873960"/>
      </p:ext>
    </p:extLst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9B45"/>
        </a:solidFill>
        <a:ln>
          <a:solidFill>
            <a:srgbClr val="FF9B45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_14199827_TF10001033" id="{B8C5CA47-16DB-4B99-941C-1142562394E7}" vid="{2A9A9F5D-B7A7-4104-8DD8-8C97F33B830D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5284</TotalTime>
  <Words>1085</Words>
  <Application>Microsoft Office PowerPoint</Application>
  <PresentationFormat>Panorámica</PresentationFormat>
  <Paragraphs>83</Paragraphs>
  <Slides>9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Arial</vt:lpstr>
      <vt:lpstr>Calibri</vt:lpstr>
      <vt:lpstr>Segoe UI</vt:lpstr>
      <vt:lpstr>Segoe UI Light</vt:lpstr>
      <vt:lpstr>WelcomeDoc</vt:lpstr>
      <vt:lpstr>Laravel 9</vt:lpstr>
      <vt:lpstr>ÍNDICE</vt:lpstr>
      <vt:lpstr>ARQUITECTURA</vt:lpstr>
      <vt:lpstr>Ciclo de vida</vt:lpstr>
      <vt:lpstr>Service container</vt:lpstr>
      <vt:lpstr>Service providers</vt:lpstr>
      <vt:lpstr>Facades</vt:lpstr>
      <vt:lpstr>Facades</vt:lpstr>
      <vt:lpstr>Workflow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 damos la bienvenida a PowerPoint</dc:title>
  <dc:creator>José Javier Guillén Benavente</dc:creator>
  <cp:keywords/>
  <cp:lastModifiedBy>Familia Guillén Linares</cp:lastModifiedBy>
  <cp:revision>65</cp:revision>
  <dcterms:created xsi:type="dcterms:W3CDTF">2022-09-07T07:55:08Z</dcterms:created>
  <dcterms:modified xsi:type="dcterms:W3CDTF">2022-09-30T15:03:02Z</dcterms:modified>
  <cp:version/>
</cp:coreProperties>
</file>