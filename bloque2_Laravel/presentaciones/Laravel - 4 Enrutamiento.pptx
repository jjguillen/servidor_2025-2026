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handoutMasterIdLst>
    <p:handoutMasterId r:id="rId14"/>
  </p:handoutMasterIdLst>
  <p:sldIdLst>
    <p:sldId id="256" r:id="rId2"/>
    <p:sldId id="276" r:id="rId3"/>
    <p:sldId id="277" r:id="rId4"/>
    <p:sldId id="279" r:id="rId5"/>
    <p:sldId id="280" r:id="rId6"/>
    <p:sldId id="281" r:id="rId7"/>
    <p:sldId id="283" r:id="rId8"/>
    <p:sldId id="284" r:id="rId9"/>
    <p:sldId id="287" r:id="rId10"/>
    <p:sldId id="285" r:id="rId11"/>
    <p:sldId id="286" r:id="rId12"/>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 damos la bienvenida" id="{E75E278A-FF0E-49A4-B170-79828D63BBAD}">
          <p14:sldIdLst>
            <p14:sldId id="256"/>
            <p14:sldId id="276"/>
            <p14:sldId id="277"/>
          </p14:sldIdLst>
        </p14:section>
        <p14:section name="Diseñar, anotar, trabajar juntos, Información" id="{B9B51309-D148-4332-87C2-07BE32FBCA3B}">
          <p14:sldIdLst>
            <p14:sldId id="279"/>
            <p14:sldId id="280"/>
            <p14:sldId id="281"/>
            <p14:sldId id="283"/>
            <p14:sldId id="284"/>
            <p14:sldId id="287"/>
            <p14:sldId id="285"/>
            <p14:sldId id="286"/>
          </p14:sldIdLst>
        </p14:section>
        <p14:section name="Más información" id="{2CC34DB2-6590-42C0-AD4B-A04C6060184E}">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FF9B45"/>
    <a:srgbClr val="DD462F"/>
    <a:srgbClr val="F8CFB6"/>
    <a:srgbClr val="F8CAB6"/>
    <a:srgbClr val="923922"/>
    <a:srgbClr val="404040"/>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245" autoAdjust="0"/>
    <p:restoredTop sz="95401" autoAdjust="0"/>
  </p:normalViewPr>
  <p:slideViewPr>
    <p:cSldViewPr snapToGrid="0">
      <p:cViewPr varScale="1">
        <p:scale>
          <a:sx n="103" d="100"/>
          <a:sy n="103" d="100"/>
        </p:scale>
        <p:origin x="76" y="208"/>
      </p:cViewPr>
      <p:guideLst>
        <p:guide orient="horz" pos="2160"/>
        <p:guide pos="3840"/>
      </p:guideLst>
    </p:cSldViewPr>
  </p:slideViewPr>
  <p:outlineViewPr>
    <p:cViewPr>
      <p:scale>
        <a:sx n="33" d="100"/>
        <a:sy n="33" d="100"/>
      </p:scale>
      <p:origin x="0" y="-558"/>
    </p:cViewPr>
  </p:outlineViewPr>
  <p:notesTextViewPr>
    <p:cViewPr>
      <p:scale>
        <a:sx n="1" d="1"/>
        <a:sy n="1" d="1"/>
      </p:scale>
      <p:origin x="0" y="0"/>
    </p:cViewPr>
  </p:notesTextViewPr>
  <p:notesViewPr>
    <p:cSldViewPr snapToGrid="0">
      <p:cViewPr varScale="1">
        <p:scale>
          <a:sx n="90" d="100"/>
          <a:sy n="90" d="100"/>
        </p:scale>
        <p:origin x="2724"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dirty="0"/>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75B06AB2-534F-4317-9DBC-96E8A8114BFB}" type="datetime1">
              <a:rPr lang="es-ES" smtClean="0"/>
              <a:t>06/02/2023</a:t>
            </a:fld>
            <a:endParaRPr lang="es-ES" dirty="0"/>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dirty="0"/>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5184219E-1C28-46B7-A379-E02903B01D1A}" type="slidenum">
              <a:rPr lang="es-ES" smtClean="0"/>
              <a:t>‹Nº›</a:t>
            </a:fld>
            <a:endParaRPr lang="es-ES" dirty="0"/>
          </a:p>
        </p:txBody>
      </p:sp>
    </p:spTree>
    <p:extLst>
      <p:ext uri="{BB962C8B-B14F-4D97-AF65-F5344CB8AC3E}">
        <p14:creationId xmlns:p14="http://schemas.microsoft.com/office/powerpoint/2010/main" val="290725221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7BC32159-CBC1-4C9D-9A0C-0BE24C8C9CDA}" type="datetime1">
              <a:rPr lang="es-ES" noProof="0" smtClean="0"/>
              <a:t>06/02/2023</a:t>
            </a:fld>
            <a:endParaRPr lang="es-ES" noProof="0"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F61EA0F-A667-4B49-8422-0062BC55E249}" type="slidenum">
              <a:rPr lang="es-ES" noProof="0" smtClean="0"/>
              <a:t>‹Nº›</a:t>
            </a:fld>
            <a:endParaRPr lang="es-ES" noProof="0"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1143000"/>
            <a:ext cx="5486400" cy="3086100"/>
          </a:xfrm>
        </p:spPr>
      </p:sp>
      <p:sp>
        <p:nvSpPr>
          <p:cNvPr id="3" name="Marcador de posición de notas 2"/>
          <p:cNvSpPr>
            <a:spLocks noGrp="1"/>
          </p:cNvSpPr>
          <p:nvPr>
            <p:ph type="body" idx="1"/>
          </p:nvPr>
        </p:nvSpPr>
        <p:spPr/>
        <p:txBody>
          <a:bodyPr rtlCol="0"/>
          <a:lstStyle/>
          <a:p>
            <a:pPr rtl="0"/>
            <a:endParaRPr lang="es-ES" dirty="0"/>
          </a:p>
        </p:txBody>
      </p:sp>
      <p:sp>
        <p:nvSpPr>
          <p:cNvPr id="4" name="Marcador de número de diapositiva 3"/>
          <p:cNvSpPr>
            <a:spLocks noGrp="1"/>
          </p:cNvSpPr>
          <p:nvPr>
            <p:ph type="sldNum" sz="quarter" idx="10"/>
          </p:nvPr>
        </p:nvSpPr>
        <p:spPr/>
        <p:txBody>
          <a:bodyPr rtlCol="0"/>
          <a:lstStyle/>
          <a:p>
            <a:pPr rtl="0"/>
            <a:fld id="{DF61EA0F-A667-4B49-8422-0062BC55E249}" type="slidenum">
              <a:rPr lang="es-ES" smtClean="0"/>
              <a:t>1</a:t>
            </a:fld>
            <a:endParaRPr lang="es-ES" dirty="0"/>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685800" y="1143000"/>
            <a:ext cx="5486400" cy="3086100"/>
          </a:xfrm>
        </p:spPr>
      </p:sp>
      <p:sp>
        <p:nvSpPr>
          <p:cNvPr id="3" name="Marcador de posición de notas 2"/>
          <p:cNvSpPr>
            <a:spLocks noGrp="1"/>
          </p:cNvSpPr>
          <p:nvPr>
            <p:ph type="body" idx="1"/>
          </p:nvPr>
        </p:nvSpPr>
        <p:spPr/>
        <p:txBody>
          <a:bodyPr rtlCol="0"/>
          <a:lstStyle/>
          <a:p>
            <a:pPr rtl="0"/>
            <a:r>
              <a:rPr lang="es-ES" dirty="0"/>
              <a:t>En el modo Presentación con diapositivas, seleccione la flecha para ir al Centro de introducción a PowerPoint.</a:t>
            </a:r>
          </a:p>
        </p:txBody>
      </p:sp>
      <p:sp>
        <p:nvSpPr>
          <p:cNvPr id="4" name="Marcador de número de diapositiva 3"/>
          <p:cNvSpPr>
            <a:spLocks noGrp="1"/>
          </p:cNvSpPr>
          <p:nvPr>
            <p:ph type="sldNum" sz="quarter" idx="10"/>
          </p:nvPr>
        </p:nvSpPr>
        <p:spPr/>
        <p:txBody>
          <a:bodyPr rtlCol="0"/>
          <a:lstStyle/>
          <a:p>
            <a:pPr rtl="0"/>
            <a:fld id="{DF61EA0F-A667-4B49-8422-0062BC55E249}" type="slidenum">
              <a:rPr lang="es-ES" smtClean="0"/>
              <a:t>3</a:t>
            </a:fld>
            <a:endParaRPr lang="es-ES" dirty="0"/>
          </a:p>
        </p:txBody>
      </p:sp>
    </p:spTree>
    <p:extLst>
      <p:ext uri="{BB962C8B-B14F-4D97-AF65-F5344CB8AC3E}">
        <p14:creationId xmlns:p14="http://schemas.microsoft.com/office/powerpoint/2010/main" val="5222684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DF61EA0F-A667-4B49-8422-0062BC55E249}" type="slidenum">
              <a:rPr lang="es-ES" smtClean="0"/>
              <a:t>4</a:t>
            </a:fld>
            <a:endParaRPr lang="es-ES" dirty="0"/>
          </a:p>
        </p:txBody>
      </p:sp>
    </p:spTree>
    <p:extLst>
      <p:ext uri="{BB962C8B-B14F-4D97-AF65-F5344CB8AC3E}">
        <p14:creationId xmlns:p14="http://schemas.microsoft.com/office/powerpoint/2010/main" val="24411655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DF61EA0F-A667-4B49-8422-0062BC55E249}" type="slidenum">
              <a:rPr lang="es-ES" smtClean="0"/>
              <a:t>5</a:t>
            </a:fld>
            <a:endParaRPr lang="es-ES" dirty="0"/>
          </a:p>
        </p:txBody>
      </p:sp>
    </p:spTree>
    <p:extLst>
      <p:ext uri="{BB962C8B-B14F-4D97-AF65-F5344CB8AC3E}">
        <p14:creationId xmlns:p14="http://schemas.microsoft.com/office/powerpoint/2010/main" val="5737319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DF61EA0F-A667-4B49-8422-0062BC55E249}" type="slidenum">
              <a:rPr lang="es-ES" smtClean="0"/>
              <a:t>6</a:t>
            </a:fld>
            <a:endParaRPr lang="es-ES" dirty="0"/>
          </a:p>
        </p:txBody>
      </p:sp>
    </p:spTree>
    <p:extLst>
      <p:ext uri="{BB962C8B-B14F-4D97-AF65-F5344CB8AC3E}">
        <p14:creationId xmlns:p14="http://schemas.microsoft.com/office/powerpoint/2010/main" val="7890417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DF61EA0F-A667-4B49-8422-0062BC55E249}" type="slidenum">
              <a:rPr lang="es-ES" smtClean="0"/>
              <a:t>7</a:t>
            </a:fld>
            <a:endParaRPr lang="es-ES" dirty="0"/>
          </a:p>
        </p:txBody>
      </p:sp>
    </p:spTree>
    <p:extLst>
      <p:ext uri="{BB962C8B-B14F-4D97-AF65-F5344CB8AC3E}">
        <p14:creationId xmlns:p14="http://schemas.microsoft.com/office/powerpoint/2010/main" val="10872030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DF61EA0F-A667-4B49-8422-0062BC55E249}" type="slidenum">
              <a:rPr lang="es-ES" smtClean="0"/>
              <a:t>8</a:t>
            </a:fld>
            <a:endParaRPr lang="es-ES" dirty="0"/>
          </a:p>
        </p:txBody>
      </p:sp>
    </p:spTree>
    <p:extLst>
      <p:ext uri="{BB962C8B-B14F-4D97-AF65-F5344CB8AC3E}">
        <p14:creationId xmlns:p14="http://schemas.microsoft.com/office/powerpoint/2010/main" val="25958290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DF61EA0F-A667-4B49-8422-0062BC55E249}" type="slidenum">
              <a:rPr lang="es-ES" smtClean="0"/>
              <a:t>9</a:t>
            </a:fld>
            <a:endParaRPr lang="es-ES" dirty="0"/>
          </a:p>
        </p:txBody>
      </p:sp>
    </p:spTree>
    <p:extLst>
      <p:ext uri="{BB962C8B-B14F-4D97-AF65-F5344CB8AC3E}">
        <p14:creationId xmlns:p14="http://schemas.microsoft.com/office/powerpoint/2010/main" val="22143500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DF61EA0F-A667-4B49-8422-0062BC55E249}" type="slidenum">
              <a:rPr lang="es-ES" smtClean="0"/>
              <a:t>10</a:t>
            </a:fld>
            <a:endParaRPr lang="es-ES" dirty="0"/>
          </a:p>
        </p:txBody>
      </p:sp>
    </p:spTree>
    <p:extLst>
      <p:ext uri="{BB962C8B-B14F-4D97-AF65-F5344CB8AC3E}">
        <p14:creationId xmlns:p14="http://schemas.microsoft.com/office/powerpoint/2010/main" val="19158681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pPr rtl="0"/>
            <a:fld id="{DF61EA0F-A667-4B49-8422-0062BC55E249}" type="slidenum">
              <a:rPr lang="es-ES" smtClean="0"/>
              <a:t>11</a:t>
            </a:fld>
            <a:endParaRPr lang="es-ES" dirty="0"/>
          </a:p>
        </p:txBody>
      </p:sp>
    </p:spTree>
    <p:extLst>
      <p:ext uri="{BB962C8B-B14F-4D97-AF65-F5344CB8AC3E}">
        <p14:creationId xmlns:p14="http://schemas.microsoft.com/office/powerpoint/2010/main" val="22399792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7" name="Rectángulo 6"/>
          <p:cNvSpPr/>
          <p:nvPr userDrawn="1"/>
        </p:nvSpPr>
        <p:spPr>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80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contenido">
    <p:spTree>
      <p:nvGrpSpPr>
        <p:cNvPr id="1" name=""/>
        <p:cNvGrpSpPr/>
        <p:nvPr/>
      </p:nvGrpSpPr>
      <p:grpSpPr>
        <a:xfrm>
          <a:off x="0" y="0"/>
          <a:ext cx="0" cy="0"/>
          <a:chOff x="0" y="0"/>
          <a:chExt cx="0" cy="0"/>
        </a:xfrm>
      </p:grpSpPr>
      <p:sp>
        <p:nvSpPr>
          <p:cNvPr id="9" name="Rectángulo 8"/>
          <p:cNvSpPr/>
          <p:nvPr userDrawn="1"/>
        </p:nvSpPr>
        <p:spPr>
          <a:xfrm>
            <a:off x="254476"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sz="1800" noProof="0" dirty="0"/>
          </a:p>
        </p:txBody>
      </p:sp>
      <p:cxnSp>
        <p:nvCxnSpPr>
          <p:cNvPr id="12" name="Conector recto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2" name="Título 1"/>
          <p:cNvSpPr>
            <a:spLocks noGrp="1"/>
          </p:cNvSpPr>
          <p:nvPr>
            <p:ph type="title"/>
          </p:nvPr>
        </p:nvSpPr>
        <p:spPr>
          <a:xfrm>
            <a:off x="521208" y="368802"/>
            <a:ext cx="4434840" cy="640080"/>
          </a:xfrm>
        </p:spPr>
        <p:txBody>
          <a:bodyPr vert="horz" lIns="91440" tIns="45720" rIns="91440" bIns="45720" rtlCol="0" anchor="b">
            <a:normAutofit/>
          </a:bodyPr>
          <a:lstStyle>
            <a:lvl1pPr marL="0" indent="0" rtl="0">
              <a:lnSpc>
                <a:spcPct val="90000"/>
              </a:lnSpc>
              <a:spcBef>
                <a:spcPct val="30000"/>
              </a:spcBef>
              <a:buFont typeface="Arial" panose="020B0604020202020204" pitchFamily="34" charset="0"/>
              <a:defRPr lang="en-US" sz="2400" b="0" dirty="0">
                <a:solidFill>
                  <a:schemeClr val="bg2">
                    <a:lumMod val="25000"/>
                  </a:schemeClr>
                </a:solidFill>
                <a:ea typeface="+mn-ea"/>
                <a:cs typeface="+mn-cs"/>
              </a:defRPr>
            </a:lvl1pPr>
          </a:lstStyle>
          <a:p>
            <a:pPr marL="0" lvl="0" indent="0" rtl="0">
              <a:lnSpc>
                <a:spcPct val="90000"/>
              </a:lnSpc>
              <a:spcBef>
                <a:spcPct val="30000"/>
              </a:spcBef>
              <a:buFont typeface="Arial" panose="020B0604020202020204" pitchFamily="34" charset="0"/>
            </a:pPr>
            <a:r>
              <a:rPr lang="es-ES" noProof="0"/>
              <a:t>Haga clic para modificar el estilo de título del patrón</a:t>
            </a:r>
            <a:endParaRPr lang="es-ES" noProof="0" dirty="0"/>
          </a:p>
        </p:txBody>
      </p:sp>
      <p:sp>
        <p:nvSpPr>
          <p:cNvPr id="5" name="Marcador de contenido 4"/>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rtl="0">
              <a:lnSpc>
                <a:spcPct val="150000"/>
              </a:lnSpc>
              <a:spcBef>
                <a:spcPts val="1000"/>
              </a:spcBef>
              <a:spcAft>
                <a:spcPts val="1200"/>
              </a:spcAft>
              <a:buNone/>
            </a:pPr>
            <a:r>
              <a:rPr lang="es-ES" noProof="0"/>
              <a:t>Haga clic para modificar los estilos de texto del patrón</a:t>
            </a:r>
          </a:p>
          <a:p>
            <a:pPr marL="0" lvl="1" indent="0" rtl="0">
              <a:lnSpc>
                <a:spcPct val="150000"/>
              </a:lnSpc>
              <a:spcBef>
                <a:spcPts val="1000"/>
              </a:spcBef>
              <a:spcAft>
                <a:spcPts val="1200"/>
              </a:spcAft>
              <a:buNone/>
            </a:pPr>
            <a:r>
              <a:rPr lang="es-ES" noProof="0"/>
              <a:t>Segundo nivel</a:t>
            </a:r>
          </a:p>
          <a:p>
            <a:pPr marL="0" lvl="2" indent="0" rtl="0">
              <a:lnSpc>
                <a:spcPct val="150000"/>
              </a:lnSpc>
              <a:spcBef>
                <a:spcPts val="1000"/>
              </a:spcBef>
              <a:spcAft>
                <a:spcPts val="1200"/>
              </a:spcAft>
              <a:buNone/>
            </a:pPr>
            <a:r>
              <a:rPr lang="es-ES" noProof="0"/>
              <a:t>Tercer nivel</a:t>
            </a:r>
          </a:p>
          <a:p>
            <a:pPr marL="0" lvl="3" indent="0" rtl="0">
              <a:lnSpc>
                <a:spcPct val="150000"/>
              </a:lnSpc>
              <a:spcBef>
                <a:spcPts val="1000"/>
              </a:spcBef>
              <a:spcAft>
                <a:spcPts val="1200"/>
              </a:spcAft>
              <a:buNone/>
            </a:pPr>
            <a:r>
              <a:rPr lang="es-ES" noProof="0"/>
              <a:t>Cuarto nivel</a:t>
            </a:r>
          </a:p>
          <a:p>
            <a:pPr marL="0" lvl="4" indent="0" rtl="0">
              <a:lnSpc>
                <a:spcPct val="150000"/>
              </a:lnSpc>
              <a:spcBef>
                <a:spcPts val="1000"/>
              </a:spcBef>
              <a:spcAft>
                <a:spcPts val="1200"/>
              </a:spcAft>
              <a:buNone/>
            </a:pPr>
            <a:r>
              <a:rPr lang="es-ES" noProof="0"/>
              <a:t>Quinto nivel</a:t>
            </a:r>
            <a:endParaRPr lang="es-ES" noProof="0" dirty="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sp>
        <p:nvSpPr>
          <p:cNvPr id="4" name="Marcador de fecha 3"/>
          <p:cNvSpPr>
            <a:spLocks noGrp="1"/>
          </p:cNvSpPr>
          <p:nvPr>
            <p:ph type="dt" sz="half" idx="10"/>
          </p:nvPr>
        </p:nvSpPr>
        <p:spPr/>
        <p:txBody>
          <a:bodyPr rtlCol="0"/>
          <a:lstStyle/>
          <a:p>
            <a:pPr rtl="0"/>
            <a:fld id="{AF6F98EE-852A-4139-9CFD-A1A4BA052067}" type="datetime1">
              <a:rPr lang="es-ES" noProof="0" smtClean="0"/>
              <a:t>06/02/2023</a:t>
            </a:fld>
            <a:endParaRPr lang="es-ES" noProof="0" dirty="0"/>
          </a:p>
        </p:txBody>
      </p:sp>
      <p:sp>
        <p:nvSpPr>
          <p:cNvPr id="5" name="Marcador de pie de página 4"/>
          <p:cNvSpPr>
            <a:spLocks noGrp="1"/>
          </p:cNvSpPr>
          <p:nvPr>
            <p:ph type="ftr" sz="quarter" idx="11"/>
          </p:nvPr>
        </p:nvSpPr>
        <p:spPr/>
        <p:txBody>
          <a:bodyPr rtlCol="0"/>
          <a:lstStyle/>
          <a:p>
            <a:pPr rtl="0"/>
            <a:endParaRPr lang="es-ES" noProof="0" dirty="0"/>
          </a:p>
        </p:txBody>
      </p:sp>
      <p:sp>
        <p:nvSpPr>
          <p:cNvPr id="6" name="Marcador de número de diapositiva 5"/>
          <p:cNvSpPr>
            <a:spLocks noGrp="1"/>
          </p:cNvSpPr>
          <p:nvPr>
            <p:ph type="sldNum" sz="quarter" idx="12"/>
          </p:nvPr>
        </p:nvSpPr>
        <p:spPr/>
        <p:txBody>
          <a:bodyPr rtlCol="0"/>
          <a:lstStyle/>
          <a:p>
            <a:pPr rtl="0"/>
            <a:fld id="{9860EDB8-5305-433F-BE41-D7A86D811DB3}" type="slidenum">
              <a:rPr lang="es-ES" noProof="0" smtClean="0"/>
              <a:t>‹Nº›</a:t>
            </a:fld>
            <a:endParaRPr lang="es-ES" noProof="0" dirty="0"/>
          </a:p>
        </p:txBody>
      </p:sp>
      <p:sp>
        <p:nvSpPr>
          <p:cNvPr id="9" name="Rectángulo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sz="1800" noProof="0" dirty="0"/>
          </a:p>
        </p:txBody>
      </p:sp>
      <p:sp>
        <p:nvSpPr>
          <p:cNvPr id="10" name="Rectángulo 9"/>
          <p:cNvSpPr/>
          <p:nvPr userDrawn="1"/>
        </p:nvSpPr>
        <p:spPr>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sz="1800" noProof="0" dirty="0"/>
          </a:p>
        </p:txBody>
      </p:sp>
      <p:sp>
        <p:nvSpPr>
          <p:cNvPr id="3" name="Título 2"/>
          <p:cNvSpPr>
            <a:spLocks noGrp="1"/>
          </p:cNvSpPr>
          <p:nvPr>
            <p:ph type="title"/>
          </p:nvPr>
        </p:nvSpPr>
        <p:spPr>
          <a:xfrm>
            <a:off x="521208" y="1536192"/>
            <a:ext cx="6263640" cy="640080"/>
          </a:xfrm>
        </p:spPr>
        <p:txBody>
          <a:bodyPr vert="horz" lIns="91440" tIns="45720" rIns="91440" bIns="45720" rtlCol="0" anchor="b">
            <a:normAutofit/>
          </a:bodyPr>
          <a:lstStyle>
            <a:lvl1pPr marL="0" indent="0" rtl="0">
              <a:lnSpc>
                <a:spcPct val="90000"/>
              </a:lnSpc>
              <a:spcBef>
                <a:spcPct val="30000"/>
              </a:spcBef>
              <a:buFont typeface="Arial" panose="020B0604020202020204" pitchFamily="34" charset="0"/>
              <a:defRPr lang="en-US" sz="3600" b="0" dirty="0">
                <a:solidFill>
                  <a:schemeClr val="bg1"/>
                </a:solidFill>
                <a:ea typeface="+mn-ea"/>
                <a:cs typeface="+mn-cs"/>
              </a:defRPr>
            </a:lvl1pPr>
          </a:lstStyle>
          <a:p>
            <a:pPr marL="0" lvl="0" indent="0" rtl="0">
              <a:lnSpc>
                <a:spcPct val="90000"/>
              </a:lnSpc>
              <a:spcBef>
                <a:spcPct val="30000"/>
              </a:spcBef>
              <a:buFont typeface="Arial" panose="020B0604020202020204" pitchFamily="34" charset="0"/>
            </a:pPr>
            <a:r>
              <a:rPr lang="es-ES" noProof="0"/>
              <a:t>Haga clic para modificar el estilo de título del patrón</a:t>
            </a:r>
            <a:endParaRPr lang="es-ES" noProof="0" dirty="0"/>
          </a:p>
        </p:txBody>
      </p:sp>
      <p:sp>
        <p:nvSpPr>
          <p:cNvPr id="8" name="Marcador de posición de contenido 7"/>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rtl="0">
              <a:lnSpc>
                <a:spcPct val="150000"/>
              </a:lnSpc>
              <a:spcBef>
                <a:spcPts val="1000"/>
              </a:spcBef>
              <a:spcAft>
                <a:spcPts val="1200"/>
              </a:spcAft>
              <a:buNone/>
            </a:pPr>
            <a:r>
              <a:rPr lang="es-ES" noProof="0"/>
              <a:t>Haga clic para modificar los estilos de texto del patrón</a:t>
            </a:r>
          </a:p>
          <a:p>
            <a:pPr marL="0" lvl="1" indent="0" rtl="0">
              <a:lnSpc>
                <a:spcPct val="150000"/>
              </a:lnSpc>
              <a:spcBef>
                <a:spcPts val="1000"/>
              </a:spcBef>
              <a:spcAft>
                <a:spcPts val="1200"/>
              </a:spcAft>
              <a:buNone/>
            </a:pPr>
            <a:r>
              <a:rPr lang="es-ES" noProof="0"/>
              <a:t>Segundo nivel</a:t>
            </a:r>
          </a:p>
          <a:p>
            <a:pPr marL="0" lvl="2" indent="0" rtl="0">
              <a:lnSpc>
                <a:spcPct val="150000"/>
              </a:lnSpc>
              <a:spcBef>
                <a:spcPts val="1000"/>
              </a:spcBef>
              <a:spcAft>
                <a:spcPts val="1200"/>
              </a:spcAft>
              <a:buNone/>
            </a:pPr>
            <a:r>
              <a:rPr lang="es-ES" noProof="0"/>
              <a:t>Tercer nivel</a:t>
            </a:r>
          </a:p>
          <a:p>
            <a:pPr marL="0" lvl="3" indent="0" rtl="0">
              <a:lnSpc>
                <a:spcPct val="150000"/>
              </a:lnSpc>
              <a:spcBef>
                <a:spcPts val="1000"/>
              </a:spcBef>
              <a:spcAft>
                <a:spcPts val="1200"/>
              </a:spcAft>
              <a:buNone/>
            </a:pPr>
            <a:r>
              <a:rPr lang="es-ES" noProof="0"/>
              <a:t>Cuarto nivel</a:t>
            </a:r>
          </a:p>
          <a:p>
            <a:pPr marL="0" lvl="4" indent="0" rtl="0">
              <a:lnSpc>
                <a:spcPct val="150000"/>
              </a:lnSpc>
              <a:spcBef>
                <a:spcPts val="1000"/>
              </a:spcBef>
              <a:spcAft>
                <a:spcPts val="1200"/>
              </a:spcAft>
              <a:buNone/>
            </a:pPr>
            <a:r>
              <a:rPr lang="es-ES" noProof="0"/>
              <a:t>Quinto nivel</a:t>
            </a:r>
            <a:endParaRPr lang="es-ES" noProof="0" dirty="0"/>
          </a:p>
        </p:txBody>
      </p:sp>
    </p:spTree>
    <p:extLst>
      <p:ext uri="{BB962C8B-B14F-4D97-AF65-F5344CB8AC3E}">
        <p14:creationId xmlns:p14="http://schemas.microsoft.com/office/powerpoint/2010/main" val="13356555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pPr rtl="0"/>
            <a:r>
              <a:rPr lang="es-ES" noProof="0" dirty="0"/>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4" name="Marcador de fecha 3"/>
          <p:cNvSpPr>
            <a:spLocks noGrp="1"/>
          </p:cNvSpPr>
          <p:nvPr>
            <p:ph type="dt" sz="half" idx="2"/>
          </p:nvPr>
        </p:nvSpPr>
        <p:spPr>
          <a:xfrm>
            <a:off x="838200" y="6356352"/>
            <a:ext cx="3276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2F50242A-6024-4A62-8CDA-92D97616828A}" type="datetime1">
              <a:rPr lang="es-ES" noProof="0" smtClean="0"/>
              <a:t>06/02/2023</a:t>
            </a:fld>
            <a:endParaRPr lang="es-ES" noProof="0" dirty="0"/>
          </a:p>
        </p:txBody>
      </p:sp>
      <p:sp>
        <p:nvSpPr>
          <p:cNvPr id="5" name="Marcador de pie de página 4"/>
          <p:cNvSpPr>
            <a:spLocks noGrp="1"/>
          </p:cNvSpPr>
          <p:nvPr>
            <p:ph type="ftr" sz="quarter" idx="3"/>
          </p:nvPr>
        </p:nvSpPr>
        <p:spPr>
          <a:xfrm>
            <a:off x="4648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es-ES" noProof="0" dirty="0"/>
          </a:p>
        </p:txBody>
      </p:sp>
      <p:sp>
        <p:nvSpPr>
          <p:cNvPr id="6" name="Marcador de número de diapositiva 5"/>
          <p:cNvSpPr>
            <a:spLocks noGrp="1"/>
          </p:cNvSpPr>
          <p:nvPr>
            <p:ph type="sldNum" sz="quarter" idx="4"/>
          </p:nvPr>
        </p:nvSpPr>
        <p:spPr>
          <a:xfrm>
            <a:off x="8077200" y="6356352"/>
            <a:ext cx="3276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9860EDB8-5305-433F-BE41-D7A86D811DB3}" type="slidenum">
              <a:rPr lang="es-ES" noProof="0" smtClean="0"/>
              <a:t>‹Nº›</a:t>
            </a:fld>
            <a:endParaRPr lang="es-ES" noProof="0" dirty="0"/>
          </a:p>
        </p:txBody>
      </p: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sldNum="0" hdr="0" ftr="0" dt="0"/>
  <p:txStyles>
    <p:titleStyle>
      <a:lvl1pPr algn="l" defTabSz="914400" rtl="0" eaLnBrk="1" latinLnBrk="0" hangingPunct="1">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idx="4294967295"/>
          </p:nvPr>
        </p:nvSpPr>
        <p:spPr>
          <a:xfrm>
            <a:off x="838200" y="1164324"/>
            <a:ext cx="10515600" cy="2387600"/>
          </a:xfrm>
        </p:spPr>
        <p:txBody>
          <a:bodyPr rtlCol="0">
            <a:normAutofit/>
          </a:bodyPr>
          <a:lstStyle/>
          <a:p>
            <a:pPr rtl="0"/>
            <a:r>
              <a:rPr lang="es-ES" sz="4800" dirty="0">
                <a:solidFill>
                  <a:schemeClr val="bg1"/>
                </a:solidFill>
              </a:rPr>
              <a:t>Laravel 9</a:t>
            </a:r>
          </a:p>
        </p:txBody>
      </p:sp>
      <p:sp>
        <p:nvSpPr>
          <p:cNvPr id="3" name="Subtítulo 2"/>
          <p:cNvSpPr>
            <a:spLocks noGrp="1"/>
          </p:cNvSpPr>
          <p:nvPr>
            <p:ph type="subTitle" idx="4294967295"/>
          </p:nvPr>
        </p:nvSpPr>
        <p:spPr>
          <a:xfrm>
            <a:off x="855620" y="2933105"/>
            <a:ext cx="9582736" cy="1137793"/>
          </a:xfrm>
        </p:spPr>
        <p:txBody>
          <a:bodyPr rtlCol="0">
            <a:normAutofit/>
          </a:bodyPr>
          <a:lstStyle/>
          <a:p>
            <a:pPr marL="0" indent="0" rtl="0">
              <a:buNone/>
            </a:pPr>
            <a:r>
              <a:rPr lang="es-ES" sz="2400" dirty="0">
                <a:solidFill>
                  <a:schemeClr val="bg1"/>
                </a:solidFill>
                <a:latin typeface="+mj-lt"/>
              </a:rPr>
              <a:t>Framework PHP</a:t>
            </a:r>
          </a:p>
        </p:txBody>
      </p:sp>
      <p:sp>
        <p:nvSpPr>
          <p:cNvPr id="5" name="CuadroTexto 4">
            <a:extLst>
              <a:ext uri="{FF2B5EF4-FFF2-40B4-BE49-F238E27FC236}">
                <a16:creationId xmlns:a16="http://schemas.microsoft.com/office/drawing/2014/main" id="{684A30A1-7FD6-4298-A1D0-301DDF69D250}"/>
              </a:ext>
            </a:extLst>
          </p:cNvPr>
          <p:cNvSpPr txBox="1"/>
          <p:nvPr/>
        </p:nvSpPr>
        <p:spPr>
          <a:xfrm>
            <a:off x="838200" y="5503176"/>
            <a:ext cx="3187700" cy="381000"/>
          </a:xfrm>
          <a:prstGeom prst="rect">
            <a:avLst/>
          </a:prstGeom>
          <a:noFill/>
        </p:spPr>
        <p:txBody>
          <a:bodyPr wrap="square" rtlCol="0">
            <a:spAutoFit/>
          </a:bodyPr>
          <a:lstStyle/>
          <a:p>
            <a:pPr algn="l"/>
            <a:r>
              <a:rPr lang="es-ES" dirty="0">
                <a:solidFill>
                  <a:schemeClr val="bg1"/>
                </a:solidFill>
                <a:latin typeface="+mj-lt"/>
              </a:rPr>
              <a:t>Javier Guillén Benavente</a:t>
            </a:r>
          </a:p>
        </p:txBody>
      </p:sp>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ACF6AC-EE60-4591-A0D8-8219FA214860}"/>
              </a:ext>
            </a:extLst>
          </p:cNvPr>
          <p:cNvSpPr>
            <a:spLocks noGrp="1"/>
          </p:cNvSpPr>
          <p:nvPr>
            <p:ph type="title"/>
          </p:nvPr>
        </p:nvSpPr>
        <p:spPr/>
        <p:txBody>
          <a:bodyPr/>
          <a:lstStyle/>
          <a:p>
            <a:r>
              <a:rPr lang="es-ES" dirty="0"/>
              <a:t>ÍNDICE</a:t>
            </a:r>
          </a:p>
        </p:txBody>
      </p:sp>
      <p:sp>
        <p:nvSpPr>
          <p:cNvPr id="3" name="Marcador de contenido 2">
            <a:extLst>
              <a:ext uri="{FF2B5EF4-FFF2-40B4-BE49-F238E27FC236}">
                <a16:creationId xmlns:a16="http://schemas.microsoft.com/office/drawing/2014/main" id="{BD7C5854-93BC-4152-8FC3-93FDA76119B5}"/>
              </a:ext>
            </a:extLst>
          </p:cNvPr>
          <p:cNvSpPr>
            <a:spLocks noGrp="1"/>
          </p:cNvSpPr>
          <p:nvPr>
            <p:ph sz="quarter" idx="10"/>
          </p:nvPr>
        </p:nvSpPr>
        <p:spPr>
          <a:xfrm>
            <a:off x="539496" y="1435608"/>
            <a:ext cx="5023104" cy="5111242"/>
          </a:xfrm>
        </p:spPr>
        <p:txBody>
          <a:bodyPr>
            <a:normAutofit/>
          </a:bodyPr>
          <a:lstStyle/>
          <a:p>
            <a:pPr>
              <a:buFont typeface="+mj-lt"/>
              <a:buAutoNum type="arabicPeriod"/>
            </a:pPr>
            <a:r>
              <a:rPr lang="es-ES" sz="1700" dirty="0"/>
              <a:t>INTRODUCCIÓN</a:t>
            </a:r>
          </a:p>
          <a:p>
            <a:pPr>
              <a:buFont typeface="+mj-lt"/>
              <a:buAutoNum type="arabicPeriod"/>
            </a:pPr>
            <a:r>
              <a:rPr lang="es-ES" sz="1700" dirty="0"/>
              <a:t>CONCEPTOS DE ARQUITECTURA</a:t>
            </a:r>
          </a:p>
          <a:p>
            <a:pPr>
              <a:buFont typeface="+mj-lt"/>
              <a:buAutoNum type="arabicPeriod"/>
            </a:pPr>
            <a:r>
              <a:rPr lang="es-ES" sz="1700" dirty="0">
                <a:solidFill>
                  <a:schemeClr val="tx1"/>
                </a:solidFill>
              </a:rPr>
              <a:t>PRIMEROS PASOS</a:t>
            </a:r>
          </a:p>
          <a:p>
            <a:pPr>
              <a:buFont typeface="+mj-lt"/>
              <a:buAutoNum type="arabicPeriod"/>
            </a:pPr>
            <a:r>
              <a:rPr lang="es-ES" sz="1700" dirty="0">
                <a:solidFill>
                  <a:schemeClr val="accent2"/>
                </a:solidFill>
              </a:rPr>
              <a:t>ENRUTAMIENTO</a:t>
            </a:r>
          </a:p>
          <a:p>
            <a:pPr>
              <a:buFont typeface="+mj-lt"/>
              <a:buAutoNum type="arabicPeriod"/>
            </a:pPr>
            <a:r>
              <a:rPr lang="es-ES" sz="1700" dirty="0"/>
              <a:t>MIDDLEWARE</a:t>
            </a:r>
          </a:p>
          <a:p>
            <a:pPr>
              <a:buFont typeface="+mj-lt"/>
              <a:buAutoNum type="arabicPeriod"/>
            </a:pPr>
            <a:r>
              <a:rPr lang="es-ES" sz="1700" dirty="0"/>
              <a:t>CONTROLADORES</a:t>
            </a:r>
          </a:p>
          <a:p>
            <a:pPr>
              <a:buFont typeface="+mj-lt"/>
              <a:buAutoNum type="arabicPeriod"/>
            </a:pPr>
            <a:r>
              <a:rPr lang="es-ES" sz="1700" dirty="0"/>
              <a:t>REQUESTS</a:t>
            </a:r>
          </a:p>
          <a:p>
            <a:pPr>
              <a:buFont typeface="+mj-lt"/>
              <a:buAutoNum type="arabicPeriod"/>
            </a:pPr>
            <a:r>
              <a:rPr lang="es-ES" sz="1700" dirty="0"/>
              <a:t>RESPONSES</a:t>
            </a:r>
          </a:p>
          <a:p>
            <a:pPr>
              <a:buFont typeface="+mj-lt"/>
              <a:buAutoNum type="arabicPeriod"/>
            </a:pPr>
            <a:r>
              <a:rPr lang="es-ES" sz="1700" dirty="0"/>
              <a:t>VISTAS</a:t>
            </a:r>
          </a:p>
          <a:p>
            <a:pPr>
              <a:buFont typeface="+mj-lt"/>
              <a:buAutoNum type="arabicPeriod"/>
            </a:pPr>
            <a:r>
              <a:rPr lang="es-ES" sz="1700" dirty="0"/>
              <a:t>PLANTILLAS BLADE</a:t>
            </a:r>
          </a:p>
          <a:p>
            <a:pPr>
              <a:buFont typeface="+mj-lt"/>
              <a:buAutoNum type="arabicPeriod"/>
            </a:pPr>
            <a:r>
              <a:rPr lang="es-ES" sz="1700" dirty="0"/>
              <a:t>SESIÓN Y VALIDACIÓN</a:t>
            </a:r>
          </a:p>
          <a:p>
            <a:pPr>
              <a:buFont typeface="+mj-lt"/>
              <a:buAutoNum type="arabicPeriod"/>
            </a:pPr>
            <a:r>
              <a:rPr lang="es-ES" sz="1700" dirty="0"/>
              <a:t>SEGURIDAD</a:t>
            </a:r>
          </a:p>
          <a:p>
            <a:pPr>
              <a:buFont typeface="+mj-lt"/>
              <a:buAutoNum type="arabicPeriod"/>
            </a:pPr>
            <a:r>
              <a:rPr lang="es-ES" sz="1700" dirty="0"/>
              <a:t>BASE DE DATOS</a:t>
            </a:r>
          </a:p>
          <a:p>
            <a:pPr>
              <a:buFont typeface="+mj-lt"/>
              <a:buAutoNum type="arabicPeriod"/>
            </a:pPr>
            <a:r>
              <a:rPr lang="es-ES" sz="1700" dirty="0"/>
              <a:t>ELOQUENT (ORM)</a:t>
            </a:r>
          </a:p>
          <a:p>
            <a:pPr>
              <a:buFont typeface="+mj-lt"/>
              <a:buAutoNum type="arabicPeriod"/>
            </a:pPr>
            <a:endParaRPr lang="es-ES" dirty="0"/>
          </a:p>
          <a:p>
            <a:pPr marL="0" indent="0">
              <a:buNone/>
            </a:pPr>
            <a:endParaRPr lang="es-ES" dirty="0"/>
          </a:p>
          <a:p>
            <a:pPr>
              <a:buFont typeface="+mj-lt"/>
              <a:buAutoNum type="arabicPeriod"/>
            </a:pPr>
            <a:endParaRPr lang="es-ES" dirty="0"/>
          </a:p>
        </p:txBody>
      </p:sp>
    </p:spTree>
    <p:extLst>
      <p:ext uri="{BB962C8B-B14F-4D97-AF65-F5344CB8AC3E}">
        <p14:creationId xmlns:p14="http://schemas.microsoft.com/office/powerpoint/2010/main" val="1900875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521208" y="1536192"/>
            <a:ext cx="9107424"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dirty="0" smtClean="0"/>
              <a:t>ENRUTAMIENTO</a:t>
            </a:r>
            <a:endParaRPr lang="es-ES" dirty="0"/>
          </a:p>
        </p:txBody>
      </p:sp>
      <p:sp>
        <p:nvSpPr>
          <p:cNvPr id="5" name="Marcador de contenido 4"/>
          <p:cNvSpPr>
            <a:spLocks noGrp="1"/>
          </p:cNvSpPr>
          <p:nvPr>
            <p:ph sz="half" idx="4294967295"/>
          </p:nvPr>
        </p:nvSpPr>
        <p:spPr>
          <a:xfrm>
            <a:off x="541611" y="2779776"/>
            <a:ext cx="9793224" cy="3300984"/>
          </a:xfrm>
        </p:spPr>
        <p:txBody>
          <a:bodyPr vert="horz" lIns="91440" tIns="45720" rIns="91440" bIns="45720" rtlCol="0">
            <a:normAutofit/>
          </a:bodyPr>
          <a:lstStyle/>
          <a:p>
            <a:pPr>
              <a:lnSpc>
                <a:spcPct val="150000"/>
              </a:lnSpc>
              <a:spcBef>
                <a:spcPts val="0"/>
              </a:spcBef>
            </a:pPr>
            <a:r>
              <a:rPr lang="es-ES" sz="2000" dirty="0" smtClean="0">
                <a:solidFill>
                  <a:schemeClr val="tx1">
                    <a:lumMod val="75000"/>
                    <a:lumOff val="25000"/>
                  </a:schemeClr>
                </a:solidFill>
                <a:latin typeface="+mj-lt"/>
              </a:rPr>
              <a:t>Enrutamiento básico</a:t>
            </a:r>
          </a:p>
          <a:p>
            <a:pPr>
              <a:lnSpc>
                <a:spcPct val="150000"/>
              </a:lnSpc>
              <a:spcBef>
                <a:spcPts val="0"/>
              </a:spcBef>
            </a:pPr>
            <a:r>
              <a:rPr lang="es-ES" sz="2000" dirty="0" smtClean="0">
                <a:solidFill>
                  <a:schemeClr val="tx1">
                    <a:lumMod val="75000"/>
                    <a:lumOff val="25000"/>
                  </a:schemeClr>
                </a:solidFill>
                <a:latin typeface="+mj-lt"/>
              </a:rPr>
              <a:t>Parámetros de ruta</a:t>
            </a:r>
          </a:p>
          <a:p>
            <a:pPr>
              <a:lnSpc>
                <a:spcPct val="150000"/>
              </a:lnSpc>
              <a:spcBef>
                <a:spcPts val="0"/>
              </a:spcBef>
            </a:pPr>
            <a:r>
              <a:rPr lang="es-ES" sz="2000" dirty="0" smtClean="0">
                <a:solidFill>
                  <a:schemeClr val="tx1">
                    <a:lumMod val="75000"/>
                    <a:lumOff val="25000"/>
                  </a:schemeClr>
                </a:solidFill>
                <a:latin typeface="+mj-lt"/>
              </a:rPr>
              <a:t>Rutas con nombre</a:t>
            </a:r>
          </a:p>
          <a:p>
            <a:pPr>
              <a:lnSpc>
                <a:spcPct val="150000"/>
              </a:lnSpc>
              <a:spcBef>
                <a:spcPts val="0"/>
              </a:spcBef>
            </a:pPr>
            <a:r>
              <a:rPr lang="es-ES" sz="2000" dirty="0" smtClean="0">
                <a:solidFill>
                  <a:schemeClr val="tx1">
                    <a:lumMod val="75000"/>
                    <a:lumOff val="25000"/>
                  </a:schemeClr>
                </a:solidFill>
                <a:latin typeface="+mj-lt"/>
              </a:rPr>
              <a:t>Grupos de rutas</a:t>
            </a:r>
          </a:p>
          <a:p>
            <a:pPr>
              <a:lnSpc>
                <a:spcPct val="150000"/>
              </a:lnSpc>
              <a:spcBef>
                <a:spcPts val="0"/>
              </a:spcBef>
            </a:pPr>
            <a:r>
              <a:rPr lang="es-ES" sz="2000" dirty="0" smtClean="0">
                <a:solidFill>
                  <a:schemeClr val="tx1">
                    <a:lumMod val="75000"/>
                    <a:lumOff val="25000"/>
                  </a:schemeClr>
                </a:solidFill>
                <a:latin typeface="+mj-lt"/>
              </a:rPr>
              <a:t>Enlace al modelo</a:t>
            </a:r>
          </a:p>
        </p:txBody>
      </p:sp>
    </p:spTree>
    <p:extLst>
      <p:ext uri="{BB962C8B-B14F-4D97-AF65-F5344CB8AC3E}">
        <p14:creationId xmlns:p14="http://schemas.microsoft.com/office/powerpoint/2010/main" val="18766905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1215" y="448054"/>
            <a:ext cx="4928616"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sz="2600" dirty="0" smtClean="0"/>
              <a:t>Enrutamiento básico</a:t>
            </a:r>
            <a:endParaRPr lang="es-ES" sz="2600" dirty="0"/>
          </a:p>
        </p:txBody>
      </p:sp>
      <p:sp>
        <p:nvSpPr>
          <p:cNvPr id="6" name="Marcador de contenido 4"/>
          <p:cNvSpPr>
            <a:spLocks noGrp="1"/>
          </p:cNvSpPr>
          <p:nvPr>
            <p:ph sz="half" idx="4294967295"/>
          </p:nvPr>
        </p:nvSpPr>
        <p:spPr>
          <a:xfrm>
            <a:off x="541611" y="1298448"/>
            <a:ext cx="11259092" cy="5221224"/>
          </a:xfrm>
        </p:spPr>
        <p:txBody>
          <a:bodyPr vert="horz" lIns="91440" tIns="45720" rIns="91440" bIns="45720" rtlCol="0">
            <a:normAutofit/>
          </a:bodyPr>
          <a:lstStyle/>
          <a:p>
            <a:pPr marL="0" indent="0">
              <a:lnSpc>
                <a:spcPct val="150000"/>
              </a:lnSpc>
              <a:spcBef>
                <a:spcPts val="600"/>
              </a:spcBef>
              <a:spcAft>
                <a:spcPts val="600"/>
              </a:spcAft>
              <a:buNone/>
            </a:pPr>
            <a:r>
              <a:rPr lang="es-ES" sz="1800" dirty="0" smtClean="0">
                <a:solidFill>
                  <a:prstClr val="black">
                    <a:lumMod val="75000"/>
                    <a:lumOff val="25000"/>
                  </a:prstClr>
                </a:solidFill>
              </a:rPr>
              <a:t>Las rutas más básicas en </a:t>
            </a:r>
            <a:r>
              <a:rPr lang="es-ES" sz="1800" dirty="0" err="1" smtClean="0">
                <a:solidFill>
                  <a:prstClr val="black">
                    <a:lumMod val="75000"/>
                    <a:lumOff val="25000"/>
                  </a:prstClr>
                </a:solidFill>
              </a:rPr>
              <a:t>Laravel</a:t>
            </a:r>
            <a:r>
              <a:rPr lang="es-ES" sz="1800" dirty="0" smtClean="0">
                <a:solidFill>
                  <a:prstClr val="black">
                    <a:lumMod val="75000"/>
                    <a:lumOff val="25000"/>
                  </a:prstClr>
                </a:solidFill>
              </a:rPr>
              <a:t> están formadas por una URI (ruta) y una función </a:t>
            </a:r>
            <a:r>
              <a:rPr lang="es-ES" sz="1800" dirty="0" err="1" smtClean="0">
                <a:solidFill>
                  <a:prstClr val="black">
                    <a:lumMod val="75000"/>
                    <a:lumOff val="25000"/>
                  </a:prstClr>
                </a:solidFill>
              </a:rPr>
              <a:t>closure</a:t>
            </a:r>
            <a:r>
              <a:rPr lang="es-ES" sz="1800" dirty="0" smtClean="0">
                <a:solidFill>
                  <a:prstClr val="black">
                    <a:lumMod val="75000"/>
                    <a:lumOff val="25000"/>
                  </a:prstClr>
                </a:solidFill>
              </a:rPr>
              <a:t>, la cual indica lo que se va a ejecutar cuando se navegue a ese ruta.</a:t>
            </a:r>
          </a:p>
          <a:p>
            <a:pPr marL="0" indent="0">
              <a:lnSpc>
                <a:spcPct val="150000"/>
              </a:lnSpc>
              <a:spcBef>
                <a:spcPts val="600"/>
              </a:spcBef>
              <a:spcAft>
                <a:spcPts val="600"/>
              </a:spcAft>
              <a:buNone/>
            </a:pPr>
            <a:r>
              <a:rPr lang="es-ES" sz="1800" dirty="0" smtClean="0">
                <a:solidFill>
                  <a:prstClr val="black">
                    <a:lumMod val="75000"/>
                    <a:lumOff val="25000"/>
                  </a:prstClr>
                </a:solidFill>
              </a:rPr>
              <a:t>Todas las rutas se definen en la carpeta ‘</a:t>
            </a:r>
            <a:r>
              <a:rPr lang="es-ES" sz="1800" dirty="0" err="1" smtClean="0">
                <a:solidFill>
                  <a:prstClr val="black">
                    <a:lumMod val="75000"/>
                    <a:lumOff val="25000"/>
                  </a:prstClr>
                </a:solidFill>
              </a:rPr>
              <a:t>routes</a:t>
            </a:r>
            <a:r>
              <a:rPr lang="es-ES" sz="1800" dirty="0" smtClean="0">
                <a:solidFill>
                  <a:prstClr val="black">
                    <a:lumMod val="75000"/>
                    <a:lumOff val="25000"/>
                  </a:prstClr>
                </a:solidFill>
              </a:rPr>
              <a:t>’.</a:t>
            </a:r>
          </a:p>
          <a:p>
            <a:pPr marL="0" indent="0">
              <a:lnSpc>
                <a:spcPct val="150000"/>
              </a:lnSpc>
              <a:spcBef>
                <a:spcPts val="600"/>
              </a:spcBef>
              <a:spcAft>
                <a:spcPts val="600"/>
              </a:spcAft>
              <a:buNone/>
            </a:pPr>
            <a:r>
              <a:rPr lang="es-ES" sz="1800" dirty="0" smtClean="0">
                <a:solidFill>
                  <a:prstClr val="black">
                    <a:lumMod val="75000"/>
                    <a:lumOff val="25000"/>
                  </a:prstClr>
                </a:solidFill>
              </a:rPr>
              <a:t>El fichero </a:t>
            </a:r>
            <a:r>
              <a:rPr lang="es-ES" sz="1800" dirty="0" err="1" smtClean="0">
                <a:solidFill>
                  <a:schemeClr val="accent2"/>
                </a:solidFill>
              </a:rPr>
              <a:t>routes</a:t>
            </a:r>
            <a:r>
              <a:rPr lang="es-ES" sz="1800" dirty="0" smtClean="0">
                <a:solidFill>
                  <a:schemeClr val="accent2"/>
                </a:solidFill>
              </a:rPr>
              <a:t>/</a:t>
            </a:r>
            <a:r>
              <a:rPr lang="es-ES" sz="1800" dirty="0" err="1" smtClean="0">
                <a:solidFill>
                  <a:schemeClr val="accent2"/>
                </a:solidFill>
              </a:rPr>
              <a:t>web.php</a:t>
            </a:r>
            <a:r>
              <a:rPr lang="es-ES" sz="1800" dirty="0" smtClean="0">
                <a:solidFill>
                  <a:prstClr val="black">
                    <a:lumMod val="75000"/>
                    <a:lumOff val="25000"/>
                  </a:prstClr>
                </a:solidFill>
              </a:rPr>
              <a:t> define las rutas del interfaz web.</a:t>
            </a:r>
          </a:p>
          <a:p>
            <a:pPr marL="0" indent="0">
              <a:lnSpc>
                <a:spcPct val="150000"/>
              </a:lnSpc>
              <a:spcBef>
                <a:spcPts val="600"/>
              </a:spcBef>
              <a:spcAft>
                <a:spcPts val="600"/>
              </a:spcAft>
              <a:buNone/>
            </a:pPr>
            <a:r>
              <a:rPr lang="es-ES" sz="1800" dirty="0" smtClean="0">
                <a:solidFill>
                  <a:prstClr val="black">
                    <a:lumMod val="75000"/>
                    <a:lumOff val="25000"/>
                  </a:prstClr>
                </a:solidFill>
              </a:rPr>
              <a:t>Todas esas rutas tienen un middleware asociado con características como el estado de la sesión y la protección </a:t>
            </a:r>
            <a:r>
              <a:rPr lang="es-ES" sz="1800" b="1" dirty="0" smtClean="0">
                <a:solidFill>
                  <a:prstClr val="black">
                    <a:lumMod val="75000"/>
                    <a:lumOff val="25000"/>
                  </a:prstClr>
                </a:solidFill>
              </a:rPr>
              <a:t>CSRF</a:t>
            </a:r>
            <a:r>
              <a:rPr lang="es-ES" sz="1800" dirty="0" smtClean="0">
                <a:solidFill>
                  <a:prstClr val="black">
                    <a:lumMod val="75000"/>
                    <a:lumOff val="25000"/>
                  </a:prstClr>
                </a:solidFill>
              </a:rPr>
              <a:t>.  (En las vistas pondremos @</a:t>
            </a:r>
            <a:r>
              <a:rPr lang="es-ES" sz="1800" dirty="0" err="1" smtClean="0">
                <a:solidFill>
                  <a:prstClr val="black">
                    <a:lumMod val="75000"/>
                    <a:lumOff val="25000"/>
                  </a:prstClr>
                </a:solidFill>
              </a:rPr>
              <a:t>csrf</a:t>
            </a:r>
            <a:r>
              <a:rPr lang="es-ES" sz="1800" dirty="0" smtClean="0">
                <a:solidFill>
                  <a:prstClr val="black">
                    <a:lumMod val="75000"/>
                    <a:lumOff val="25000"/>
                  </a:prstClr>
                </a:solidFill>
              </a:rPr>
              <a:t> dentro de los formularios).</a:t>
            </a:r>
          </a:p>
          <a:p>
            <a:pPr marL="0" indent="0">
              <a:lnSpc>
                <a:spcPct val="150000"/>
              </a:lnSpc>
              <a:spcBef>
                <a:spcPts val="600"/>
              </a:spcBef>
              <a:spcAft>
                <a:spcPts val="600"/>
              </a:spcAft>
              <a:buNone/>
            </a:pPr>
            <a:r>
              <a:rPr lang="es-ES" sz="1800" dirty="0" smtClean="0">
                <a:solidFill>
                  <a:prstClr val="black">
                    <a:lumMod val="75000"/>
                    <a:lumOff val="25000"/>
                  </a:prstClr>
                </a:solidFill>
              </a:rPr>
              <a:t>Las rutas en </a:t>
            </a:r>
            <a:r>
              <a:rPr lang="es-ES" sz="1800" dirty="0" err="1" smtClean="0">
                <a:solidFill>
                  <a:prstClr val="black">
                    <a:lumMod val="75000"/>
                    <a:lumOff val="25000"/>
                  </a:prstClr>
                </a:solidFill>
              </a:rPr>
              <a:t>routes</a:t>
            </a:r>
            <a:r>
              <a:rPr lang="es-ES" sz="1800" dirty="0" smtClean="0">
                <a:solidFill>
                  <a:prstClr val="black">
                    <a:lumMod val="75000"/>
                    <a:lumOff val="25000"/>
                  </a:prstClr>
                </a:solidFill>
              </a:rPr>
              <a:t>/</a:t>
            </a:r>
            <a:r>
              <a:rPr lang="es-ES" sz="1800" dirty="0" err="1" smtClean="0">
                <a:solidFill>
                  <a:prstClr val="black">
                    <a:lumMod val="75000"/>
                    <a:lumOff val="25000"/>
                  </a:prstClr>
                </a:solidFill>
              </a:rPr>
              <a:t>api.php</a:t>
            </a:r>
            <a:r>
              <a:rPr lang="es-ES" sz="1800" dirty="0" smtClean="0">
                <a:solidFill>
                  <a:prstClr val="black">
                    <a:lumMod val="75000"/>
                    <a:lumOff val="25000"/>
                  </a:prstClr>
                </a:solidFill>
              </a:rPr>
              <a:t> se utilizan para las rutas de API REST, con un middleware asociado especial. Todas esas rutas llevarían el prefijo “api” a la URL indicada en la ruta.</a:t>
            </a:r>
          </a:p>
          <a:p>
            <a:pPr marL="0" indent="0">
              <a:lnSpc>
                <a:spcPct val="150000"/>
              </a:lnSpc>
              <a:spcBef>
                <a:spcPts val="600"/>
              </a:spcBef>
              <a:spcAft>
                <a:spcPts val="600"/>
              </a:spcAft>
              <a:buNone/>
            </a:pPr>
            <a:r>
              <a:rPr lang="es-ES" sz="1800" dirty="0" smtClean="0">
                <a:solidFill>
                  <a:prstClr val="black">
                    <a:lumMod val="75000"/>
                    <a:lumOff val="25000"/>
                  </a:prstClr>
                </a:solidFill>
              </a:rPr>
              <a:t>Seguido de </a:t>
            </a:r>
            <a:r>
              <a:rPr lang="es-ES" sz="1800" dirty="0" err="1" smtClean="0">
                <a:solidFill>
                  <a:prstClr val="black">
                    <a:lumMod val="75000"/>
                    <a:lumOff val="25000"/>
                  </a:prstClr>
                </a:solidFill>
              </a:rPr>
              <a:t>Route</a:t>
            </a:r>
            <a:r>
              <a:rPr lang="es-ES" sz="1800" dirty="0" smtClean="0">
                <a:solidFill>
                  <a:prstClr val="black">
                    <a:lumMod val="75000"/>
                    <a:lumOff val="25000"/>
                  </a:prstClr>
                </a:solidFill>
              </a:rPr>
              <a:t>:: se incluye el método o verbo HTTP que lanza esa ruta. Puede ser: </a:t>
            </a:r>
            <a:r>
              <a:rPr lang="es-ES" sz="1800" dirty="0" err="1" smtClean="0">
                <a:solidFill>
                  <a:prstClr val="black">
                    <a:lumMod val="75000"/>
                    <a:lumOff val="25000"/>
                  </a:prstClr>
                </a:solidFill>
              </a:rPr>
              <a:t>get</a:t>
            </a:r>
            <a:r>
              <a:rPr lang="es-ES" sz="1800" dirty="0" smtClean="0">
                <a:solidFill>
                  <a:prstClr val="black">
                    <a:lumMod val="75000"/>
                    <a:lumOff val="25000"/>
                  </a:prstClr>
                </a:solidFill>
              </a:rPr>
              <a:t>, post, </a:t>
            </a:r>
            <a:r>
              <a:rPr lang="es-ES" sz="1800" dirty="0" err="1" smtClean="0">
                <a:solidFill>
                  <a:prstClr val="black">
                    <a:lumMod val="75000"/>
                    <a:lumOff val="25000"/>
                  </a:prstClr>
                </a:solidFill>
              </a:rPr>
              <a:t>put</a:t>
            </a:r>
            <a:r>
              <a:rPr lang="es-ES" sz="1800" dirty="0" smtClean="0">
                <a:solidFill>
                  <a:prstClr val="black">
                    <a:lumMod val="75000"/>
                    <a:lumOff val="25000"/>
                  </a:prstClr>
                </a:solidFill>
              </a:rPr>
              <a:t>, </a:t>
            </a:r>
            <a:r>
              <a:rPr lang="es-ES" sz="1800" dirty="0" err="1" smtClean="0">
                <a:solidFill>
                  <a:prstClr val="black">
                    <a:lumMod val="75000"/>
                    <a:lumOff val="25000"/>
                  </a:prstClr>
                </a:solidFill>
              </a:rPr>
              <a:t>patch</a:t>
            </a:r>
            <a:r>
              <a:rPr lang="es-ES" sz="1800" dirty="0" smtClean="0">
                <a:solidFill>
                  <a:prstClr val="black">
                    <a:lumMod val="75000"/>
                    <a:lumOff val="25000"/>
                  </a:prstClr>
                </a:solidFill>
              </a:rPr>
              <a:t>, </a:t>
            </a:r>
            <a:r>
              <a:rPr lang="es-ES" sz="1800" dirty="0" err="1" smtClean="0">
                <a:solidFill>
                  <a:prstClr val="black">
                    <a:lumMod val="75000"/>
                    <a:lumOff val="25000"/>
                  </a:prstClr>
                </a:solidFill>
              </a:rPr>
              <a:t>delete</a:t>
            </a:r>
            <a:r>
              <a:rPr lang="es-ES" sz="1800" dirty="0" smtClean="0">
                <a:solidFill>
                  <a:prstClr val="black">
                    <a:lumMod val="75000"/>
                    <a:lumOff val="25000"/>
                  </a:prstClr>
                </a:solidFill>
              </a:rPr>
              <a:t>, </a:t>
            </a:r>
            <a:r>
              <a:rPr lang="es-ES" sz="1800" dirty="0" err="1" smtClean="0">
                <a:solidFill>
                  <a:prstClr val="black">
                    <a:lumMod val="75000"/>
                    <a:lumOff val="25000"/>
                  </a:prstClr>
                </a:solidFill>
              </a:rPr>
              <a:t>options</a:t>
            </a:r>
            <a:r>
              <a:rPr lang="es-ES" sz="1800" dirty="0" smtClean="0">
                <a:solidFill>
                  <a:prstClr val="black">
                    <a:lumMod val="75000"/>
                    <a:lumOff val="25000"/>
                  </a:prstClr>
                </a:solidFill>
              </a:rPr>
              <a:t>.</a:t>
            </a: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a:solidFill>
                <a:prstClr val="black">
                  <a:lumMod val="75000"/>
                  <a:lumOff val="25000"/>
                </a:prstClr>
              </a:solidFill>
            </a:endParaRPr>
          </a:p>
        </p:txBody>
      </p:sp>
      <p:pic>
        <p:nvPicPr>
          <p:cNvPr id="3" name="Imagen 2"/>
          <p:cNvPicPr>
            <a:picLocks noChangeAspect="1"/>
          </p:cNvPicPr>
          <p:nvPr/>
        </p:nvPicPr>
        <p:blipFill>
          <a:blip r:embed="rId3"/>
          <a:stretch>
            <a:fillRect/>
          </a:stretch>
        </p:blipFill>
        <p:spPr>
          <a:xfrm>
            <a:off x="6987535" y="1841158"/>
            <a:ext cx="4399217" cy="1631444"/>
          </a:xfrm>
          <a:prstGeom prst="rect">
            <a:avLst/>
          </a:prstGeom>
        </p:spPr>
      </p:pic>
    </p:spTree>
    <p:extLst>
      <p:ext uri="{BB962C8B-B14F-4D97-AF65-F5344CB8AC3E}">
        <p14:creationId xmlns:p14="http://schemas.microsoft.com/office/powerpoint/2010/main" val="31713530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1215" y="448054"/>
            <a:ext cx="4928616"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sz="2600" dirty="0" smtClean="0"/>
              <a:t>Enrutamiento básico</a:t>
            </a:r>
            <a:endParaRPr lang="es-ES" sz="2600" dirty="0"/>
          </a:p>
        </p:txBody>
      </p:sp>
      <p:sp>
        <p:nvSpPr>
          <p:cNvPr id="6" name="Marcador de contenido 4"/>
          <p:cNvSpPr>
            <a:spLocks noGrp="1"/>
          </p:cNvSpPr>
          <p:nvPr>
            <p:ph sz="half" idx="4294967295"/>
          </p:nvPr>
        </p:nvSpPr>
        <p:spPr>
          <a:xfrm>
            <a:off x="541611" y="1298448"/>
            <a:ext cx="11259092" cy="5221224"/>
          </a:xfrm>
        </p:spPr>
        <p:txBody>
          <a:bodyPr vert="horz" lIns="91440" tIns="45720" rIns="91440" bIns="45720" rtlCol="0">
            <a:normAutofit/>
          </a:bodyPr>
          <a:lstStyle/>
          <a:p>
            <a:pPr marL="0" indent="0">
              <a:lnSpc>
                <a:spcPct val="150000"/>
              </a:lnSpc>
              <a:spcBef>
                <a:spcPts val="600"/>
              </a:spcBef>
              <a:spcAft>
                <a:spcPts val="600"/>
              </a:spcAft>
              <a:buNone/>
            </a:pPr>
            <a:r>
              <a:rPr lang="es-ES" sz="1800" b="1" dirty="0" smtClean="0">
                <a:solidFill>
                  <a:prstClr val="black">
                    <a:lumMod val="75000"/>
                    <a:lumOff val="25000"/>
                  </a:prstClr>
                </a:solidFill>
              </a:rPr>
              <a:t>Redirigir rutas</a:t>
            </a:r>
            <a:r>
              <a:rPr lang="es-ES" sz="1800" dirty="0" smtClean="0">
                <a:solidFill>
                  <a:prstClr val="black">
                    <a:lumMod val="75000"/>
                    <a:lumOff val="25000"/>
                  </a:prstClr>
                </a:solidFill>
              </a:rPr>
              <a:t>: usamos el método </a:t>
            </a:r>
            <a:r>
              <a:rPr lang="es-ES" sz="1800" i="1" dirty="0" err="1" smtClean="0">
                <a:solidFill>
                  <a:prstClr val="black">
                    <a:lumMod val="75000"/>
                    <a:lumOff val="25000"/>
                  </a:prstClr>
                </a:solidFill>
              </a:rPr>
              <a:t>redirect</a:t>
            </a:r>
            <a:endParaRPr lang="es-ES" sz="1800" i="1" dirty="0" smtClean="0">
              <a:solidFill>
                <a:prstClr val="black">
                  <a:lumMod val="75000"/>
                  <a:lumOff val="25000"/>
                </a:prstClr>
              </a:solidFill>
            </a:endParaRPr>
          </a:p>
          <a:p>
            <a:pPr marL="0" indent="0">
              <a:lnSpc>
                <a:spcPct val="150000"/>
              </a:lnSpc>
              <a:spcBef>
                <a:spcPts val="600"/>
              </a:spcBef>
              <a:spcAft>
                <a:spcPts val="600"/>
              </a:spcAft>
              <a:buNone/>
            </a:pPr>
            <a:endParaRPr lang="es-ES" sz="1800" b="1" dirty="0" smtClean="0">
              <a:solidFill>
                <a:prstClr val="black">
                  <a:lumMod val="75000"/>
                  <a:lumOff val="25000"/>
                </a:prstClr>
              </a:solidFill>
            </a:endParaRPr>
          </a:p>
          <a:p>
            <a:pPr marL="0" indent="0">
              <a:lnSpc>
                <a:spcPct val="150000"/>
              </a:lnSpc>
              <a:spcBef>
                <a:spcPts val="600"/>
              </a:spcBef>
              <a:spcAft>
                <a:spcPts val="600"/>
              </a:spcAft>
              <a:buNone/>
            </a:pPr>
            <a:endParaRPr lang="es-ES" sz="1800" b="1" dirty="0" smtClean="0">
              <a:solidFill>
                <a:prstClr val="black">
                  <a:lumMod val="75000"/>
                  <a:lumOff val="25000"/>
                </a:prstClr>
              </a:solidFill>
            </a:endParaRPr>
          </a:p>
          <a:p>
            <a:pPr marL="0" indent="0">
              <a:lnSpc>
                <a:spcPct val="150000"/>
              </a:lnSpc>
              <a:spcBef>
                <a:spcPts val="600"/>
              </a:spcBef>
              <a:spcAft>
                <a:spcPts val="600"/>
              </a:spcAft>
              <a:buNone/>
            </a:pPr>
            <a:r>
              <a:rPr lang="es-ES" sz="1800" b="1" dirty="0" smtClean="0">
                <a:solidFill>
                  <a:prstClr val="black">
                    <a:lumMod val="75000"/>
                    <a:lumOff val="25000"/>
                  </a:prstClr>
                </a:solidFill>
              </a:rPr>
              <a:t>Ver rutas</a:t>
            </a:r>
            <a:r>
              <a:rPr lang="es-ES" sz="1800" dirty="0" smtClean="0">
                <a:solidFill>
                  <a:prstClr val="black">
                    <a:lumMod val="75000"/>
                    <a:lumOff val="25000"/>
                  </a:prstClr>
                </a:solidFill>
              </a:rPr>
              <a:t>: si una ruta solo devuelve una </a:t>
            </a:r>
            <a:r>
              <a:rPr lang="es-ES" sz="1800" i="1" dirty="0" smtClean="0">
                <a:solidFill>
                  <a:prstClr val="black">
                    <a:lumMod val="75000"/>
                    <a:lumOff val="25000"/>
                  </a:prstClr>
                </a:solidFill>
              </a:rPr>
              <a:t>vista</a:t>
            </a:r>
            <a:r>
              <a:rPr lang="es-ES" sz="1800" dirty="0" smtClean="0">
                <a:solidFill>
                  <a:prstClr val="black">
                    <a:lumMod val="75000"/>
                    <a:lumOff val="25000"/>
                  </a:prstClr>
                </a:solidFill>
              </a:rPr>
              <a:t> usaremos el método </a:t>
            </a:r>
            <a:r>
              <a:rPr lang="es-ES" sz="1800" i="1" dirty="0" err="1" smtClean="0">
                <a:solidFill>
                  <a:prstClr val="black">
                    <a:lumMod val="75000"/>
                    <a:lumOff val="25000"/>
                  </a:prstClr>
                </a:solidFill>
              </a:rPr>
              <a:t>view</a:t>
            </a:r>
            <a:r>
              <a:rPr lang="es-ES" sz="1800" dirty="0" smtClean="0">
                <a:solidFill>
                  <a:prstClr val="black">
                    <a:lumMod val="75000"/>
                    <a:lumOff val="25000"/>
                  </a:prstClr>
                </a:solidFill>
              </a:rPr>
              <a:t>.  Ese método pasa primero la URI, luego el nombre de la vista y luego, como opcional, una matriz de datos. </a:t>
            </a:r>
          </a:p>
          <a:p>
            <a:pPr marL="0" indent="0">
              <a:lnSpc>
                <a:spcPct val="150000"/>
              </a:lnSpc>
              <a:spcBef>
                <a:spcPts val="600"/>
              </a:spcBef>
              <a:spcAft>
                <a:spcPts val="600"/>
              </a:spcAft>
              <a:buNone/>
            </a:pPr>
            <a:endParaRPr lang="es-ES" sz="1800" dirty="0">
              <a:solidFill>
                <a:prstClr val="black">
                  <a:lumMod val="75000"/>
                  <a:lumOff val="25000"/>
                </a:prstClr>
              </a:solidFill>
            </a:endParaRPr>
          </a:p>
          <a:p>
            <a:pPr marL="0" indent="0">
              <a:lnSpc>
                <a:spcPct val="150000"/>
              </a:lnSpc>
              <a:spcBef>
                <a:spcPts val="600"/>
              </a:spcBef>
              <a:spcAft>
                <a:spcPts val="600"/>
              </a:spcAft>
              <a:buNone/>
            </a:pPr>
            <a:endParaRPr lang="es-ES" sz="1800" b="1" dirty="0" smtClean="0">
              <a:solidFill>
                <a:prstClr val="black">
                  <a:lumMod val="75000"/>
                  <a:lumOff val="25000"/>
                </a:prstClr>
              </a:solidFill>
            </a:endParaRPr>
          </a:p>
          <a:p>
            <a:pPr marL="0" indent="0">
              <a:lnSpc>
                <a:spcPct val="150000"/>
              </a:lnSpc>
              <a:spcBef>
                <a:spcPts val="600"/>
              </a:spcBef>
              <a:spcAft>
                <a:spcPts val="600"/>
              </a:spcAft>
              <a:buNone/>
            </a:pPr>
            <a:r>
              <a:rPr lang="es-ES" sz="1800" b="1" dirty="0" smtClean="0">
                <a:solidFill>
                  <a:prstClr val="black">
                    <a:lumMod val="75000"/>
                    <a:lumOff val="25000"/>
                  </a:prstClr>
                </a:solidFill>
              </a:rPr>
              <a:t>Lista de rutas</a:t>
            </a:r>
            <a:r>
              <a:rPr lang="es-ES" sz="1800" dirty="0" smtClean="0">
                <a:solidFill>
                  <a:prstClr val="black">
                    <a:lumMod val="75000"/>
                    <a:lumOff val="25000"/>
                  </a:prstClr>
                </a:solidFill>
              </a:rPr>
              <a:t>: podemos ver todas las rutas que tenemos con el comando ‘</a:t>
            </a:r>
            <a:r>
              <a:rPr lang="es-ES" sz="1800" dirty="0" err="1" smtClean="0">
                <a:solidFill>
                  <a:prstClr val="black">
                    <a:lumMod val="75000"/>
                    <a:lumOff val="25000"/>
                  </a:prstClr>
                </a:solidFill>
              </a:rPr>
              <a:t>php</a:t>
            </a:r>
            <a:r>
              <a:rPr lang="es-ES" sz="1800" dirty="0" smtClean="0">
                <a:solidFill>
                  <a:prstClr val="black">
                    <a:lumMod val="75000"/>
                    <a:lumOff val="25000"/>
                  </a:prstClr>
                </a:solidFill>
              </a:rPr>
              <a:t> </a:t>
            </a:r>
            <a:r>
              <a:rPr lang="es-ES" sz="1800" dirty="0" err="1" smtClean="0">
                <a:solidFill>
                  <a:prstClr val="black">
                    <a:lumMod val="75000"/>
                    <a:lumOff val="25000"/>
                  </a:prstClr>
                </a:solidFill>
              </a:rPr>
              <a:t>artisan</a:t>
            </a:r>
            <a:r>
              <a:rPr lang="es-ES" sz="1800" dirty="0" smtClean="0">
                <a:solidFill>
                  <a:prstClr val="black">
                    <a:lumMod val="75000"/>
                    <a:lumOff val="25000"/>
                  </a:prstClr>
                </a:solidFill>
              </a:rPr>
              <a:t> </a:t>
            </a:r>
            <a:r>
              <a:rPr lang="es-ES" sz="1800" dirty="0" err="1" smtClean="0">
                <a:solidFill>
                  <a:prstClr val="black">
                    <a:lumMod val="75000"/>
                    <a:lumOff val="25000"/>
                  </a:prstClr>
                </a:solidFill>
              </a:rPr>
              <a:t>route:list</a:t>
            </a:r>
            <a:r>
              <a:rPr lang="es-ES" sz="1800" dirty="0" smtClean="0">
                <a:solidFill>
                  <a:prstClr val="black">
                    <a:lumMod val="75000"/>
                    <a:lumOff val="25000"/>
                  </a:prstClr>
                </a:solidFill>
              </a:rPr>
              <a:t>’</a:t>
            </a: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a:solidFill>
                <a:prstClr val="black">
                  <a:lumMod val="75000"/>
                  <a:lumOff val="25000"/>
                </a:prstClr>
              </a:solidFill>
            </a:endParaRPr>
          </a:p>
        </p:txBody>
      </p:sp>
      <p:pic>
        <p:nvPicPr>
          <p:cNvPr id="4" name="Imagen 3"/>
          <p:cNvPicPr>
            <a:picLocks noChangeAspect="1"/>
          </p:cNvPicPr>
          <p:nvPr/>
        </p:nvPicPr>
        <p:blipFill>
          <a:blip r:embed="rId3"/>
          <a:stretch>
            <a:fillRect/>
          </a:stretch>
        </p:blipFill>
        <p:spPr>
          <a:xfrm>
            <a:off x="2785050" y="3950346"/>
            <a:ext cx="6658307" cy="522800"/>
          </a:xfrm>
          <a:prstGeom prst="rect">
            <a:avLst/>
          </a:prstGeom>
        </p:spPr>
      </p:pic>
      <p:pic>
        <p:nvPicPr>
          <p:cNvPr id="5" name="Imagen 4"/>
          <p:cNvPicPr>
            <a:picLocks noChangeAspect="1"/>
          </p:cNvPicPr>
          <p:nvPr/>
        </p:nvPicPr>
        <p:blipFill>
          <a:blip r:embed="rId4"/>
          <a:stretch>
            <a:fillRect/>
          </a:stretch>
        </p:blipFill>
        <p:spPr>
          <a:xfrm>
            <a:off x="3401121" y="1821325"/>
            <a:ext cx="4097420" cy="489388"/>
          </a:xfrm>
          <a:prstGeom prst="rect">
            <a:avLst/>
          </a:prstGeom>
        </p:spPr>
      </p:pic>
    </p:spTree>
    <p:extLst>
      <p:ext uri="{BB962C8B-B14F-4D97-AF65-F5344CB8AC3E}">
        <p14:creationId xmlns:p14="http://schemas.microsoft.com/office/powerpoint/2010/main" val="563708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1215" y="448054"/>
            <a:ext cx="4928616"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sz="2600" dirty="0" smtClean="0"/>
              <a:t>Parámetros de ruta</a:t>
            </a:r>
            <a:endParaRPr lang="es-ES" sz="2600" dirty="0"/>
          </a:p>
        </p:txBody>
      </p:sp>
      <p:sp>
        <p:nvSpPr>
          <p:cNvPr id="6" name="Marcador de contenido 4"/>
          <p:cNvSpPr>
            <a:spLocks noGrp="1"/>
          </p:cNvSpPr>
          <p:nvPr>
            <p:ph sz="half" idx="4294967295"/>
          </p:nvPr>
        </p:nvSpPr>
        <p:spPr>
          <a:xfrm>
            <a:off x="541611" y="1298448"/>
            <a:ext cx="5544092" cy="5221224"/>
          </a:xfrm>
        </p:spPr>
        <p:txBody>
          <a:bodyPr vert="horz" lIns="91440" tIns="45720" rIns="91440" bIns="45720" rtlCol="0">
            <a:normAutofit fontScale="85000" lnSpcReduction="10000"/>
          </a:bodyPr>
          <a:lstStyle/>
          <a:p>
            <a:pPr marL="0" indent="0">
              <a:lnSpc>
                <a:spcPct val="150000"/>
              </a:lnSpc>
              <a:spcBef>
                <a:spcPts val="600"/>
              </a:spcBef>
              <a:spcAft>
                <a:spcPts val="600"/>
              </a:spcAft>
              <a:buNone/>
            </a:pPr>
            <a:r>
              <a:rPr lang="es-ES" sz="1800" dirty="0">
                <a:solidFill>
                  <a:prstClr val="black">
                    <a:lumMod val="75000"/>
                    <a:lumOff val="25000"/>
                  </a:prstClr>
                </a:solidFill>
              </a:rPr>
              <a:t>A veces </a:t>
            </a:r>
            <a:r>
              <a:rPr lang="es-ES" sz="1800" dirty="0" smtClean="0">
                <a:solidFill>
                  <a:prstClr val="black">
                    <a:lumMod val="75000"/>
                    <a:lumOff val="25000"/>
                  </a:prstClr>
                </a:solidFill>
              </a:rPr>
              <a:t>necesitamos capturar </a:t>
            </a:r>
            <a:r>
              <a:rPr lang="es-ES" sz="1800" dirty="0">
                <a:solidFill>
                  <a:prstClr val="black">
                    <a:lumMod val="75000"/>
                    <a:lumOff val="25000"/>
                  </a:prstClr>
                </a:solidFill>
              </a:rPr>
              <a:t>segmentos del URI dentro de </a:t>
            </a:r>
            <a:r>
              <a:rPr lang="es-ES" sz="1800" dirty="0" smtClean="0">
                <a:solidFill>
                  <a:prstClr val="black">
                    <a:lumMod val="75000"/>
                    <a:lumOff val="25000"/>
                  </a:prstClr>
                </a:solidFill>
              </a:rPr>
              <a:t>la </a:t>
            </a:r>
            <a:r>
              <a:rPr lang="es-ES" sz="1800" dirty="0">
                <a:solidFill>
                  <a:prstClr val="black">
                    <a:lumMod val="75000"/>
                    <a:lumOff val="25000"/>
                  </a:prstClr>
                </a:solidFill>
              </a:rPr>
              <a:t>ruta. Por ejemplo, es posible que </a:t>
            </a:r>
            <a:r>
              <a:rPr lang="es-ES" sz="1800" dirty="0" smtClean="0">
                <a:solidFill>
                  <a:prstClr val="black">
                    <a:lumMod val="75000"/>
                    <a:lumOff val="25000"/>
                  </a:prstClr>
                </a:solidFill>
              </a:rPr>
              <a:t>debamos </a:t>
            </a:r>
            <a:r>
              <a:rPr lang="es-ES" sz="1800" dirty="0">
                <a:solidFill>
                  <a:prstClr val="black">
                    <a:lumMod val="75000"/>
                    <a:lumOff val="25000"/>
                  </a:prstClr>
                </a:solidFill>
              </a:rPr>
              <a:t>capturar la ID de un usuario de la URL. </a:t>
            </a:r>
            <a:r>
              <a:rPr lang="es-ES" sz="1800" dirty="0" smtClean="0">
                <a:solidFill>
                  <a:prstClr val="black">
                    <a:lumMod val="75000"/>
                    <a:lumOff val="25000"/>
                  </a:prstClr>
                </a:solidFill>
              </a:rPr>
              <a:t>Podemos </a:t>
            </a:r>
            <a:r>
              <a:rPr lang="es-ES" sz="1800" dirty="0">
                <a:solidFill>
                  <a:prstClr val="black">
                    <a:lumMod val="75000"/>
                    <a:lumOff val="25000"/>
                  </a:prstClr>
                </a:solidFill>
              </a:rPr>
              <a:t>hacerlo definiendo parámetros de </a:t>
            </a:r>
            <a:r>
              <a:rPr lang="es-ES" sz="1800" dirty="0" smtClean="0">
                <a:solidFill>
                  <a:prstClr val="black">
                    <a:lumMod val="75000"/>
                    <a:lumOff val="25000"/>
                  </a:prstClr>
                </a:solidFill>
              </a:rPr>
              <a:t>ruta:</a:t>
            </a:r>
          </a:p>
          <a:p>
            <a:pPr marL="0" indent="0">
              <a:lnSpc>
                <a:spcPct val="150000"/>
              </a:lnSpc>
              <a:spcBef>
                <a:spcPts val="600"/>
              </a:spcBef>
              <a:spcAft>
                <a:spcPts val="600"/>
              </a:spcAft>
              <a:buNone/>
            </a:pPr>
            <a:r>
              <a:rPr lang="es-ES" sz="1800" dirty="0" smtClean="0">
                <a:solidFill>
                  <a:prstClr val="black">
                    <a:lumMod val="75000"/>
                    <a:lumOff val="25000"/>
                  </a:prstClr>
                </a:solidFill>
              </a:rPr>
              <a:t>Puedes definir más de un parámetro de ruta. Siempre están encerrados entre llaves, y ser caracteres alfabéticos. Los parámetros se inyectan en la devolución de la llamada, los nombres de la función no importan. :</a:t>
            </a:r>
          </a:p>
          <a:p>
            <a:pPr marL="0" indent="0">
              <a:lnSpc>
                <a:spcPct val="150000"/>
              </a:lnSpc>
              <a:spcBef>
                <a:spcPts val="600"/>
              </a:spcBef>
              <a:spcAft>
                <a:spcPts val="600"/>
              </a:spcAft>
              <a:buNone/>
            </a:pPr>
            <a:r>
              <a:rPr lang="es-ES" sz="1800" dirty="0" smtClean="0">
                <a:solidFill>
                  <a:prstClr val="black">
                    <a:lumMod val="75000"/>
                    <a:lumOff val="25000"/>
                  </a:prstClr>
                </a:solidFill>
              </a:rPr>
              <a:t>Se pueden tener parámetros opcionales si antes de cerrar la llave ponemos una interrogación baja (?) al parámetro. Pero debemos darle un valor predeterminado.</a:t>
            </a:r>
          </a:p>
          <a:p>
            <a:pPr marL="0" indent="0">
              <a:lnSpc>
                <a:spcPct val="150000"/>
              </a:lnSpc>
              <a:spcBef>
                <a:spcPts val="600"/>
              </a:spcBef>
              <a:spcAft>
                <a:spcPts val="600"/>
              </a:spcAft>
              <a:buNone/>
            </a:pPr>
            <a:r>
              <a:rPr lang="es-ES" sz="1800" dirty="0">
                <a:solidFill>
                  <a:prstClr val="black">
                    <a:lumMod val="75000"/>
                    <a:lumOff val="25000"/>
                  </a:prstClr>
                </a:solidFill>
              </a:rPr>
              <a:t>Se pueden usar restricciones de expresiones regulares. Puede restringir el formato de sus parámetros de ruta utilizando el método </a:t>
            </a:r>
            <a:r>
              <a:rPr lang="es-ES" sz="1800" dirty="0" err="1">
                <a:solidFill>
                  <a:prstClr val="black">
                    <a:lumMod val="75000"/>
                    <a:lumOff val="25000"/>
                  </a:prstClr>
                </a:solidFill>
              </a:rPr>
              <a:t>where</a:t>
            </a:r>
            <a:r>
              <a:rPr lang="es-ES" sz="1800" dirty="0">
                <a:solidFill>
                  <a:prstClr val="black">
                    <a:lumMod val="75000"/>
                    <a:lumOff val="25000"/>
                  </a:prstClr>
                </a:solidFill>
              </a:rPr>
              <a:t> en una instancia de ruta.</a:t>
            </a: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a:solidFill>
                <a:prstClr val="black">
                  <a:lumMod val="75000"/>
                  <a:lumOff val="25000"/>
                </a:prstClr>
              </a:solidFill>
            </a:endParaRPr>
          </a:p>
        </p:txBody>
      </p:sp>
      <p:pic>
        <p:nvPicPr>
          <p:cNvPr id="4" name="Imagen 3"/>
          <p:cNvPicPr>
            <a:picLocks noChangeAspect="1"/>
          </p:cNvPicPr>
          <p:nvPr/>
        </p:nvPicPr>
        <p:blipFill>
          <a:blip r:embed="rId3"/>
          <a:stretch>
            <a:fillRect/>
          </a:stretch>
        </p:blipFill>
        <p:spPr>
          <a:xfrm>
            <a:off x="6085703" y="1385030"/>
            <a:ext cx="4154449" cy="1036706"/>
          </a:xfrm>
          <a:prstGeom prst="rect">
            <a:avLst/>
          </a:prstGeom>
        </p:spPr>
      </p:pic>
      <p:pic>
        <p:nvPicPr>
          <p:cNvPr id="5" name="Imagen 4"/>
          <p:cNvPicPr>
            <a:picLocks noChangeAspect="1"/>
          </p:cNvPicPr>
          <p:nvPr/>
        </p:nvPicPr>
        <p:blipFill>
          <a:blip r:embed="rId4"/>
          <a:stretch>
            <a:fillRect/>
          </a:stretch>
        </p:blipFill>
        <p:spPr>
          <a:xfrm>
            <a:off x="6085703" y="2934892"/>
            <a:ext cx="5691465" cy="729355"/>
          </a:xfrm>
          <a:prstGeom prst="rect">
            <a:avLst/>
          </a:prstGeom>
        </p:spPr>
      </p:pic>
      <p:pic>
        <p:nvPicPr>
          <p:cNvPr id="7" name="Imagen 6"/>
          <p:cNvPicPr>
            <a:picLocks noChangeAspect="1"/>
          </p:cNvPicPr>
          <p:nvPr/>
        </p:nvPicPr>
        <p:blipFill>
          <a:blip r:embed="rId5"/>
          <a:stretch>
            <a:fillRect/>
          </a:stretch>
        </p:blipFill>
        <p:spPr>
          <a:xfrm>
            <a:off x="6085703" y="4436281"/>
            <a:ext cx="5098787" cy="337243"/>
          </a:xfrm>
          <a:prstGeom prst="rect">
            <a:avLst/>
          </a:prstGeom>
        </p:spPr>
      </p:pic>
      <p:pic>
        <p:nvPicPr>
          <p:cNvPr id="8" name="Imagen 7"/>
          <p:cNvPicPr>
            <a:picLocks noChangeAspect="1"/>
          </p:cNvPicPr>
          <p:nvPr/>
        </p:nvPicPr>
        <p:blipFill>
          <a:blip r:embed="rId6"/>
          <a:stretch>
            <a:fillRect/>
          </a:stretch>
        </p:blipFill>
        <p:spPr>
          <a:xfrm>
            <a:off x="6085703" y="5439591"/>
            <a:ext cx="5121876" cy="977399"/>
          </a:xfrm>
          <a:prstGeom prst="rect">
            <a:avLst/>
          </a:prstGeom>
        </p:spPr>
      </p:pic>
    </p:spTree>
    <p:extLst>
      <p:ext uri="{BB962C8B-B14F-4D97-AF65-F5344CB8AC3E}">
        <p14:creationId xmlns:p14="http://schemas.microsoft.com/office/powerpoint/2010/main" val="40892106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1215" y="448054"/>
            <a:ext cx="4928616"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sz="2600" dirty="0" smtClean="0"/>
              <a:t>Rutas con nombre</a:t>
            </a:r>
            <a:endParaRPr lang="es-ES" sz="2600" dirty="0"/>
          </a:p>
        </p:txBody>
      </p:sp>
      <p:sp>
        <p:nvSpPr>
          <p:cNvPr id="6" name="Marcador de contenido 4"/>
          <p:cNvSpPr>
            <a:spLocks noGrp="1"/>
          </p:cNvSpPr>
          <p:nvPr>
            <p:ph sz="half" idx="4294967295"/>
          </p:nvPr>
        </p:nvSpPr>
        <p:spPr>
          <a:xfrm>
            <a:off x="541612" y="1298448"/>
            <a:ext cx="5717086" cy="2291190"/>
          </a:xfrm>
        </p:spPr>
        <p:txBody>
          <a:bodyPr vert="horz" lIns="91440" tIns="45720" rIns="91440" bIns="45720" rtlCol="0">
            <a:normAutofit/>
          </a:bodyPr>
          <a:lstStyle/>
          <a:p>
            <a:pPr marL="0" indent="0">
              <a:lnSpc>
                <a:spcPct val="150000"/>
              </a:lnSpc>
              <a:spcBef>
                <a:spcPts val="600"/>
              </a:spcBef>
              <a:spcAft>
                <a:spcPts val="600"/>
              </a:spcAft>
              <a:buNone/>
            </a:pPr>
            <a:r>
              <a:rPr lang="es-ES" sz="1800" dirty="0">
                <a:solidFill>
                  <a:prstClr val="black">
                    <a:lumMod val="75000"/>
                    <a:lumOff val="25000"/>
                  </a:prstClr>
                </a:solidFill>
              </a:rPr>
              <a:t>Las rutas con nombre permiten la generación conveniente de URL o </a:t>
            </a:r>
            <a:r>
              <a:rPr lang="es-ES" sz="1800" dirty="0" err="1">
                <a:solidFill>
                  <a:prstClr val="black">
                    <a:lumMod val="75000"/>
                    <a:lumOff val="25000"/>
                  </a:prstClr>
                </a:solidFill>
              </a:rPr>
              <a:t>redireccionamientos</a:t>
            </a:r>
            <a:r>
              <a:rPr lang="es-ES" sz="1800" dirty="0">
                <a:solidFill>
                  <a:prstClr val="black">
                    <a:lumMod val="75000"/>
                    <a:lumOff val="25000"/>
                  </a:prstClr>
                </a:solidFill>
              </a:rPr>
              <a:t> para rutas específicas. Puede especificar un nombre para una ruta encadenando el </a:t>
            </a:r>
            <a:r>
              <a:rPr lang="es-ES" sz="1800" dirty="0" smtClean="0">
                <a:solidFill>
                  <a:prstClr val="black">
                    <a:lumMod val="75000"/>
                    <a:lumOff val="25000"/>
                  </a:prstClr>
                </a:solidFill>
              </a:rPr>
              <a:t>método </a:t>
            </a:r>
            <a:r>
              <a:rPr lang="es-ES" sz="1800" dirty="0" err="1" smtClean="0">
                <a:solidFill>
                  <a:prstClr val="black">
                    <a:lumMod val="75000"/>
                    <a:lumOff val="25000"/>
                  </a:prstClr>
                </a:solidFill>
              </a:rPr>
              <a:t>name</a:t>
            </a:r>
            <a:r>
              <a:rPr lang="es-ES" sz="1800" dirty="0" smtClean="0">
                <a:solidFill>
                  <a:prstClr val="black">
                    <a:lumMod val="75000"/>
                    <a:lumOff val="25000"/>
                  </a:prstClr>
                </a:solidFill>
              </a:rPr>
              <a:t> </a:t>
            </a:r>
            <a:r>
              <a:rPr lang="es-ES" sz="1800" dirty="0">
                <a:solidFill>
                  <a:prstClr val="black">
                    <a:lumMod val="75000"/>
                    <a:lumOff val="25000"/>
                  </a:prstClr>
                </a:solidFill>
              </a:rPr>
              <a:t>a la definición de la </a:t>
            </a:r>
            <a:r>
              <a:rPr lang="es-ES" sz="1800" dirty="0" smtClean="0">
                <a:solidFill>
                  <a:prstClr val="black">
                    <a:lumMod val="75000"/>
                    <a:lumOff val="25000"/>
                  </a:prstClr>
                </a:solidFill>
              </a:rPr>
              <a:t>ruta.</a:t>
            </a:r>
          </a:p>
          <a:p>
            <a:pPr marL="0" indent="0">
              <a:lnSpc>
                <a:spcPct val="150000"/>
              </a:lnSpc>
              <a:spcBef>
                <a:spcPts val="600"/>
              </a:spcBef>
              <a:spcAft>
                <a:spcPts val="600"/>
              </a:spcAft>
              <a:buNone/>
            </a:pPr>
            <a:endParaRPr lang="es-ES" sz="1800" dirty="0">
              <a:solidFill>
                <a:prstClr val="black">
                  <a:lumMod val="75000"/>
                  <a:lumOff val="25000"/>
                </a:prstClr>
              </a:solidFill>
            </a:endParaRPr>
          </a:p>
        </p:txBody>
      </p:sp>
      <p:pic>
        <p:nvPicPr>
          <p:cNvPr id="4" name="Imagen 3"/>
          <p:cNvPicPr>
            <a:picLocks noChangeAspect="1"/>
          </p:cNvPicPr>
          <p:nvPr/>
        </p:nvPicPr>
        <p:blipFill>
          <a:blip r:embed="rId3"/>
          <a:stretch>
            <a:fillRect/>
          </a:stretch>
        </p:blipFill>
        <p:spPr>
          <a:xfrm>
            <a:off x="6733573" y="1351492"/>
            <a:ext cx="4109712" cy="1268140"/>
          </a:xfrm>
          <a:prstGeom prst="rect">
            <a:avLst/>
          </a:prstGeom>
        </p:spPr>
      </p:pic>
      <p:pic>
        <p:nvPicPr>
          <p:cNvPr id="5" name="Imagen 4"/>
          <p:cNvPicPr>
            <a:picLocks noChangeAspect="1"/>
          </p:cNvPicPr>
          <p:nvPr/>
        </p:nvPicPr>
        <p:blipFill>
          <a:blip r:embed="rId4"/>
          <a:stretch>
            <a:fillRect/>
          </a:stretch>
        </p:blipFill>
        <p:spPr>
          <a:xfrm>
            <a:off x="6733573" y="3449933"/>
            <a:ext cx="4275022" cy="1103531"/>
          </a:xfrm>
          <a:prstGeom prst="rect">
            <a:avLst/>
          </a:prstGeom>
        </p:spPr>
      </p:pic>
      <p:pic>
        <p:nvPicPr>
          <p:cNvPr id="8" name="Imagen 7"/>
          <p:cNvPicPr>
            <a:picLocks noChangeAspect="1"/>
          </p:cNvPicPr>
          <p:nvPr/>
        </p:nvPicPr>
        <p:blipFill>
          <a:blip r:embed="rId5"/>
          <a:stretch>
            <a:fillRect/>
          </a:stretch>
        </p:blipFill>
        <p:spPr>
          <a:xfrm>
            <a:off x="6733573" y="4989607"/>
            <a:ext cx="4330923" cy="1327218"/>
          </a:xfrm>
          <a:prstGeom prst="rect">
            <a:avLst/>
          </a:prstGeom>
        </p:spPr>
      </p:pic>
      <p:sp>
        <p:nvSpPr>
          <p:cNvPr id="9" name="Rectángulo 8"/>
          <p:cNvSpPr/>
          <p:nvPr/>
        </p:nvSpPr>
        <p:spPr>
          <a:xfrm>
            <a:off x="541612" y="3589638"/>
            <a:ext cx="6096000" cy="871713"/>
          </a:xfrm>
          <a:prstGeom prst="rect">
            <a:avLst/>
          </a:prstGeom>
        </p:spPr>
        <p:txBody>
          <a:bodyPr>
            <a:spAutoFit/>
          </a:bodyPr>
          <a:lstStyle/>
          <a:p>
            <a:pPr>
              <a:lnSpc>
                <a:spcPct val="150000"/>
              </a:lnSpc>
              <a:spcBef>
                <a:spcPts val="600"/>
              </a:spcBef>
              <a:spcAft>
                <a:spcPts val="600"/>
              </a:spcAft>
            </a:pPr>
            <a:r>
              <a:rPr lang="es-ES" dirty="0">
                <a:solidFill>
                  <a:prstClr val="black">
                    <a:lumMod val="75000"/>
                    <a:lumOff val="25000"/>
                  </a:prstClr>
                </a:solidFill>
              </a:rPr>
              <a:t>Luego podremos usar esos nombres de ruta en los controladores para redirigir a otras rutas</a:t>
            </a:r>
            <a:r>
              <a:rPr lang="es-ES" dirty="0" smtClean="0">
                <a:solidFill>
                  <a:prstClr val="black">
                    <a:lumMod val="75000"/>
                    <a:lumOff val="25000"/>
                  </a:prstClr>
                </a:solidFill>
              </a:rPr>
              <a:t>.</a:t>
            </a:r>
            <a:endParaRPr lang="es-ES" dirty="0">
              <a:solidFill>
                <a:prstClr val="black">
                  <a:lumMod val="75000"/>
                  <a:lumOff val="25000"/>
                </a:prstClr>
              </a:solidFill>
            </a:endParaRPr>
          </a:p>
        </p:txBody>
      </p:sp>
      <p:sp>
        <p:nvSpPr>
          <p:cNvPr id="10" name="Rectángulo 9"/>
          <p:cNvSpPr/>
          <p:nvPr/>
        </p:nvSpPr>
        <p:spPr>
          <a:xfrm>
            <a:off x="521215" y="4926492"/>
            <a:ext cx="6096000" cy="923330"/>
          </a:xfrm>
          <a:prstGeom prst="rect">
            <a:avLst/>
          </a:prstGeom>
        </p:spPr>
        <p:txBody>
          <a:bodyPr>
            <a:spAutoFit/>
          </a:bodyPr>
          <a:lstStyle/>
          <a:p>
            <a:pPr>
              <a:lnSpc>
                <a:spcPct val="150000"/>
              </a:lnSpc>
              <a:spcBef>
                <a:spcPts val="600"/>
              </a:spcBef>
              <a:spcAft>
                <a:spcPts val="600"/>
              </a:spcAft>
            </a:pPr>
            <a:r>
              <a:rPr lang="es-ES" dirty="0">
                <a:solidFill>
                  <a:prstClr val="black">
                    <a:lumMod val="75000"/>
                    <a:lumOff val="25000"/>
                  </a:prstClr>
                </a:solidFill>
              </a:rPr>
              <a:t>Si la ruta tiene parámetros también se le pueden pasar en la redirección.</a:t>
            </a:r>
          </a:p>
        </p:txBody>
      </p:sp>
    </p:spTree>
    <p:extLst>
      <p:ext uri="{BB962C8B-B14F-4D97-AF65-F5344CB8AC3E}">
        <p14:creationId xmlns:p14="http://schemas.microsoft.com/office/powerpoint/2010/main" val="3474437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1215" y="448054"/>
            <a:ext cx="4928616"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sz="2600" dirty="0" smtClean="0"/>
              <a:t>Grupos de rutas</a:t>
            </a:r>
            <a:endParaRPr lang="es-ES" sz="2600" dirty="0"/>
          </a:p>
        </p:txBody>
      </p:sp>
      <p:sp>
        <p:nvSpPr>
          <p:cNvPr id="6" name="Marcador de contenido 4"/>
          <p:cNvSpPr>
            <a:spLocks noGrp="1"/>
          </p:cNvSpPr>
          <p:nvPr>
            <p:ph sz="half" idx="4294967295"/>
          </p:nvPr>
        </p:nvSpPr>
        <p:spPr>
          <a:xfrm>
            <a:off x="541611" y="1298448"/>
            <a:ext cx="11228199" cy="1463287"/>
          </a:xfrm>
        </p:spPr>
        <p:txBody>
          <a:bodyPr vert="horz" lIns="91440" tIns="45720" rIns="91440" bIns="45720" rtlCol="0">
            <a:normAutofit/>
          </a:bodyPr>
          <a:lstStyle/>
          <a:p>
            <a:pPr marL="0" indent="0">
              <a:lnSpc>
                <a:spcPct val="150000"/>
              </a:lnSpc>
              <a:spcBef>
                <a:spcPts val="600"/>
              </a:spcBef>
              <a:spcAft>
                <a:spcPts val="600"/>
              </a:spcAft>
              <a:buNone/>
            </a:pPr>
            <a:r>
              <a:rPr lang="es-ES" sz="1800" dirty="0">
                <a:solidFill>
                  <a:prstClr val="black">
                    <a:lumMod val="75000"/>
                    <a:lumOff val="25000"/>
                  </a:prstClr>
                </a:solidFill>
              </a:rPr>
              <a:t>Los grupos de rutas le permiten compartir atributos de ruta, como middleware, en una gran cantidad de rutas sin necesidad de definir esos atributos en cada ruta </a:t>
            </a:r>
            <a:r>
              <a:rPr lang="es-ES" sz="1800" dirty="0" smtClean="0">
                <a:solidFill>
                  <a:prstClr val="black">
                    <a:lumMod val="75000"/>
                    <a:lumOff val="25000"/>
                  </a:prstClr>
                </a:solidFill>
              </a:rPr>
              <a:t>individual. Los </a:t>
            </a:r>
            <a:r>
              <a:rPr lang="es-ES" sz="1800" dirty="0">
                <a:solidFill>
                  <a:prstClr val="black">
                    <a:lumMod val="75000"/>
                    <a:lumOff val="25000"/>
                  </a:prstClr>
                </a:solidFill>
              </a:rPr>
              <a:t>grupos anidados intentan "fusionar" inteligentemente los atributos con su grupo </a:t>
            </a:r>
            <a:r>
              <a:rPr lang="es-ES" sz="1800" dirty="0" smtClean="0">
                <a:solidFill>
                  <a:prstClr val="black">
                    <a:lumMod val="75000"/>
                    <a:lumOff val="25000"/>
                  </a:prstClr>
                </a:solidFill>
              </a:rPr>
              <a:t>principal. Se pueden agrupar de varias formas:</a:t>
            </a:r>
          </a:p>
        </p:txBody>
      </p:sp>
      <p:sp>
        <p:nvSpPr>
          <p:cNvPr id="3" name="Rectángulo 2"/>
          <p:cNvSpPr/>
          <p:nvPr/>
        </p:nvSpPr>
        <p:spPr>
          <a:xfrm>
            <a:off x="2028324" y="3157151"/>
            <a:ext cx="1627000" cy="369332"/>
          </a:xfrm>
          <a:prstGeom prst="rect">
            <a:avLst/>
          </a:prstGeom>
        </p:spPr>
        <p:txBody>
          <a:bodyPr wrap="square">
            <a:spAutoFit/>
          </a:bodyPr>
          <a:lstStyle/>
          <a:p>
            <a:r>
              <a:rPr lang="es-ES" dirty="0" smtClean="0">
                <a:solidFill>
                  <a:srgbClr val="565454"/>
                </a:solidFill>
                <a:latin typeface="scandia-web"/>
              </a:rPr>
              <a:t>Middleware:</a:t>
            </a:r>
          </a:p>
        </p:txBody>
      </p:sp>
      <p:sp>
        <p:nvSpPr>
          <p:cNvPr id="11" name="Rectángulo 10"/>
          <p:cNvSpPr/>
          <p:nvPr/>
        </p:nvSpPr>
        <p:spPr>
          <a:xfrm>
            <a:off x="7648924" y="3157151"/>
            <a:ext cx="1738211" cy="369332"/>
          </a:xfrm>
          <a:prstGeom prst="rect">
            <a:avLst/>
          </a:prstGeom>
        </p:spPr>
        <p:txBody>
          <a:bodyPr wrap="square">
            <a:spAutoFit/>
          </a:bodyPr>
          <a:lstStyle/>
          <a:p>
            <a:r>
              <a:rPr lang="es-ES" dirty="0" smtClean="0">
                <a:solidFill>
                  <a:srgbClr val="565454"/>
                </a:solidFill>
                <a:latin typeface="scandia-web"/>
              </a:rPr>
              <a:t>Controlador:</a:t>
            </a:r>
          </a:p>
        </p:txBody>
      </p:sp>
      <p:pic>
        <p:nvPicPr>
          <p:cNvPr id="7" name="Imagen 6"/>
          <p:cNvPicPr>
            <a:picLocks noChangeAspect="1"/>
          </p:cNvPicPr>
          <p:nvPr/>
        </p:nvPicPr>
        <p:blipFill>
          <a:blip r:embed="rId3"/>
          <a:stretch>
            <a:fillRect/>
          </a:stretch>
        </p:blipFill>
        <p:spPr>
          <a:xfrm>
            <a:off x="734768" y="3847760"/>
            <a:ext cx="4214113" cy="2108308"/>
          </a:xfrm>
          <a:prstGeom prst="rect">
            <a:avLst/>
          </a:prstGeom>
        </p:spPr>
      </p:pic>
      <p:pic>
        <p:nvPicPr>
          <p:cNvPr id="15" name="Imagen 14"/>
          <p:cNvPicPr>
            <a:picLocks noChangeAspect="1"/>
          </p:cNvPicPr>
          <p:nvPr/>
        </p:nvPicPr>
        <p:blipFill>
          <a:blip r:embed="rId4"/>
          <a:stretch>
            <a:fillRect/>
          </a:stretch>
        </p:blipFill>
        <p:spPr>
          <a:xfrm>
            <a:off x="5995071" y="3847760"/>
            <a:ext cx="5666946" cy="1675710"/>
          </a:xfrm>
          <a:prstGeom prst="rect">
            <a:avLst/>
          </a:prstGeom>
        </p:spPr>
      </p:pic>
    </p:spTree>
    <p:extLst>
      <p:ext uri="{BB962C8B-B14F-4D97-AF65-F5344CB8AC3E}">
        <p14:creationId xmlns:p14="http://schemas.microsoft.com/office/powerpoint/2010/main" val="10492581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1215" y="448054"/>
            <a:ext cx="4928616"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sz="2600" dirty="0" smtClean="0"/>
              <a:t>Grupos de rutas</a:t>
            </a:r>
            <a:endParaRPr lang="es-ES" sz="2600" dirty="0"/>
          </a:p>
        </p:txBody>
      </p:sp>
      <p:sp>
        <p:nvSpPr>
          <p:cNvPr id="6" name="Marcador de contenido 4"/>
          <p:cNvSpPr>
            <a:spLocks noGrp="1"/>
          </p:cNvSpPr>
          <p:nvPr>
            <p:ph sz="half" idx="4294967295"/>
          </p:nvPr>
        </p:nvSpPr>
        <p:spPr>
          <a:xfrm>
            <a:off x="541611" y="1298448"/>
            <a:ext cx="11228199" cy="2074947"/>
          </a:xfrm>
        </p:spPr>
        <p:txBody>
          <a:bodyPr vert="horz" lIns="91440" tIns="45720" rIns="91440" bIns="45720" rtlCol="0">
            <a:normAutofit/>
          </a:bodyPr>
          <a:lstStyle/>
          <a:p>
            <a:pPr marL="0" indent="0">
              <a:lnSpc>
                <a:spcPct val="150000"/>
              </a:lnSpc>
              <a:spcBef>
                <a:spcPts val="600"/>
              </a:spcBef>
              <a:spcAft>
                <a:spcPts val="600"/>
              </a:spcAft>
              <a:buNone/>
            </a:pPr>
            <a:r>
              <a:rPr lang="es-ES" sz="1800" dirty="0">
                <a:solidFill>
                  <a:prstClr val="black">
                    <a:lumMod val="75000"/>
                    <a:lumOff val="25000"/>
                  </a:prstClr>
                </a:solidFill>
              </a:rPr>
              <a:t>Los </a:t>
            </a:r>
            <a:r>
              <a:rPr lang="es-ES" sz="1800" b="1" dirty="0" smtClean="0">
                <a:solidFill>
                  <a:prstClr val="black">
                    <a:lumMod val="75000"/>
                    <a:lumOff val="25000"/>
                  </a:prstClr>
                </a:solidFill>
              </a:rPr>
              <a:t>grupos por prefijos de rutas</a:t>
            </a:r>
            <a:r>
              <a:rPr lang="es-ES" sz="1800" dirty="0" smtClean="0">
                <a:solidFill>
                  <a:prstClr val="black">
                    <a:lumMod val="75000"/>
                    <a:lumOff val="25000"/>
                  </a:prstClr>
                </a:solidFill>
              </a:rPr>
              <a:t>, lo que hacen es añadir el prefijo a todas las rutas del grupo. En el ejemplo la ruta sería “/</a:t>
            </a:r>
            <a:r>
              <a:rPr lang="es-ES" sz="1800" dirty="0" err="1" smtClean="0">
                <a:solidFill>
                  <a:prstClr val="black">
                    <a:lumMod val="75000"/>
                    <a:lumOff val="25000"/>
                  </a:prstClr>
                </a:solidFill>
              </a:rPr>
              <a:t>admin</a:t>
            </a:r>
            <a:r>
              <a:rPr lang="es-ES" sz="1800" dirty="0" smtClean="0">
                <a:solidFill>
                  <a:prstClr val="black">
                    <a:lumMod val="75000"/>
                    <a:lumOff val="25000"/>
                  </a:prstClr>
                </a:solidFill>
              </a:rPr>
              <a:t>/</a:t>
            </a:r>
            <a:r>
              <a:rPr lang="es-ES" sz="1800" dirty="0" err="1" smtClean="0">
                <a:solidFill>
                  <a:prstClr val="black">
                    <a:lumMod val="75000"/>
                    <a:lumOff val="25000"/>
                  </a:prstClr>
                </a:solidFill>
              </a:rPr>
              <a:t>users</a:t>
            </a:r>
            <a:r>
              <a:rPr lang="es-ES" sz="1800" dirty="0" smtClean="0">
                <a:solidFill>
                  <a:prstClr val="black">
                    <a:lumMod val="75000"/>
                    <a:lumOff val="25000"/>
                  </a:prstClr>
                </a:solidFill>
              </a:rPr>
              <a:t>”.</a:t>
            </a:r>
          </a:p>
          <a:p>
            <a:pPr marL="0" indent="0">
              <a:lnSpc>
                <a:spcPct val="150000"/>
              </a:lnSpc>
              <a:spcBef>
                <a:spcPts val="600"/>
              </a:spcBef>
              <a:spcAft>
                <a:spcPts val="600"/>
              </a:spcAft>
              <a:buNone/>
            </a:pPr>
            <a:r>
              <a:rPr lang="es-ES" sz="1800" dirty="0" smtClean="0">
                <a:solidFill>
                  <a:prstClr val="black">
                    <a:lumMod val="75000"/>
                    <a:lumOff val="25000"/>
                  </a:prstClr>
                </a:solidFill>
              </a:rPr>
              <a:t>Los </a:t>
            </a:r>
            <a:r>
              <a:rPr lang="es-ES" sz="1800" b="1" dirty="0" smtClean="0">
                <a:solidFill>
                  <a:prstClr val="black">
                    <a:lumMod val="75000"/>
                    <a:lumOff val="25000"/>
                  </a:prstClr>
                </a:solidFill>
              </a:rPr>
              <a:t>grupos por prefijos de nombre de ruta</a:t>
            </a:r>
            <a:r>
              <a:rPr lang="es-ES" sz="1800" dirty="0" smtClean="0">
                <a:solidFill>
                  <a:prstClr val="black">
                    <a:lumMod val="75000"/>
                    <a:lumOff val="25000"/>
                  </a:prstClr>
                </a:solidFill>
              </a:rPr>
              <a:t>, lo que hacen es añadir un prefijo al nombre de cada ruta del grupo, no a la ruta en sí misma. En el ejemplo la ruta “/</a:t>
            </a:r>
            <a:r>
              <a:rPr lang="es-ES" sz="1800" dirty="0" err="1" smtClean="0">
                <a:solidFill>
                  <a:prstClr val="black">
                    <a:lumMod val="75000"/>
                    <a:lumOff val="25000"/>
                  </a:prstClr>
                </a:solidFill>
              </a:rPr>
              <a:t>users</a:t>
            </a:r>
            <a:r>
              <a:rPr lang="es-ES" sz="1800" dirty="0" smtClean="0">
                <a:solidFill>
                  <a:prstClr val="black">
                    <a:lumMod val="75000"/>
                    <a:lumOff val="25000"/>
                  </a:prstClr>
                </a:solidFill>
              </a:rPr>
              <a:t>”, se llamaría “</a:t>
            </a:r>
            <a:r>
              <a:rPr lang="es-ES" sz="1800" dirty="0" err="1" smtClean="0">
                <a:solidFill>
                  <a:prstClr val="black">
                    <a:lumMod val="75000"/>
                    <a:lumOff val="25000"/>
                  </a:prstClr>
                </a:solidFill>
              </a:rPr>
              <a:t>admin.users</a:t>
            </a:r>
            <a:r>
              <a:rPr lang="es-ES" sz="1800" dirty="0" smtClean="0">
                <a:solidFill>
                  <a:prstClr val="black">
                    <a:lumMod val="75000"/>
                    <a:lumOff val="25000"/>
                  </a:prstClr>
                </a:solidFill>
              </a:rPr>
              <a:t>”.</a:t>
            </a:r>
            <a:endParaRPr lang="es-ES" sz="1800" dirty="0" smtClean="0">
              <a:solidFill>
                <a:prstClr val="black">
                  <a:lumMod val="75000"/>
                  <a:lumOff val="25000"/>
                </a:prstClr>
              </a:solidFill>
            </a:endParaRPr>
          </a:p>
        </p:txBody>
      </p:sp>
      <p:sp>
        <p:nvSpPr>
          <p:cNvPr id="3" name="Rectángulo 2"/>
          <p:cNvSpPr/>
          <p:nvPr/>
        </p:nvSpPr>
        <p:spPr>
          <a:xfrm>
            <a:off x="1755478" y="3664982"/>
            <a:ext cx="2185330" cy="369332"/>
          </a:xfrm>
          <a:prstGeom prst="rect">
            <a:avLst/>
          </a:prstGeom>
        </p:spPr>
        <p:txBody>
          <a:bodyPr wrap="square">
            <a:spAutoFit/>
          </a:bodyPr>
          <a:lstStyle/>
          <a:p>
            <a:r>
              <a:rPr lang="es-ES" dirty="0" smtClean="0">
                <a:solidFill>
                  <a:srgbClr val="565454"/>
                </a:solidFill>
                <a:latin typeface="scandia-web"/>
              </a:rPr>
              <a:t>Prefijos de rutas:</a:t>
            </a:r>
          </a:p>
        </p:txBody>
      </p:sp>
      <p:sp>
        <p:nvSpPr>
          <p:cNvPr id="11" name="Rectángulo 10"/>
          <p:cNvSpPr/>
          <p:nvPr/>
        </p:nvSpPr>
        <p:spPr>
          <a:xfrm>
            <a:off x="7333826" y="3664982"/>
            <a:ext cx="3218844" cy="369332"/>
          </a:xfrm>
          <a:prstGeom prst="rect">
            <a:avLst/>
          </a:prstGeom>
        </p:spPr>
        <p:txBody>
          <a:bodyPr wrap="square">
            <a:spAutoFit/>
          </a:bodyPr>
          <a:lstStyle/>
          <a:p>
            <a:r>
              <a:rPr lang="es-ES" dirty="0" smtClean="0">
                <a:solidFill>
                  <a:srgbClr val="565454"/>
                </a:solidFill>
                <a:latin typeface="scandia-web"/>
              </a:rPr>
              <a:t>Prefijos de rutas nombradas:</a:t>
            </a:r>
          </a:p>
        </p:txBody>
      </p:sp>
      <p:pic>
        <p:nvPicPr>
          <p:cNvPr id="4" name="Imagen 3"/>
          <p:cNvPicPr>
            <a:picLocks noChangeAspect="1"/>
          </p:cNvPicPr>
          <p:nvPr/>
        </p:nvPicPr>
        <p:blipFill>
          <a:blip r:embed="rId3"/>
          <a:stretch>
            <a:fillRect/>
          </a:stretch>
        </p:blipFill>
        <p:spPr>
          <a:xfrm>
            <a:off x="728191" y="4251893"/>
            <a:ext cx="4653688" cy="1790562"/>
          </a:xfrm>
          <a:prstGeom prst="rect">
            <a:avLst/>
          </a:prstGeom>
        </p:spPr>
      </p:pic>
      <p:pic>
        <p:nvPicPr>
          <p:cNvPr id="5" name="Imagen 4"/>
          <p:cNvPicPr>
            <a:picLocks noChangeAspect="1"/>
          </p:cNvPicPr>
          <p:nvPr/>
        </p:nvPicPr>
        <p:blipFill>
          <a:blip r:embed="rId4"/>
          <a:stretch>
            <a:fillRect/>
          </a:stretch>
        </p:blipFill>
        <p:spPr>
          <a:xfrm>
            <a:off x="6155710" y="4251893"/>
            <a:ext cx="5263712" cy="1790562"/>
          </a:xfrm>
          <a:prstGeom prst="rect">
            <a:avLst/>
          </a:prstGeom>
        </p:spPr>
      </p:pic>
    </p:spTree>
    <p:extLst>
      <p:ext uri="{BB962C8B-B14F-4D97-AF65-F5344CB8AC3E}">
        <p14:creationId xmlns:p14="http://schemas.microsoft.com/office/powerpoint/2010/main" val="28708875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1215" y="448054"/>
            <a:ext cx="4928616"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sz="2600" dirty="0" smtClean="0"/>
              <a:t>Enlace de la ruta al modelo</a:t>
            </a:r>
            <a:endParaRPr lang="es-ES" sz="2600" dirty="0"/>
          </a:p>
        </p:txBody>
      </p:sp>
      <p:sp>
        <p:nvSpPr>
          <p:cNvPr id="19" name="Marcador de contenido 4"/>
          <p:cNvSpPr>
            <a:spLocks noGrp="1"/>
          </p:cNvSpPr>
          <p:nvPr>
            <p:ph sz="half" idx="4294967295"/>
          </p:nvPr>
        </p:nvSpPr>
        <p:spPr>
          <a:xfrm>
            <a:off x="541611" y="1298447"/>
            <a:ext cx="6693270" cy="5343309"/>
          </a:xfrm>
        </p:spPr>
        <p:txBody>
          <a:bodyPr vert="horz" lIns="91440" tIns="45720" rIns="91440" bIns="45720" rtlCol="0">
            <a:normAutofit fontScale="92500"/>
          </a:bodyPr>
          <a:lstStyle/>
          <a:p>
            <a:pPr marL="0" indent="0">
              <a:lnSpc>
                <a:spcPct val="150000"/>
              </a:lnSpc>
              <a:spcBef>
                <a:spcPts val="600"/>
              </a:spcBef>
              <a:spcAft>
                <a:spcPts val="600"/>
              </a:spcAft>
              <a:buNone/>
            </a:pPr>
            <a:r>
              <a:rPr lang="es-ES" sz="1600" dirty="0">
                <a:solidFill>
                  <a:prstClr val="black">
                    <a:lumMod val="75000"/>
                    <a:lumOff val="25000"/>
                  </a:prstClr>
                </a:solidFill>
              </a:rPr>
              <a:t>Al inyectar una ID de modelo en una ruta o acción de controlador, a menudo consultará la base de datos para recuperar el modelo que corresponde a esa ID. El enlace del modelo de ruta de </a:t>
            </a:r>
            <a:r>
              <a:rPr lang="es-ES" sz="1600" dirty="0" err="1">
                <a:solidFill>
                  <a:prstClr val="black">
                    <a:lumMod val="75000"/>
                    <a:lumOff val="25000"/>
                  </a:prstClr>
                </a:solidFill>
              </a:rPr>
              <a:t>Laravel</a:t>
            </a:r>
            <a:r>
              <a:rPr lang="es-ES" sz="1600" dirty="0">
                <a:solidFill>
                  <a:prstClr val="black">
                    <a:lumMod val="75000"/>
                    <a:lumOff val="25000"/>
                  </a:prstClr>
                </a:solidFill>
              </a:rPr>
              <a:t> proporciona una forma </a:t>
            </a:r>
            <a:r>
              <a:rPr lang="es-ES" sz="1600" dirty="0" smtClean="0">
                <a:solidFill>
                  <a:prstClr val="black">
                    <a:lumMod val="75000"/>
                    <a:lumOff val="25000"/>
                  </a:prstClr>
                </a:solidFill>
              </a:rPr>
              <a:t>de </a:t>
            </a:r>
            <a:r>
              <a:rPr lang="es-ES" sz="1600" dirty="0">
                <a:solidFill>
                  <a:prstClr val="black">
                    <a:lumMod val="75000"/>
                    <a:lumOff val="25000"/>
                  </a:prstClr>
                </a:solidFill>
              </a:rPr>
              <a:t>inyectar automáticamente las instancias del modelo directamente en sus rutas. Por ejemplo, en lugar de inyectar la ID de un usuario, puede inyectar la </a:t>
            </a:r>
            <a:r>
              <a:rPr lang="es-ES" sz="1600" dirty="0" smtClean="0">
                <a:solidFill>
                  <a:prstClr val="black">
                    <a:lumMod val="75000"/>
                    <a:lumOff val="25000"/>
                  </a:prstClr>
                </a:solidFill>
              </a:rPr>
              <a:t>instancia </a:t>
            </a:r>
            <a:r>
              <a:rPr lang="es-ES" sz="1600" dirty="0" err="1" smtClean="0">
                <a:solidFill>
                  <a:prstClr val="black">
                    <a:lumMod val="75000"/>
                    <a:lumOff val="25000"/>
                  </a:prstClr>
                </a:solidFill>
              </a:rPr>
              <a:t>User</a:t>
            </a:r>
            <a:r>
              <a:rPr lang="es-ES" sz="1600" dirty="0" smtClean="0">
                <a:solidFill>
                  <a:prstClr val="black">
                    <a:lumMod val="75000"/>
                    <a:lumOff val="25000"/>
                  </a:prstClr>
                </a:solidFill>
              </a:rPr>
              <a:t> </a:t>
            </a:r>
            <a:r>
              <a:rPr lang="es-ES" sz="1600" dirty="0">
                <a:solidFill>
                  <a:prstClr val="black">
                    <a:lumMod val="75000"/>
                    <a:lumOff val="25000"/>
                  </a:prstClr>
                </a:solidFill>
              </a:rPr>
              <a:t>de modelo completa que coincida con la ID dada</a:t>
            </a:r>
            <a:r>
              <a:rPr lang="es-ES" sz="1600" dirty="0" smtClean="0">
                <a:solidFill>
                  <a:prstClr val="black">
                    <a:lumMod val="75000"/>
                    <a:lumOff val="25000"/>
                  </a:prstClr>
                </a:solidFill>
              </a:rPr>
              <a:t>.</a:t>
            </a:r>
          </a:p>
          <a:p>
            <a:pPr marL="0" indent="0">
              <a:lnSpc>
                <a:spcPct val="150000"/>
              </a:lnSpc>
              <a:spcBef>
                <a:spcPts val="600"/>
              </a:spcBef>
              <a:spcAft>
                <a:spcPts val="600"/>
              </a:spcAft>
              <a:buNone/>
            </a:pPr>
            <a:r>
              <a:rPr lang="es-ES" sz="1600" dirty="0">
                <a:solidFill>
                  <a:prstClr val="black">
                    <a:lumMod val="75000"/>
                    <a:lumOff val="25000"/>
                  </a:prstClr>
                </a:solidFill>
              </a:rPr>
              <a:t>Dado que la </a:t>
            </a:r>
            <a:r>
              <a:rPr lang="es-ES" sz="1600" dirty="0" smtClean="0">
                <a:solidFill>
                  <a:prstClr val="black">
                    <a:lumMod val="75000"/>
                    <a:lumOff val="25000"/>
                  </a:prstClr>
                </a:solidFill>
              </a:rPr>
              <a:t>variable $</a:t>
            </a:r>
            <a:r>
              <a:rPr lang="es-ES" sz="1600" dirty="0" err="1" smtClean="0">
                <a:solidFill>
                  <a:prstClr val="black">
                    <a:lumMod val="75000"/>
                    <a:lumOff val="25000"/>
                  </a:prstClr>
                </a:solidFill>
              </a:rPr>
              <a:t>user</a:t>
            </a:r>
            <a:r>
              <a:rPr lang="es-ES" sz="1600" dirty="0" smtClean="0">
                <a:solidFill>
                  <a:prstClr val="black">
                    <a:lumMod val="75000"/>
                    <a:lumOff val="25000"/>
                  </a:prstClr>
                </a:solidFill>
              </a:rPr>
              <a:t> tiene </a:t>
            </a:r>
            <a:r>
              <a:rPr lang="es-ES" sz="1600" dirty="0">
                <a:solidFill>
                  <a:prstClr val="black">
                    <a:lumMod val="75000"/>
                    <a:lumOff val="25000"/>
                  </a:prstClr>
                </a:solidFill>
              </a:rPr>
              <a:t>un tipo de sugerencia como el </a:t>
            </a:r>
            <a:r>
              <a:rPr lang="es-ES" sz="1600" dirty="0" smtClean="0">
                <a:solidFill>
                  <a:prstClr val="black">
                    <a:lumMod val="75000"/>
                    <a:lumOff val="25000"/>
                  </a:prstClr>
                </a:solidFill>
              </a:rPr>
              <a:t>modelo App\</a:t>
            </a:r>
            <a:r>
              <a:rPr lang="es-ES" sz="1600" dirty="0" err="1" smtClean="0">
                <a:solidFill>
                  <a:prstClr val="black">
                    <a:lumMod val="75000"/>
                    <a:lumOff val="25000"/>
                  </a:prstClr>
                </a:solidFill>
              </a:rPr>
              <a:t>Models</a:t>
            </a:r>
            <a:r>
              <a:rPr lang="es-ES" sz="1600" dirty="0" smtClean="0">
                <a:solidFill>
                  <a:prstClr val="black">
                    <a:lumMod val="75000"/>
                    <a:lumOff val="25000"/>
                  </a:prstClr>
                </a:solidFill>
              </a:rPr>
              <a:t>\</a:t>
            </a:r>
            <a:r>
              <a:rPr lang="es-ES" sz="1600" dirty="0" err="1" smtClean="0">
                <a:solidFill>
                  <a:prstClr val="black">
                    <a:lumMod val="75000"/>
                    <a:lumOff val="25000"/>
                  </a:prstClr>
                </a:solidFill>
              </a:rPr>
              <a:t>User</a:t>
            </a:r>
            <a:r>
              <a:rPr lang="es-ES" sz="1600" dirty="0" smtClean="0">
                <a:solidFill>
                  <a:prstClr val="black">
                    <a:lumMod val="75000"/>
                    <a:lumOff val="25000"/>
                  </a:prstClr>
                </a:solidFill>
              </a:rPr>
              <a:t> de </a:t>
            </a:r>
            <a:r>
              <a:rPr lang="es-ES" sz="1600" dirty="0" err="1" smtClean="0">
                <a:solidFill>
                  <a:prstClr val="black">
                    <a:lumMod val="75000"/>
                    <a:lumOff val="25000"/>
                  </a:prstClr>
                </a:solidFill>
              </a:rPr>
              <a:t>Eloquent</a:t>
            </a:r>
            <a:r>
              <a:rPr lang="es-ES" sz="1600" dirty="0" smtClean="0">
                <a:solidFill>
                  <a:prstClr val="black">
                    <a:lumMod val="75000"/>
                    <a:lumOff val="25000"/>
                  </a:prstClr>
                </a:solidFill>
              </a:rPr>
              <a:t> </a:t>
            </a:r>
            <a:r>
              <a:rPr lang="es-ES" sz="1600" dirty="0">
                <a:solidFill>
                  <a:prstClr val="black">
                    <a:lumMod val="75000"/>
                    <a:lumOff val="25000"/>
                  </a:prstClr>
                </a:solidFill>
              </a:rPr>
              <a:t>y el nombre de la variable coincide con el </a:t>
            </a:r>
            <a:r>
              <a:rPr lang="es-ES" sz="1600" dirty="0" smtClean="0">
                <a:solidFill>
                  <a:prstClr val="black">
                    <a:lumMod val="75000"/>
                    <a:lumOff val="25000"/>
                  </a:prstClr>
                </a:solidFill>
              </a:rPr>
              <a:t>segmento </a:t>
            </a:r>
            <a:r>
              <a:rPr lang="es-ES" sz="1600" dirty="0">
                <a:solidFill>
                  <a:prstClr val="black">
                    <a:lumMod val="75000"/>
                    <a:lumOff val="25000"/>
                  </a:prstClr>
                </a:solidFill>
              </a:rPr>
              <a:t>{</a:t>
            </a:r>
            <a:r>
              <a:rPr lang="es-ES" sz="1600" dirty="0" err="1">
                <a:solidFill>
                  <a:prstClr val="black">
                    <a:lumMod val="75000"/>
                    <a:lumOff val="25000"/>
                  </a:prstClr>
                </a:solidFill>
              </a:rPr>
              <a:t>user</a:t>
            </a:r>
            <a:r>
              <a:rPr lang="es-ES" sz="1600" dirty="0">
                <a:solidFill>
                  <a:prstClr val="black">
                    <a:lumMod val="75000"/>
                    <a:lumOff val="25000"/>
                  </a:prstClr>
                </a:solidFill>
              </a:rPr>
              <a:t>}</a:t>
            </a:r>
            <a:r>
              <a:rPr lang="es-ES" sz="1600" dirty="0" smtClean="0">
                <a:solidFill>
                  <a:prstClr val="black">
                    <a:lumMod val="75000"/>
                    <a:lumOff val="25000"/>
                  </a:prstClr>
                </a:solidFill>
              </a:rPr>
              <a:t> </a:t>
            </a:r>
            <a:r>
              <a:rPr lang="es-ES" sz="1600" dirty="0">
                <a:solidFill>
                  <a:prstClr val="black">
                    <a:lumMod val="75000"/>
                    <a:lumOff val="25000"/>
                  </a:prstClr>
                </a:solidFill>
              </a:rPr>
              <a:t>URI, </a:t>
            </a:r>
            <a:r>
              <a:rPr lang="es-ES" sz="1600" dirty="0" err="1">
                <a:solidFill>
                  <a:prstClr val="black">
                    <a:lumMod val="75000"/>
                    <a:lumOff val="25000"/>
                  </a:prstClr>
                </a:solidFill>
              </a:rPr>
              <a:t>Laravel</a:t>
            </a:r>
            <a:r>
              <a:rPr lang="es-ES" sz="1600" dirty="0">
                <a:solidFill>
                  <a:prstClr val="black">
                    <a:lumMod val="75000"/>
                    <a:lumOff val="25000"/>
                  </a:prstClr>
                </a:solidFill>
              </a:rPr>
              <a:t> inyectará automáticamente la instancia del modelo que tiene una ID que coincide con el valor correspondiente del URI de solicitud. Si no se encuentra una instancia de modelo coincidente en la base de datos, se generará automáticamente una respuesta HTTP 404</a:t>
            </a:r>
            <a:r>
              <a:rPr lang="es-ES" sz="1600" dirty="0" smtClean="0">
                <a:solidFill>
                  <a:prstClr val="black">
                    <a:lumMod val="75000"/>
                    <a:lumOff val="25000"/>
                  </a:prstClr>
                </a:solidFill>
              </a:rPr>
              <a:t>.</a:t>
            </a:r>
          </a:p>
          <a:p>
            <a:pPr marL="0" indent="0">
              <a:lnSpc>
                <a:spcPct val="150000"/>
              </a:lnSpc>
              <a:spcBef>
                <a:spcPts val="600"/>
              </a:spcBef>
              <a:spcAft>
                <a:spcPts val="600"/>
              </a:spcAft>
              <a:buNone/>
            </a:pPr>
            <a:r>
              <a:rPr lang="es-ES" sz="1600" dirty="0">
                <a:solidFill>
                  <a:prstClr val="black">
                    <a:lumMod val="75000"/>
                    <a:lumOff val="25000"/>
                  </a:prstClr>
                </a:solidFill>
              </a:rPr>
              <a:t>Por supuesto, el enlace implícito también es posible cuando se utilizan </a:t>
            </a:r>
            <a:r>
              <a:rPr lang="es-ES" sz="1600" b="1" dirty="0">
                <a:solidFill>
                  <a:prstClr val="black">
                    <a:lumMod val="75000"/>
                    <a:lumOff val="25000"/>
                  </a:prstClr>
                </a:solidFill>
              </a:rPr>
              <a:t>métodos de controlador</a:t>
            </a:r>
            <a:r>
              <a:rPr lang="es-ES" sz="1600" dirty="0">
                <a:solidFill>
                  <a:prstClr val="black">
                    <a:lumMod val="75000"/>
                    <a:lumOff val="25000"/>
                  </a:prstClr>
                </a:solidFill>
              </a:rPr>
              <a:t>. </a:t>
            </a:r>
            <a:endParaRPr lang="es-ES" sz="1600" dirty="0" smtClean="0">
              <a:solidFill>
                <a:prstClr val="black">
                  <a:lumMod val="75000"/>
                  <a:lumOff val="25000"/>
                </a:prstClr>
              </a:solidFill>
            </a:endParaRPr>
          </a:p>
          <a:p>
            <a:pPr marL="0" indent="0">
              <a:lnSpc>
                <a:spcPct val="150000"/>
              </a:lnSpc>
              <a:spcBef>
                <a:spcPts val="600"/>
              </a:spcBef>
              <a:spcAft>
                <a:spcPts val="600"/>
              </a:spcAft>
              <a:buNone/>
            </a:pPr>
            <a:endParaRPr lang="es-ES" sz="1800" dirty="0">
              <a:solidFill>
                <a:prstClr val="black">
                  <a:lumMod val="75000"/>
                  <a:lumOff val="25000"/>
                </a:prstClr>
              </a:solidFill>
            </a:endParaRPr>
          </a:p>
        </p:txBody>
      </p:sp>
      <p:pic>
        <p:nvPicPr>
          <p:cNvPr id="20" name="Imagen 19"/>
          <p:cNvPicPr>
            <a:picLocks noChangeAspect="1"/>
          </p:cNvPicPr>
          <p:nvPr/>
        </p:nvPicPr>
        <p:blipFill>
          <a:blip r:embed="rId3"/>
          <a:stretch>
            <a:fillRect/>
          </a:stretch>
        </p:blipFill>
        <p:spPr>
          <a:xfrm>
            <a:off x="7334044" y="1495167"/>
            <a:ext cx="4410911" cy="1526059"/>
          </a:xfrm>
          <a:prstGeom prst="rect">
            <a:avLst/>
          </a:prstGeom>
        </p:spPr>
      </p:pic>
      <p:pic>
        <p:nvPicPr>
          <p:cNvPr id="21" name="Imagen 20"/>
          <p:cNvPicPr>
            <a:picLocks noChangeAspect="1"/>
          </p:cNvPicPr>
          <p:nvPr/>
        </p:nvPicPr>
        <p:blipFill>
          <a:blip r:embed="rId4"/>
          <a:stretch>
            <a:fillRect/>
          </a:stretch>
        </p:blipFill>
        <p:spPr>
          <a:xfrm>
            <a:off x="7334044" y="3631016"/>
            <a:ext cx="4516485" cy="2590611"/>
          </a:xfrm>
          <a:prstGeom prst="rect">
            <a:avLst/>
          </a:prstGeom>
        </p:spPr>
      </p:pic>
    </p:spTree>
    <p:extLst>
      <p:ext uri="{BB962C8B-B14F-4D97-AF65-F5344CB8AC3E}">
        <p14:creationId xmlns:p14="http://schemas.microsoft.com/office/powerpoint/2010/main" val="85479353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1215" y="448054"/>
            <a:ext cx="4928616" cy="640080"/>
          </a:xfrm>
        </p:spPr>
        <p:txBody>
          <a:bodyPr vert="horz" lIns="91440" tIns="45720" rIns="91440" bIns="45720" rtlCol="0" anchor="b">
            <a:normAutofit/>
          </a:bodyPr>
          <a:lstStyle/>
          <a:p>
            <a:pPr rtl="0">
              <a:lnSpc>
                <a:spcPct val="90000"/>
              </a:lnSpc>
              <a:spcBef>
                <a:spcPct val="30000"/>
              </a:spcBef>
              <a:buFont typeface="Arial" panose="020B0604020202020204" pitchFamily="34" charset="0"/>
            </a:pPr>
            <a:r>
              <a:rPr lang="es-ES" sz="2600" dirty="0" smtClean="0"/>
              <a:t>Limitadores de velocidad</a:t>
            </a:r>
            <a:endParaRPr lang="es-ES" sz="2600" dirty="0"/>
          </a:p>
        </p:txBody>
      </p:sp>
      <p:sp>
        <p:nvSpPr>
          <p:cNvPr id="19" name="Marcador de contenido 4"/>
          <p:cNvSpPr>
            <a:spLocks noGrp="1"/>
          </p:cNvSpPr>
          <p:nvPr>
            <p:ph sz="half" idx="4294967295"/>
          </p:nvPr>
        </p:nvSpPr>
        <p:spPr>
          <a:xfrm>
            <a:off x="541611" y="1298447"/>
            <a:ext cx="5778870" cy="4849039"/>
          </a:xfrm>
        </p:spPr>
        <p:txBody>
          <a:bodyPr vert="horz" lIns="91440" tIns="45720" rIns="91440" bIns="45720" rtlCol="0">
            <a:normAutofit/>
          </a:bodyPr>
          <a:lstStyle/>
          <a:p>
            <a:pPr marL="0" indent="0">
              <a:lnSpc>
                <a:spcPct val="150000"/>
              </a:lnSpc>
              <a:spcBef>
                <a:spcPts val="600"/>
              </a:spcBef>
              <a:spcAft>
                <a:spcPts val="600"/>
              </a:spcAft>
              <a:buNone/>
            </a:pPr>
            <a:r>
              <a:rPr lang="es-ES" sz="1800" dirty="0" err="1">
                <a:solidFill>
                  <a:prstClr val="black">
                    <a:lumMod val="75000"/>
                    <a:lumOff val="25000"/>
                  </a:prstClr>
                </a:solidFill>
              </a:rPr>
              <a:t>Laravel</a:t>
            </a:r>
            <a:r>
              <a:rPr lang="es-ES" sz="1800" dirty="0">
                <a:solidFill>
                  <a:prstClr val="black">
                    <a:lumMod val="75000"/>
                    <a:lumOff val="25000"/>
                  </a:prstClr>
                </a:solidFill>
              </a:rPr>
              <a:t> incluye servicios de limitación de velocidad potentes y personalizables que puede utilizar para restringir la cantidad de tráfico para una ruta determinada o un grupo de rutas. Para comenzar, debe definir configuraciones de limitador de velocidad que satisfagan las necesidades de su aplicación. Por lo general, esto debe hacerse dentro del </a:t>
            </a:r>
            <a:r>
              <a:rPr lang="es-ES" sz="1800" dirty="0" smtClean="0">
                <a:solidFill>
                  <a:prstClr val="black">
                    <a:lumMod val="75000"/>
                    <a:lumOff val="25000"/>
                  </a:prstClr>
                </a:solidFill>
              </a:rPr>
              <a:t>método </a:t>
            </a:r>
            <a:r>
              <a:rPr lang="es-ES" sz="1800" dirty="0" err="1" smtClean="0">
                <a:solidFill>
                  <a:schemeClr val="accent2"/>
                </a:solidFill>
              </a:rPr>
              <a:t>configureRateLimiting</a:t>
            </a:r>
            <a:r>
              <a:rPr lang="es-ES" sz="1800" dirty="0" smtClean="0">
                <a:solidFill>
                  <a:prstClr val="black">
                    <a:lumMod val="75000"/>
                    <a:lumOff val="25000"/>
                  </a:prstClr>
                </a:solidFill>
              </a:rPr>
              <a:t> de </a:t>
            </a:r>
            <a:r>
              <a:rPr lang="es-ES" sz="1800" dirty="0">
                <a:solidFill>
                  <a:prstClr val="black">
                    <a:lumMod val="75000"/>
                    <a:lumOff val="25000"/>
                  </a:prstClr>
                </a:solidFill>
              </a:rPr>
              <a:t>la </a:t>
            </a:r>
            <a:r>
              <a:rPr lang="es-ES" sz="1800" dirty="0" smtClean="0">
                <a:solidFill>
                  <a:prstClr val="black">
                    <a:lumMod val="75000"/>
                    <a:lumOff val="25000"/>
                  </a:prstClr>
                </a:solidFill>
              </a:rPr>
              <a:t>clase App\</a:t>
            </a:r>
            <a:r>
              <a:rPr lang="es-ES" sz="1800" dirty="0" err="1" smtClean="0">
                <a:solidFill>
                  <a:prstClr val="black">
                    <a:lumMod val="75000"/>
                    <a:lumOff val="25000"/>
                  </a:prstClr>
                </a:solidFill>
              </a:rPr>
              <a:t>Providers</a:t>
            </a:r>
            <a:r>
              <a:rPr lang="es-ES" sz="1800" dirty="0" smtClean="0">
                <a:solidFill>
                  <a:prstClr val="black">
                    <a:lumMod val="75000"/>
                    <a:lumOff val="25000"/>
                  </a:prstClr>
                </a:solidFill>
              </a:rPr>
              <a:t>\</a:t>
            </a:r>
            <a:r>
              <a:rPr lang="es-ES" sz="1800" dirty="0" err="1" smtClean="0">
                <a:solidFill>
                  <a:prstClr val="black">
                    <a:lumMod val="75000"/>
                    <a:lumOff val="25000"/>
                  </a:prstClr>
                </a:solidFill>
              </a:rPr>
              <a:t>RouteServiceProvider</a:t>
            </a:r>
            <a:r>
              <a:rPr lang="es-ES" sz="1800" dirty="0" smtClean="0">
                <a:solidFill>
                  <a:prstClr val="black">
                    <a:lumMod val="75000"/>
                    <a:lumOff val="25000"/>
                  </a:prstClr>
                </a:solidFill>
              </a:rPr>
              <a:t> de </a:t>
            </a:r>
            <a:r>
              <a:rPr lang="es-ES" sz="1800" dirty="0">
                <a:solidFill>
                  <a:prstClr val="black">
                    <a:lumMod val="75000"/>
                    <a:lumOff val="25000"/>
                  </a:prstClr>
                </a:solidFill>
              </a:rPr>
              <a:t>su aplicación</a:t>
            </a:r>
            <a:r>
              <a:rPr lang="es-ES" sz="1800" dirty="0" smtClean="0">
                <a:solidFill>
                  <a:prstClr val="black">
                    <a:lumMod val="75000"/>
                    <a:lumOff val="25000"/>
                  </a:prstClr>
                </a:solidFill>
              </a:rPr>
              <a:t>.</a:t>
            </a:r>
          </a:p>
        </p:txBody>
      </p:sp>
      <p:pic>
        <p:nvPicPr>
          <p:cNvPr id="3" name="Imagen 2"/>
          <p:cNvPicPr>
            <a:picLocks noChangeAspect="1"/>
          </p:cNvPicPr>
          <p:nvPr/>
        </p:nvPicPr>
        <p:blipFill>
          <a:blip r:embed="rId3"/>
          <a:stretch>
            <a:fillRect/>
          </a:stretch>
        </p:blipFill>
        <p:spPr>
          <a:xfrm>
            <a:off x="6782442" y="1459286"/>
            <a:ext cx="4591286" cy="3606985"/>
          </a:xfrm>
          <a:prstGeom prst="rect">
            <a:avLst/>
          </a:prstGeom>
        </p:spPr>
      </p:pic>
    </p:spTree>
    <p:extLst>
      <p:ext uri="{BB962C8B-B14F-4D97-AF65-F5344CB8AC3E}">
        <p14:creationId xmlns:p14="http://schemas.microsoft.com/office/powerpoint/2010/main" val="2386743912"/>
      </p:ext>
    </p:extLst>
  </p:cSld>
  <p:clrMapOvr>
    <a:masterClrMapping/>
  </p:clrMapOvr>
  <p:timing>
    <p:tnLst>
      <p:par>
        <p:cTn id="1" dur="indefinite" restart="never" nodeType="tmRoot"/>
      </p:par>
    </p:tnLst>
  </p:timing>
</p:sld>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9B45"/>
        </a:solidFill>
        <a:ln>
          <a:solidFill>
            <a:srgbClr val="FF9B45"/>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_14199827_TF10001033" id="{B8C5CA47-16DB-4B99-941C-1142562394E7}" vid="{2A9A9F5D-B7A7-4104-8DD8-8C97F33B830D}"/>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14013</TotalTime>
  <Words>897</Words>
  <Application>Microsoft Office PowerPoint</Application>
  <PresentationFormat>Panorámica</PresentationFormat>
  <Paragraphs>79</Paragraphs>
  <Slides>11</Slides>
  <Notes>10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11</vt:i4>
      </vt:variant>
    </vt:vector>
  </HeadingPairs>
  <TitlesOfParts>
    <vt:vector size="17" baseType="lpstr">
      <vt:lpstr>Arial</vt:lpstr>
      <vt:lpstr>Calibri</vt:lpstr>
      <vt:lpstr>scandia-web</vt:lpstr>
      <vt:lpstr>Segoe UI</vt:lpstr>
      <vt:lpstr>Segoe UI Light</vt:lpstr>
      <vt:lpstr>WelcomeDoc</vt:lpstr>
      <vt:lpstr>Laravel 9</vt:lpstr>
      <vt:lpstr>ÍNDICE</vt:lpstr>
      <vt:lpstr>ENRUTAMIENTO</vt:lpstr>
      <vt:lpstr>Enrutamiento básico</vt:lpstr>
      <vt:lpstr>Enrutamiento básico</vt:lpstr>
      <vt:lpstr>Parámetros de ruta</vt:lpstr>
      <vt:lpstr>Rutas con nombre</vt:lpstr>
      <vt:lpstr>Grupos de rutas</vt:lpstr>
      <vt:lpstr>Grupos de rutas</vt:lpstr>
      <vt:lpstr>Enlace de la ruta al modelo</vt:lpstr>
      <vt:lpstr>Limitadores de velocidad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 damos la bienvenida a PowerPoint</dc:title>
  <dc:creator>José Javier Guillén Benavente</dc:creator>
  <cp:keywords/>
  <cp:lastModifiedBy>Familia Guillén Linares</cp:lastModifiedBy>
  <cp:revision>133</cp:revision>
  <dcterms:created xsi:type="dcterms:W3CDTF">2022-09-07T07:55:08Z</dcterms:created>
  <dcterms:modified xsi:type="dcterms:W3CDTF">2023-02-06T14:26:54Z</dcterms:modified>
  <cp:version/>
</cp:coreProperties>
</file>